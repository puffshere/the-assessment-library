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9" r:id="rId3"/>
    <p:sldId id="276" r:id="rId4"/>
    <p:sldId id="277" r:id="rId5"/>
    <p:sldId id="279" r:id="rId6"/>
    <p:sldId id="280" r:id="rId7"/>
    <p:sldId id="281" r:id="rId8"/>
    <p:sldId id="28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473A"/>
    <a:srgbClr val="18A9B8"/>
    <a:srgbClr val="5E52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15" autoAdjust="0"/>
    <p:restoredTop sz="68235" autoAdjust="0"/>
  </p:normalViewPr>
  <p:slideViewPr>
    <p:cSldViewPr snapToGrid="0">
      <p:cViewPr varScale="1">
        <p:scale>
          <a:sx n="62" d="100"/>
          <a:sy n="62" d="100"/>
        </p:scale>
        <p:origin x="115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58E466-47E7-472D-AC34-BD50788CFBD4}" type="datetimeFigureOut">
              <a:rPr lang="en-US" smtClean="0"/>
              <a:t>3/2/2017</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9A222A-7EE5-461B-AB51-4E1740066219}" type="slidenum">
              <a:rPr lang="en-US" smtClean="0"/>
              <a:t>‹#›</a:t>
            </a:fld>
            <a:endParaRPr lang="en-US" dirty="0"/>
          </a:p>
        </p:txBody>
      </p:sp>
    </p:spTree>
    <p:extLst>
      <p:ext uri="{BB962C8B-B14F-4D97-AF65-F5344CB8AC3E}">
        <p14:creationId xmlns:p14="http://schemas.microsoft.com/office/powerpoint/2010/main" val="42512579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A9A222A-7EE5-461B-AB51-4E1740066219}" type="slidenum">
              <a:rPr lang="en-US" smtClean="0"/>
              <a:t>1</a:t>
            </a:fld>
            <a:endParaRPr lang="en-US" dirty="0"/>
          </a:p>
        </p:txBody>
      </p:sp>
    </p:spTree>
    <p:extLst>
      <p:ext uri="{BB962C8B-B14F-4D97-AF65-F5344CB8AC3E}">
        <p14:creationId xmlns:p14="http://schemas.microsoft.com/office/powerpoint/2010/main" val="3282679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Hartman Value Profile gives insight into our decision-making patterns.</a:t>
            </a:r>
            <a:r>
              <a:rPr lang="en-US" baseline="0" dirty="0" smtClean="0"/>
              <a:t> These tend to stay stable over our lifetime, and are made up of how we balance our perspectives of people, results and rules.  Our </a:t>
            </a:r>
            <a:r>
              <a:rPr lang="en-US" sz="1200" b="0" dirty="0" smtClean="0">
                <a:solidFill>
                  <a:srgbClr val="002060"/>
                </a:solidFill>
                <a:latin typeface="Times New Roman" pitchFamily="18" charset="0"/>
                <a:cs typeface="Times New Roman" pitchFamily="18" charset="0"/>
              </a:rPr>
              <a:t>capacity to make the “</a:t>
            </a:r>
            <a:r>
              <a:rPr lang="en-US" sz="1200" b="0" dirty="0" smtClean="0">
                <a:solidFill>
                  <a:srgbClr val="002060"/>
                </a:solidFill>
                <a:latin typeface="Times New Roman" pitchFamily="18" charset="0"/>
                <a:cs typeface="Times New Roman" pitchFamily="18" charset="0"/>
              </a:rPr>
              <a:t>Right Decisions</a:t>
            </a:r>
            <a:r>
              <a:rPr lang="en-US" sz="1200" b="0" dirty="0" smtClean="0">
                <a:solidFill>
                  <a:srgbClr val="002060"/>
                </a:solidFill>
                <a:latin typeface="Times New Roman" pitchFamily="18" charset="0"/>
                <a:cs typeface="Times New Roman" pitchFamily="18" charset="0"/>
              </a:rPr>
              <a:t>” is a direct reflection of</a:t>
            </a:r>
            <a:r>
              <a:rPr lang="en-US" sz="1200" b="0" baseline="0" dirty="0" smtClean="0">
                <a:solidFill>
                  <a:srgbClr val="002060"/>
                </a:solidFill>
                <a:latin typeface="Times New Roman" pitchFamily="18" charset="0"/>
                <a:cs typeface="Times New Roman" pitchFamily="18" charset="0"/>
              </a:rPr>
              <a:t> our</a:t>
            </a:r>
            <a:r>
              <a:rPr lang="en-US" sz="1200" b="0" dirty="0" smtClean="0">
                <a:solidFill>
                  <a:srgbClr val="002060"/>
                </a:solidFill>
                <a:latin typeface="Times New Roman" pitchFamily="18" charset="0"/>
                <a:cs typeface="Times New Roman" pitchFamily="18" charset="0"/>
              </a:rPr>
              <a:t> </a:t>
            </a:r>
            <a:r>
              <a:rPr lang="en-US" sz="1200" b="0" i="0" u="none" dirty="0" smtClean="0">
                <a:solidFill>
                  <a:srgbClr val="002060"/>
                </a:solidFill>
                <a:latin typeface="Times New Roman" pitchFamily="18" charset="0"/>
                <a:cs typeface="Times New Roman" pitchFamily="18" charset="0"/>
              </a:rPr>
              <a:t>Critical Thinking capacity leveraged across</a:t>
            </a:r>
            <a:r>
              <a:rPr lang="en-US" sz="1200" b="0" i="0" u="none" baseline="0" dirty="0" smtClean="0">
                <a:solidFill>
                  <a:srgbClr val="002060"/>
                </a:solidFill>
                <a:latin typeface="Times New Roman" pitchFamily="18" charset="0"/>
                <a:cs typeface="Times New Roman" pitchFamily="18" charset="0"/>
              </a:rPr>
              <a:t> our </a:t>
            </a:r>
            <a:r>
              <a:rPr lang="en-US" sz="1200" b="0" i="0" u="none" dirty="0" smtClean="0">
                <a:solidFill>
                  <a:srgbClr val="002060"/>
                </a:solidFill>
                <a:latin typeface="Times New Roman" pitchFamily="18" charset="0"/>
                <a:cs typeface="Times New Roman" pitchFamily="18" charset="0"/>
              </a:rPr>
              <a:t>knowledge (</a:t>
            </a:r>
            <a:r>
              <a:rPr lang="en-US" sz="1200" b="0" dirty="0" smtClean="0">
                <a:solidFill>
                  <a:srgbClr val="002060"/>
                </a:solidFill>
                <a:latin typeface="Times New Roman" pitchFamily="18" charset="0"/>
                <a:cs typeface="Times New Roman" pitchFamily="18" charset="0"/>
              </a:rPr>
              <a:t>what we know how to do). </a:t>
            </a:r>
          </a:p>
          <a:p>
            <a:endParaRPr lang="en-US" baseline="0" dirty="0" smtClean="0"/>
          </a:p>
          <a:p>
            <a:r>
              <a:rPr lang="en-US" baseline="0" dirty="0" smtClean="0"/>
              <a:t>The HVP measures objectively how we uniquely evaluate and define good, and how we apply those definitions when faced with problems, challenges, and opportunities.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i="1" baseline="0" dirty="0" smtClean="0"/>
              <a:t>Remember: HVP is a key element, but only a part of our overall human performance. To get a full perspective on our ability to perform, we need to know more about our values, and how our behaviors reflect our thinking and values. </a:t>
            </a:r>
            <a:endParaRPr lang="en-US" i="1" dirty="0"/>
          </a:p>
        </p:txBody>
      </p:sp>
      <p:sp>
        <p:nvSpPr>
          <p:cNvPr id="4" name="Slide Number Placeholder 3"/>
          <p:cNvSpPr>
            <a:spLocks noGrp="1"/>
          </p:cNvSpPr>
          <p:nvPr>
            <p:ph type="sldNum" sz="quarter" idx="10"/>
          </p:nvPr>
        </p:nvSpPr>
        <p:spPr/>
        <p:txBody>
          <a:bodyPr/>
          <a:lstStyle/>
          <a:p>
            <a:fld id="{FA9A222A-7EE5-461B-AB51-4E1740066219}" type="slidenum">
              <a:rPr lang="en-US" smtClean="0"/>
              <a:t>2</a:t>
            </a:fld>
            <a:endParaRPr lang="en-US" dirty="0"/>
          </a:p>
        </p:txBody>
      </p:sp>
    </p:spTree>
    <p:extLst>
      <p:ext uri="{BB962C8B-B14F-4D97-AF65-F5344CB8AC3E}">
        <p14:creationId xmlns:p14="http://schemas.microsoft.com/office/powerpoint/2010/main" val="15274873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is the</a:t>
            </a:r>
            <a:r>
              <a:rPr lang="en-US" baseline="0" dirty="0" smtClean="0"/>
              <a:t> critical thinking/decision making process. When I am faced with a problem, challenge or opportunity, I need to find the best way to solve the problem, overcome the challenge, or decide if and how I will take advantage of the opportunity to make things better. </a:t>
            </a:r>
          </a:p>
          <a:p>
            <a:endParaRPr lang="en-US" baseline="0" dirty="0" smtClean="0"/>
          </a:p>
          <a:p>
            <a:r>
              <a:rPr lang="en-US" baseline="0" dirty="0" smtClean="0"/>
              <a:t>There are steps I can take to ensure I am making a good decision, but I need to know what I use to determine that a decision is good.</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FA9A222A-7EE5-461B-AB51-4E1740066219}" type="slidenum">
              <a:rPr lang="en-US" smtClean="0"/>
              <a:t>3</a:t>
            </a:fld>
            <a:endParaRPr lang="en-US" dirty="0"/>
          </a:p>
        </p:txBody>
      </p:sp>
    </p:spTree>
    <p:extLst>
      <p:ext uri="{BB962C8B-B14F-4D97-AF65-F5344CB8AC3E}">
        <p14:creationId xmlns:p14="http://schemas.microsoft.com/office/powerpoint/2010/main" val="21319784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determine if the decision is a “good” one, we should identify</a:t>
            </a:r>
            <a:r>
              <a:rPr lang="en-US" baseline="0" dirty="0" smtClean="0"/>
              <a:t> what a good decisions looks like by evaluating</a:t>
            </a:r>
            <a:r>
              <a:rPr lang="en-US" dirty="0" smtClean="0"/>
              <a:t>: </a:t>
            </a:r>
          </a:p>
          <a:p>
            <a:pPr marL="171450" indent="-171450">
              <a:buFont typeface="Arial" panose="020B0604020202020204" pitchFamily="34" charset="0"/>
              <a:buChar char="•"/>
            </a:pPr>
            <a:r>
              <a:rPr lang="en-US" dirty="0" smtClean="0"/>
              <a:t>Will </a:t>
            </a:r>
            <a:r>
              <a:rPr lang="en-US" dirty="0" smtClean="0"/>
              <a:t>this decision</a:t>
            </a:r>
            <a:r>
              <a:rPr lang="en-US" baseline="0" dirty="0" smtClean="0"/>
              <a:t> or solution fit with the </a:t>
            </a:r>
            <a:r>
              <a:rPr lang="en-US" baseline="0" dirty="0" smtClean="0"/>
              <a:t>rules?</a:t>
            </a:r>
          </a:p>
          <a:p>
            <a:pPr marL="171450" indent="-171450">
              <a:buFont typeface="Arial" panose="020B0604020202020204" pitchFamily="34" charset="0"/>
              <a:buChar char="•"/>
            </a:pPr>
            <a:r>
              <a:rPr lang="en-US" baseline="0" dirty="0" smtClean="0"/>
              <a:t>Will this decision or solution create </a:t>
            </a:r>
            <a:r>
              <a:rPr lang="en-US" baseline="0" dirty="0" smtClean="0"/>
              <a:t>the results </a:t>
            </a:r>
            <a:r>
              <a:rPr lang="en-US" baseline="0" dirty="0" smtClean="0"/>
              <a:t>intended?  </a:t>
            </a:r>
            <a:br>
              <a:rPr lang="en-US" baseline="0" dirty="0" smtClean="0"/>
            </a:br>
            <a:r>
              <a:rPr lang="en-US" b="1" baseline="0" dirty="0" smtClean="0"/>
              <a:t>and</a:t>
            </a:r>
            <a:r>
              <a:rPr lang="en-US" baseline="0" dirty="0" smtClean="0"/>
              <a:t> </a:t>
            </a:r>
          </a:p>
          <a:p>
            <a:pPr marL="171450" indent="-171450">
              <a:buFont typeface="Arial" panose="020B0604020202020204" pitchFamily="34" charset="0"/>
              <a:buChar char="•"/>
            </a:pPr>
            <a:r>
              <a:rPr lang="en-US" baseline="0" dirty="0" smtClean="0"/>
              <a:t>Will this decision or solution be accepted/supported </a:t>
            </a:r>
            <a:r>
              <a:rPr lang="en-US" baseline="0" dirty="0" smtClean="0"/>
              <a:t>by others</a:t>
            </a:r>
            <a:r>
              <a:rPr lang="en-US" baseline="0" dirty="0" smtClean="0"/>
              <a:t>?</a:t>
            </a:r>
          </a:p>
          <a:p>
            <a:endParaRPr lang="en-US" baseline="0" dirty="0" smtClean="0"/>
          </a:p>
          <a:p>
            <a:r>
              <a:rPr lang="en-US" baseline="0" dirty="0" smtClean="0"/>
              <a:t>A GOOD decision must meet all 3.</a:t>
            </a:r>
            <a:endParaRPr lang="en-US" dirty="0"/>
          </a:p>
        </p:txBody>
      </p:sp>
      <p:sp>
        <p:nvSpPr>
          <p:cNvPr id="4" name="Slide Number Placeholder 3"/>
          <p:cNvSpPr>
            <a:spLocks noGrp="1"/>
          </p:cNvSpPr>
          <p:nvPr>
            <p:ph type="sldNum" sz="quarter" idx="10"/>
          </p:nvPr>
        </p:nvSpPr>
        <p:spPr/>
        <p:txBody>
          <a:bodyPr/>
          <a:lstStyle/>
          <a:p>
            <a:fld id="{FA9A222A-7EE5-461B-AB51-4E1740066219}" type="slidenum">
              <a:rPr lang="en-US" smtClean="0"/>
              <a:t>4</a:t>
            </a:fld>
            <a:endParaRPr lang="en-US" dirty="0"/>
          </a:p>
        </p:txBody>
      </p:sp>
    </p:spTree>
    <p:extLst>
      <p:ext uri="{BB962C8B-B14F-4D97-AF65-F5344CB8AC3E}">
        <p14:creationId xmlns:p14="http://schemas.microsoft.com/office/powerpoint/2010/main" val="28749043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After we’ve identified how</a:t>
            </a:r>
            <a:r>
              <a:rPr lang="en-US" baseline="0" dirty="0" smtClean="0"/>
              <a:t> a good decision is formulated, we must measure our own capacity to  understand the decision or solution and our own biases regarding our solution.</a:t>
            </a:r>
          </a:p>
          <a:p>
            <a:endParaRPr lang="en-US" baseline="0" dirty="0" smtClean="0"/>
          </a:p>
          <a:p>
            <a:r>
              <a:rPr lang="en-US" b="1" baseline="0" dirty="0" smtClean="0"/>
              <a:t>Clarity</a:t>
            </a:r>
            <a:r>
              <a:rPr lang="en-US" baseline="0" dirty="0" smtClean="0"/>
              <a:t> is all about how clearly we understand the impact of our decision or solution on people, tasks (results) and systems (rules). </a:t>
            </a:r>
          </a:p>
          <a:p>
            <a:pPr marL="0" marR="0" indent="0" algn="l" defTabSz="914400" rtl="0" eaLnBrk="1" fontAlgn="auto" latinLnBrk="0" hangingPunct="1">
              <a:lnSpc>
                <a:spcPct val="100000"/>
              </a:lnSpc>
              <a:spcBef>
                <a:spcPts val="0"/>
              </a:spcBef>
              <a:spcAft>
                <a:spcPts val="0"/>
              </a:spcAft>
              <a:buClrTx/>
              <a:buSzTx/>
              <a:buFontTx/>
              <a:buNone/>
              <a:tabLst/>
              <a:defRPr/>
            </a:pPr>
            <a:r>
              <a:rPr lang="en-US" b="1" baseline="0" dirty="0" smtClean="0"/>
              <a:t>Attention</a:t>
            </a:r>
            <a:r>
              <a:rPr lang="en-US" baseline="0" dirty="0" smtClean="0"/>
              <a:t> reveals how much importance or bias we place on people, tasks (results) and systems (rules). </a:t>
            </a:r>
          </a:p>
          <a:p>
            <a:endParaRPr lang="en-US" baseline="0" dirty="0" smtClean="0"/>
          </a:p>
          <a:p>
            <a:pPr marL="171450" indent="-171450">
              <a:buFont typeface="Arial" panose="020B0604020202020204" pitchFamily="34" charset="0"/>
              <a:buChar char="•"/>
            </a:pPr>
            <a:r>
              <a:rPr lang="en-US" dirty="0" smtClean="0"/>
              <a:t>Any </a:t>
            </a:r>
            <a:r>
              <a:rPr lang="en-US" dirty="0" smtClean="0"/>
              <a:t>combination of</a:t>
            </a:r>
            <a:r>
              <a:rPr lang="en-US" baseline="0" dirty="0" smtClean="0"/>
              <a:t> Clarity and Attention can happen together. </a:t>
            </a:r>
          </a:p>
          <a:p>
            <a:pPr marL="171450" indent="-171450">
              <a:buFont typeface="Arial" panose="020B0604020202020204" pitchFamily="34" charset="0"/>
              <a:buChar char="•"/>
            </a:pPr>
            <a:r>
              <a:rPr lang="en-US" baseline="0" dirty="0" smtClean="0"/>
              <a:t>The SWEET spot is Crystal Clear and </a:t>
            </a:r>
            <a:r>
              <a:rPr lang="en-US" baseline="0" dirty="0" smtClean="0"/>
              <a:t>Attentive. </a:t>
            </a:r>
          </a:p>
          <a:p>
            <a:pPr marL="171450" indent="-171450">
              <a:buFont typeface="Arial" panose="020B0604020202020204" pitchFamily="34" charset="0"/>
              <a:buChar char="•"/>
            </a:pPr>
            <a:r>
              <a:rPr lang="en-US" baseline="0" dirty="0" smtClean="0"/>
              <a:t>In </a:t>
            </a:r>
            <a:r>
              <a:rPr lang="en-US" baseline="0" dirty="0" smtClean="0"/>
              <a:t>the External/World view, if some one has 1 or more </a:t>
            </a:r>
            <a:r>
              <a:rPr lang="en-US" baseline="0" dirty="0" smtClean="0"/>
              <a:t>areas </a:t>
            </a:r>
            <a:r>
              <a:rPr lang="en-US" baseline="0" dirty="0" smtClean="0"/>
              <a:t>in </a:t>
            </a:r>
            <a:r>
              <a:rPr lang="en-US" b="1" baseline="0" dirty="0" smtClean="0"/>
              <a:t>Visible</a:t>
            </a:r>
            <a:r>
              <a:rPr lang="en-US" baseline="0" dirty="0" smtClean="0"/>
              <a:t> clarity, it’s something to pay attention to and an area of caution – it would mean “I don’t understand some thing very well, some things are invisible to me, or things don’t occur to me in this area”. </a:t>
            </a:r>
          </a:p>
          <a:p>
            <a:endParaRPr lang="en-US" baseline="0" dirty="0" smtClean="0"/>
          </a:p>
          <a:p>
            <a:r>
              <a:rPr lang="en-US" baseline="0" dirty="0" smtClean="0"/>
              <a:t>Also, remember that internal/self scores may have influence on the external/world score. </a:t>
            </a:r>
          </a:p>
          <a:p>
            <a:endParaRPr lang="en-US" baseline="0" dirty="0" smtClean="0"/>
          </a:p>
        </p:txBody>
      </p:sp>
      <p:sp>
        <p:nvSpPr>
          <p:cNvPr id="4" name="Slide Number Placeholder 3"/>
          <p:cNvSpPr>
            <a:spLocks noGrp="1"/>
          </p:cNvSpPr>
          <p:nvPr>
            <p:ph type="sldNum" sz="quarter" idx="10"/>
          </p:nvPr>
        </p:nvSpPr>
        <p:spPr/>
        <p:txBody>
          <a:bodyPr/>
          <a:lstStyle/>
          <a:p>
            <a:fld id="{FA9A222A-7EE5-461B-AB51-4E1740066219}" type="slidenum">
              <a:rPr lang="en-US" smtClean="0"/>
              <a:t>5</a:t>
            </a:fld>
            <a:endParaRPr lang="en-US" dirty="0"/>
          </a:p>
        </p:txBody>
      </p:sp>
    </p:spTree>
    <p:extLst>
      <p:ext uri="{BB962C8B-B14F-4D97-AF65-F5344CB8AC3E}">
        <p14:creationId xmlns:p14="http://schemas.microsoft.com/office/powerpoint/2010/main" val="152045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Once</a:t>
            </a:r>
            <a:r>
              <a:rPr lang="en-US" baseline="0" dirty="0" smtClean="0"/>
              <a:t> you’ve identified a good decision, and measured your own clarity and attention of your thinking style, the next step to </a:t>
            </a:r>
            <a:r>
              <a:rPr lang="en-US" dirty="0" smtClean="0"/>
              <a:t>determining a good</a:t>
            </a:r>
            <a:r>
              <a:rPr lang="en-US" baseline="0" dirty="0" smtClean="0"/>
              <a:t> decision or solution is to compare your solution to the expectations. Will it work? Is it reasonable as a solution? Does it meet the expectations for people, tasks (results), and systems (rules)?</a:t>
            </a:r>
          </a:p>
          <a:p>
            <a:endParaRPr lang="en-US" baseline="0" dirty="0" smtClean="0"/>
          </a:p>
          <a:p>
            <a:endParaRPr lang="en-US" baseline="0" dirty="0" smtClean="0"/>
          </a:p>
          <a:p>
            <a:endParaRPr lang="en-US" baseline="0" dirty="0" smtClean="0"/>
          </a:p>
        </p:txBody>
      </p:sp>
      <p:sp>
        <p:nvSpPr>
          <p:cNvPr id="4" name="Slide Number Placeholder 3"/>
          <p:cNvSpPr>
            <a:spLocks noGrp="1"/>
          </p:cNvSpPr>
          <p:nvPr>
            <p:ph type="sldNum" sz="quarter" idx="10"/>
          </p:nvPr>
        </p:nvSpPr>
        <p:spPr/>
        <p:txBody>
          <a:bodyPr/>
          <a:lstStyle/>
          <a:p>
            <a:fld id="{FA9A222A-7EE5-461B-AB51-4E1740066219}" type="slidenum">
              <a:rPr lang="en-US" smtClean="0"/>
              <a:t>6</a:t>
            </a:fld>
            <a:endParaRPr lang="en-US" dirty="0"/>
          </a:p>
        </p:txBody>
      </p:sp>
    </p:spTree>
    <p:extLst>
      <p:ext uri="{BB962C8B-B14F-4D97-AF65-F5344CB8AC3E}">
        <p14:creationId xmlns:p14="http://schemas.microsoft.com/office/powerpoint/2010/main" val="38960664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Another important component is of Critical Thinking and Decision Making is Risk. </a:t>
            </a:r>
          </a:p>
          <a:p>
            <a:r>
              <a:rPr lang="en-US" baseline="0" dirty="0" smtClean="0"/>
              <a:t>If a person has excellent clarity and attention, and is capable of developing a workable, expectation-filling solution to a problem, challenge or opportunity, they will likely exhibit lower risk.</a:t>
            </a:r>
          </a:p>
          <a:p>
            <a:endParaRPr lang="en-US" baseline="0" dirty="0" smtClean="0"/>
          </a:p>
          <a:p>
            <a:r>
              <a:rPr lang="en-US" baseline="0" dirty="0" smtClean="0"/>
              <a:t>If a person has a difficult time identifying the problem, challenge or opportunity, is not as clear or has noted biases that are not balanced, or if the solution isn’t workable or doesn’t meet the expectations, they are likely to exhibit a higher risk in certain areas.</a:t>
            </a:r>
          </a:p>
          <a:p>
            <a:endParaRPr lang="en-US" baseline="0" dirty="0" smtClean="0"/>
          </a:p>
          <a:p>
            <a:r>
              <a:rPr lang="en-US" baseline="0" dirty="0" smtClean="0"/>
              <a:t>If there is a real risk identified in critical thinking and decision making based on this process, it is important to determine the relevance of the risk.  Just because a risk is present doesn’t mean that the person is not a good decision maker or can’t critically think. However, if the risk area is relevant to the decision, it may be useful to have some support or development offered in that area to strengthen overall skill and bring awareness and greater balance to the thinking style.</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FA9A222A-7EE5-461B-AB51-4E1740066219}" type="slidenum">
              <a:rPr lang="en-US" smtClean="0"/>
              <a:t>7</a:t>
            </a:fld>
            <a:endParaRPr lang="en-US" dirty="0"/>
          </a:p>
        </p:txBody>
      </p:sp>
    </p:spTree>
    <p:extLst>
      <p:ext uri="{BB962C8B-B14F-4D97-AF65-F5344CB8AC3E}">
        <p14:creationId xmlns:p14="http://schemas.microsoft.com/office/powerpoint/2010/main" val="17362927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When I bring together the </a:t>
            </a:r>
            <a:r>
              <a:rPr lang="en-US" baseline="0" dirty="0" smtClean="0"/>
              <a:t>steps </a:t>
            </a:r>
            <a:r>
              <a:rPr lang="en-US" baseline="0" dirty="0" smtClean="0"/>
              <a:t>take to make </a:t>
            </a:r>
            <a:r>
              <a:rPr lang="en-US" baseline="0" dirty="0" smtClean="0"/>
              <a:t>a good </a:t>
            </a:r>
            <a:r>
              <a:rPr lang="en-US" baseline="0" dirty="0" smtClean="0"/>
              <a:t>decision and my understanding that my decision making skills are good (based on personal awareness of my clarity and attentiveness to People, Tasks and Systems), I can be confident that I am making the right decisions. </a:t>
            </a:r>
            <a:endParaRPr lang="en-US" baseline="0" dirty="0" smtClean="0"/>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FA9A222A-7EE5-461B-AB51-4E1740066219}" type="slidenum">
              <a:rPr lang="en-US" smtClean="0"/>
              <a:t>8</a:t>
            </a:fld>
            <a:endParaRPr lang="en-US" dirty="0"/>
          </a:p>
        </p:txBody>
      </p:sp>
    </p:spTree>
    <p:extLst>
      <p:ext uri="{BB962C8B-B14F-4D97-AF65-F5344CB8AC3E}">
        <p14:creationId xmlns:p14="http://schemas.microsoft.com/office/powerpoint/2010/main" val="19471073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2DED286-BA65-4208-B535-1F1458390F3E}" type="datetime1">
              <a:rPr lang="en-US" smtClean="0"/>
              <a:t>3/2/2017</a:t>
            </a:fld>
            <a:endParaRPr lang="en-US" dirty="0"/>
          </a:p>
        </p:txBody>
      </p:sp>
      <p:sp>
        <p:nvSpPr>
          <p:cNvPr id="5" name="Footer Placeholder 4"/>
          <p:cNvSpPr>
            <a:spLocks noGrp="1"/>
          </p:cNvSpPr>
          <p:nvPr>
            <p:ph type="ftr" sz="quarter" idx="11"/>
          </p:nvPr>
        </p:nvSpPr>
        <p:spPr/>
        <p:txBody>
          <a:bodyPr/>
          <a:lstStyle/>
          <a:p>
            <a:r>
              <a:rPr lang="en-US" dirty="0" smtClean="0"/>
              <a:t>©2016 Assessments 24X7</a:t>
            </a:r>
            <a:endParaRPr lang="en-US" dirty="0"/>
          </a:p>
        </p:txBody>
      </p:sp>
      <p:sp>
        <p:nvSpPr>
          <p:cNvPr id="6" name="Slide Number Placeholder 5"/>
          <p:cNvSpPr>
            <a:spLocks noGrp="1"/>
          </p:cNvSpPr>
          <p:nvPr>
            <p:ph type="sldNum" sz="quarter" idx="12"/>
          </p:nvPr>
        </p:nvSpPr>
        <p:spPr/>
        <p:txBody>
          <a:bodyPr/>
          <a:lstStyle/>
          <a:p>
            <a:fld id="{35D9512D-810D-489D-B4F3-0792CA04F52C}" type="slidenum">
              <a:rPr lang="en-US" smtClean="0"/>
              <a:t>‹#›</a:t>
            </a:fld>
            <a:endParaRPr lang="en-US" dirty="0"/>
          </a:p>
        </p:txBody>
      </p:sp>
    </p:spTree>
    <p:extLst>
      <p:ext uri="{BB962C8B-B14F-4D97-AF65-F5344CB8AC3E}">
        <p14:creationId xmlns:p14="http://schemas.microsoft.com/office/powerpoint/2010/main" val="25624250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C33C1EF-E1A6-46B7-87EA-DFDCA8631C95}" type="datetime1">
              <a:rPr lang="en-US" smtClean="0"/>
              <a:t>3/2/2017</a:t>
            </a:fld>
            <a:endParaRPr lang="en-US" dirty="0"/>
          </a:p>
        </p:txBody>
      </p:sp>
      <p:sp>
        <p:nvSpPr>
          <p:cNvPr id="5" name="Footer Placeholder 4"/>
          <p:cNvSpPr>
            <a:spLocks noGrp="1"/>
          </p:cNvSpPr>
          <p:nvPr>
            <p:ph type="ftr" sz="quarter" idx="11"/>
          </p:nvPr>
        </p:nvSpPr>
        <p:spPr/>
        <p:txBody>
          <a:bodyPr/>
          <a:lstStyle/>
          <a:p>
            <a:r>
              <a:rPr lang="en-US" dirty="0" smtClean="0"/>
              <a:t>©2016 Assessments 24X7</a:t>
            </a:r>
            <a:endParaRPr lang="en-US" dirty="0"/>
          </a:p>
        </p:txBody>
      </p:sp>
      <p:sp>
        <p:nvSpPr>
          <p:cNvPr id="6" name="Slide Number Placeholder 5"/>
          <p:cNvSpPr>
            <a:spLocks noGrp="1"/>
          </p:cNvSpPr>
          <p:nvPr>
            <p:ph type="sldNum" sz="quarter" idx="12"/>
          </p:nvPr>
        </p:nvSpPr>
        <p:spPr/>
        <p:txBody>
          <a:bodyPr/>
          <a:lstStyle/>
          <a:p>
            <a:fld id="{35D9512D-810D-489D-B4F3-0792CA04F52C}" type="slidenum">
              <a:rPr lang="en-US" smtClean="0"/>
              <a:t>‹#›</a:t>
            </a:fld>
            <a:endParaRPr lang="en-US" dirty="0"/>
          </a:p>
        </p:txBody>
      </p:sp>
    </p:spTree>
    <p:extLst>
      <p:ext uri="{BB962C8B-B14F-4D97-AF65-F5344CB8AC3E}">
        <p14:creationId xmlns:p14="http://schemas.microsoft.com/office/powerpoint/2010/main" val="1342818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20A373-CD05-4370-B778-4C83B63112B1}" type="datetime1">
              <a:rPr lang="en-US" smtClean="0"/>
              <a:t>3/2/2017</a:t>
            </a:fld>
            <a:endParaRPr lang="en-US" dirty="0"/>
          </a:p>
        </p:txBody>
      </p:sp>
      <p:sp>
        <p:nvSpPr>
          <p:cNvPr id="5" name="Footer Placeholder 4"/>
          <p:cNvSpPr>
            <a:spLocks noGrp="1"/>
          </p:cNvSpPr>
          <p:nvPr>
            <p:ph type="ftr" sz="quarter" idx="11"/>
          </p:nvPr>
        </p:nvSpPr>
        <p:spPr/>
        <p:txBody>
          <a:bodyPr/>
          <a:lstStyle/>
          <a:p>
            <a:r>
              <a:rPr lang="en-US" dirty="0" smtClean="0"/>
              <a:t>©2016 Assessments 24X7</a:t>
            </a:r>
            <a:endParaRPr lang="en-US" dirty="0"/>
          </a:p>
        </p:txBody>
      </p:sp>
      <p:sp>
        <p:nvSpPr>
          <p:cNvPr id="6" name="Slide Number Placeholder 5"/>
          <p:cNvSpPr>
            <a:spLocks noGrp="1"/>
          </p:cNvSpPr>
          <p:nvPr>
            <p:ph type="sldNum" sz="quarter" idx="12"/>
          </p:nvPr>
        </p:nvSpPr>
        <p:spPr/>
        <p:txBody>
          <a:bodyPr/>
          <a:lstStyle/>
          <a:p>
            <a:fld id="{35D9512D-810D-489D-B4F3-0792CA04F52C}" type="slidenum">
              <a:rPr lang="en-US" smtClean="0"/>
              <a:t>‹#›</a:t>
            </a:fld>
            <a:endParaRPr lang="en-US" dirty="0"/>
          </a:p>
        </p:txBody>
      </p:sp>
    </p:spTree>
    <p:extLst>
      <p:ext uri="{BB962C8B-B14F-4D97-AF65-F5344CB8AC3E}">
        <p14:creationId xmlns:p14="http://schemas.microsoft.com/office/powerpoint/2010/main" val="2804619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2B9C23D-B0CB-4A01-AAB6-266F5BCC508C}" type="datetime1">
              <a:rPr lang="en-US" smtClean="0"/>
              <a:t>3/2/2017</a:t>
            </a:fld>
            <a:endParaRPr lang="en-US" dirty="0"/>
          </a:p>
        </p:txBody>
      </p:sp>
      <p:sp>
        <p:nvSpPr>
          <p:cNvPr id="6" name="Footer Placeholder 5"/>
          <p:cNvSpPr>
            <a:spLocks noGrp="1"/>
          </p:cNvSpPr>
          <p:nvPr>
            <p:ph type="ftr" sz="quarter" idx="11"/>
          </p:nvPr>
        </p:nvSpPr>
        <p:spPr/>
        <p:txBody>
          <a:bodyPr/>
          <a:lstStyle/>
          <a:p>
            <a:r>
              <a:rPr lang="en-US" dirty="0" smtClean="0"/>
              <a:t>©2016 Assessments 24X7</a:t>
            </a:r>
            <a:endParaRPr lang="en-US" dirty="0"/>
          </a:p>
        </p:txBody>
      </p:sp>
      <p:sp>
        <p:nvSpPr>
          <p:cNvPr id="7" name="Slide Number Placeholder 6"/>
          <p:cNvSpPr>
            <a:spLocks noGrp="1"/>
          </p:cNvSpPr>
          <p:nvPr>
            <p:ph type="sldNum" sz="quarter" idx="12"/>
          </p:nvPr>
        </p:nvSpPr>
        <p:spPr/>
        <p:txBody>
          <a:bodyPr/>
          <a:lstStyle/>
          <a:p>
            <a:fld id="{35D9512D-810D-489D-B4F3-0792CA04F52C}" type="slidenum">
              <a:rPr lang="en-US" smtClean="0"/>
              <a:t>‹#›</a:t>
            </a:fld>
            <a:endParaRPr lang="en-US" dirty="0"/>
          </a:p>
        </p:txBody>
      </p:sp>
    </p:spTree>
    <p:extLst>
      <p:ext uri="{BB962C8B-B14F-4D97-AF65-F5344CB8AC3E}">
        <p14:creationId xmlns:p14="http://schemas.microsoft.com/office/powerpoint/2010/main" val="2811776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8F86A2C-AC5E-4279-B58C-D8416C406737}" type="datetime1">
              <a:rPr lang="en-US" smtClean="0"/>
              <a:t>3/2/2017</a:t>
            </a:fld>
            <a:endParaRPr lang="en-US" dirty="0"/>
          </a:p>
        </p:txBody>
      </p:sp>
      <p:sp>
        <p:nvSpPr>
          <p:cNvPr id="8" name="Footer Placeholder 7"/>
          <p:cNvSpPr>
            <a:spLocks noGrp="1"/>
          </p:cNvSpPr>
          <p:nvPr>
            <p:ph type="ftr" sz="quarter" idx="11"/>
          </p:nvPr>
        </p:nvSpPr>
        <p:spPr/>
        <p:txBody>
          <a:bodyPr/>
          <a:lstStyle/>
          <a:p>
            <a:r>
              <a:rPr lang="en-US" dirty="0" smtClean="0"/>
              <a:t>©2016 Assessments 24X7</a:t>
            </a:r>
            <a:endParaRPr lang="en-US" dirty="0"/>
          </a:p>
        </p:txBody>
      </p:sp>
      <p:sp>
        <p:nvSpPr>
          <p:cNvPr id="9" name="Slide Number Placeholder 8"/>
          <p:cNvSpPr>
            <a:spLocks noGrp="1"/>
          </p:cNvSpPr>
          <p:nvPr>
            <p:ph type="sldNum" sz="quarter" idx="12"/>
          </p:nvPr>
        </p:nvSpPr>
        <p:spPr/>
        <p:txBody>
          <a:bodyPr/>
          <a:lstStyle/>
          <a:p>
            <a:fld id="{35D9512D-810D-489D-B4F3-0792CA04F52C}" type="slidenum">
              <a:rPr lang="en-US" smtClean="0"/>
              <a:t>‹#›</a:t>
            </a:fld>
            <a:endParaRPr lang="en-US" dirty="0"/>
          </a:p>
        </p:txBody>
      </p:sp>
    </p:spTree>
    <p:extLst>
      <p:ext uri="{BB962C8B-B14F-4D97-AF65-F5344CB8AC3E}">
        <p14:creationId xmlns:p14="http://schemas.microsoft.com/office/powerpoint/2010/main" val="1295503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924FFAA-C761-4291-8137-9A1DCC352337}" type="datetime1">
              <a:rPr lang="en-US" smtClean="0"/>
              <a:t>3/2/2017</a:t>
            </a:fld>
            <a:endParaRPr lang="en-US" dirty="0"/>
          </a:p>
        </p:txBody>
      </p:sp>
      <p:sp>
        <p:nvSpPr>
          <p:cNvPr id="4" name="Footer Placeholder 3"/>
          <p:cNvSpPr>
            <a:spLocks noGrp="1"/>
          </p:cNvSpPr>
          <p:nvPr>
            <p:ph type="ftr" sz="quarter" idx="11"/>
          </p:nvPr>
        </p:nvSpPr>
        <p:spPr/>
        <p:txBody>
          <a:bodyPr/>
          <a:lstStyle/>
          <a:p>
            <a:r>
              <a:rPr lang="en-US" dirty="0" smtClean="0"/>
              <a:t>©2016 Assessments 24X7</a:t>
            </a:r>
            <a:endParaRPr lang="en-US" dirty="0"/>
          </a:p>
        </p:txBody>
      </p:sp>
      <p:sp>
        <p:nvSpPr>
          <p:cNvPr id="5" name="Slide Number Placeholder 4"/>
          <p:cNvSpPr>
            <a:spLocks noGrp="1"/>
          </p:cNvSpPr>
          <p:nvPr>
            <p:ph type="sldNum" sz="quarter" idx="12"/>
          </p:nvPr>
        </p:nvSpPr>
        <p:spPr/>
        <p:txBody>
          <a:bodyPr/>
          <a:lstStyle/>
          <a:p>
            <a:fld id="{35D9512D-810D-489D-B4F3-0792CA04F52C}" type="slidenum">
              <a:rPr lang="en-US" smtClean="0"/>
              <a:t>‹#›</a:t>
            </a:fld>
            <a:endParaRPr lang="en-US" dirty="0"/>
          </a:p>
        </p:txBody>
      </p:sp>
    </p:spTree>
    <p:extLst>
      <p:ext uri="{BB962C8B-B14F-4D97-AF65-F5344CB8AC3E}">
        <p14:creationId xmlns:p14="http://schemas.microsoft.com/office/powerpoint/2010/main" val="4179342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1017BA-2B6F-4356-BA1E-1030289959B5}" type="datetime1">
              <a:rPr lang="en-US" smtClean="0"/>
              <a:t>3/2/2017</a:t>
            </a:fld>
            <a:endParaRPr lang="en-US" dirty="0"/>
          </a:p>
        </p:txBody>
      </p:sp>
      <p:sp>
        <p:nvSpPr>
          <p:cNvPr id="3" name="Footer Placeholder 2"/>
          <p:cNvSpPr>
            <a:spLocks noGrp="1"/>
          </p:cNvSpPr>
          <p:nvPr>
            <p:ph type="ftr" sz="quarter" idx="11"/>
          </p:nvPr>
        </p:nvSpPr>
        <p:spPr/>
        <p:txBody>
          <a:bodyPr/>
          <a:lstStyle/>
          <a:p>
            <a:r>
              <a:rPr lang="en-US" dirty="0" smtClean="0"/>
              <a:t>©2016 Assessments 24X7</a:t>
            </a:r>
            <a:endParaRPr lang="en-US" dirty="0"/>
          </a:p>
        </p:txBody>
      </p:sp>
      <p:sp>
        <p:nvSpPr>
          <p:cNvPr id="4" name="Slide Number Placeholder 3"/>
          <p:cNvSpPr>
            <a:spLocks noGrp="1"/>
          </p:cNvSpPr>
          <p:nvPr>
            <p:ph type="sldNum" sz="quarter" idx="12"/>
          </p:nvPr>
        </p:nvSpPr>
        <p:spPr/>
        <p:txBody>
          <a:bodyPr/>
          <a:lstStyle/>
          <a:p>
            <a:fld id="{35D9512D-810D-489D-B4F3-0792CA04F52C}" type="slidenum">
              <a:rPr lang="en-US" smtClean="0"/>
              <a:t>‹#›</a:t>
            </a:fld>
            <a:endParaRPr lang="en-US" dirty="0"/>
          </a:p>
        </p:txBody>
      </p:sp>
    </p:spTree>
    <p:extLst>
      <p:ext uri="{BB962C8B-B14F-4D97-AF65-F5344CB8AC3E}">
        <p14:creationId xmlns:p14="http://schemas.microsoft.com/office/powerpoint/2010/main" val="2806459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DE821E0-D61A-4584-95FC-5EEEAD2BF0E3}" type="datetime1">
              <a:rPr lang="en-US" smtClean="0"/>
              <a:t>3/2/2017</a:t>
            </a:fld>
            <a:endParaRPr lang="en-US" dirty="0"/>
          </a:p>
        </p:txBody>
      </p:sp>
      <p:sp>
        <p:nvSpPr>
          <p:cNvPr id="6" name="Footer Placeholder 5"/>
          <p:cNvSpPr>
            <a:spLocks noGrp="1"/>
          </p:cNvSpPr>
          <p:nvPr>
            <p:ph type="ftr" sz="quarter" idx="11"/>
          </p:nvPr>
        </p:nvSpPr>
        <p:spPr/>
        <p:txBody>
          <a:bodyPr/>
          <a:lstStyle/>
          <a:p>
            <a:r>
              <a:rPr lang="en-US" dirty="0" smtClean="0"/>
              <a:t>©2016 Assessments 24X7</a:t>
            </a:r>
            <a:endParaRPr lang="en-US" dirty="0"/>
          </a:p>
        </p:txBody>
      </p:sp>
      <p:sp>
        <p:nvSpPr>
          <p:cNvPr id="7" name="Slide Number Placeholder 6"/>
          <p:cNvSpPr>
            <a:spLocks noGrp="1"/>
          </p:cNvSpPr>
          <p:nvPr>
            <p:ph type="sldNum" sz="quarter" idx="12"/>
          </p:nvPr>
        </p:nvSpPr>
        <p:spPr/>
        <p:txBody>
          <a:bodyPr/>
          <a:lstStyle/>
          <a:p>
            <a:fld id="{35D9512D-810D-489D-B4F3-0792CA04F52C}" type="slidenum">
              <a:rPr lang="en-US" smtClean="0"/>
              <a:t>‹#›</a:t>
            </a:fld>
            <a:endParaRPr lang="en-US" dirty="0"/>
          </a:p>
        </p:txBody>
      </p:sp>
    </p:spTree>
    <p:extLst>
      <p:ext uri="{BB962C8B-B14F-4D97-AF65-F5344CB8AC3E}">
        <p14:creationId xmlns:p14="http://schemas.microsoft.com/office/powerpoint/2010/main" val="3646670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CA3CC52-05E0-4588-AED3-AE6C38827EE3}" type="datetime1">
              <a:rPr lang="en-US" smtClean="0"/>
              <a:t>3/2/2017</a:t>
            </a:fld>
            <a:endParaRPr lang="en-US" dirty="0"/>
          </a:p>
        </p:txBody>
      </p:sp>
      <p:sp>
        <p:nvSpPr>
          <p:cNvPr id="6" name="Footer Placeholder 5"/>
          <p:cNvSpPr>
            <a:spLocks noGrp="1"/>
          </p:cNvSpPr>
          <p:nvPr>
            <p:ph type="ftr" sz="quarter" idx="11"/>
          </p:nvPr>
        </p:nvSpPr>
        <p:spPr/>
        <p:txBody>
          <a:bodyPr/>
          <a:lstStyle/>
          <a:p>
            <a:r>
              <a:rPr lang="en-US" dirty="0" smtClean="0"/>
              <a:t>©2016 Assessments 24X7</a:t>
            </a:r>
            <a:endParaRPr lang="en-US" dirty="0"/>
          </a:p>
        </p:txBody>
      </p:sp>
      <p:sp>
        <p:nvSpPr>
          <p:cNvPr id="7" name="Slide Number Placeholder 6"/>
          <p:cNvSpPr>
            <a:spLocks noGrp="1"/>
          </p:cNvSpPr>
          <p:nvPr>
            <p:ph type="sldNum" sz="quarter" idx="12"/>
          </p:nvPr>
        </p:nvSpPr>
        <p:spPr/>
        <p:txBody>
          <a:bodyPr/>
          <a:lstStyle/>
          <a:p>
            <a:fld id="{35D9512D-810D-489D-B4F3-0792CA04F52C}" type="slidenum">
              <a:rPr lang="en-US" smtClean="0"/>
              <a:t>‹#›</a:t>
            </a:fld>
            <a:endParaRPr lang="en-US" dirty="0"/>
          </a:p>
        </p:txBody>
      </p:sp>
    </p:spTree>
    <p:extLst>
      <p:ext uri="{BB962C8B-B14F-4D97-AF65-F5344CB8AC3E}">
        <p14:creationId xmlns:p14="http://schemas.microsoft.com/office/powerpoint/2010/main" val="23332545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6EBACB-C37A-4C31-823C-D17ABEFE40B3}" type="datetime1">
              <a:rPr lang="en-US" smtClean="0"/>
              <a:t>3/2/2017</a:t>
            </a:fld>
            <a:endParaRPr lang="en-US" dirty="0"/>
          </a:p>
        </p:txBody>
      </p:sp>
      <p:sp>
        <p:nvSpPr>
          <p:cNvPr id="5" name="Footer Placeholder 4"/>
          <p:cNvSpPr>
            <a:spLocks noGrp="1"/>
          </p:cNvSpPr>
          <p:nvPr>
            <p:ph type="ftr" sz="quarter" idx="11"/>
          </p:nvPr>
        </p:nvSpPr>
        <p:spPr/>
        <p:txBody>
          <a:bodyPr/>
          <a:lstStyle/>
          <a:p>
            <a:r>
              <a:rPr lang="en-US" dirty="0" smtClean="0"/>
              <a:t>©2016 Assessments 24X7</a:t>
            </a:r>
            <a:endParaRPr lang="en-US" dirty="0"/>
          </a:p>
        </p:txBody>
      </p:sp>
      <p:sp>
        <p:nvSpPr>
          <p:cNvPr id="6" name="Slide Number Placeholder 5"/>
          <p:cNvSpPr>
            <a:spLocks noGrp="1"/>
          </p:cNvSpPr>
          <p:nvPr>
            <p:ph type="sldNum" sz="quarter" idx="12"/>
          </p:nvPr>
        </p:nvSpPr>
        <p:spPr/>
        <p:txBody>
          <a:bodyPr/>
          <a:lstStyle/>
          <a:p>
            <a:fld id="{35D9512D-810D-489D-B4F3-0792CA04F52C}" type="slidenum">
              <a:rPr lang="en-US" smtClean="0"/>
              <a:t>‹#›</a:t>
            </a:fld>
            <a:endParaRPr lang="en-US" dirty="0"/>
          </a:p>
        </p:txBody>
      </p:sp>
    </p:spTree>
    <p:extLst>
      <p:ext uri="{BB962C8B-B14F-4D97-AF65-F5344CB8AC3E}">
        <p14:creationId xmlns:p14="http://schemas.microsoft.com/office/powerpoint/2010/main" val="29212547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25D550-C929-4905-841B-AB26D94EF114}" type="datetime1">
              <a:rPr lang="en-US" smtClean="0"/>
              <a:t>3/2/2017</a:t>
            </a:fld>
            <a:endParaRPr lang="en-US" dirty="0"/>
          </a:p>
        </p:txBody>
      </p:sp>
      <p:sp>
        <p:nvSpPr>
          <p:cNvPr id="5" name="Footer Placeholder 4"/>
          <p:cNvSpPr>
            <a:spLocks noGrp="1"/>
          </p:cNvSpPr>
          <p:nvPr>
            <p:ph type="ftr" sz="quarter" idx="11"/>
          </p:nvPr>
        </p:nvSpPr>
        <p:spPr/>
        <p:txBody>
          <a:bodyPr/>
          <a:lstStyle/>
          <a:p>
            <a:r>
              <a:rPr lang="en-US" dirty="0" smtClean="0"/>
              <a:t>©2016 Assessments 24X7</a:t>
            </a:r>
            <a:endParaRPr lang="en-US" dirty="0"/>
          </a:p>
        </p:txBody>
      </p:sp>
      <p:sp>
        <p:nvSpPr>
          <p:cNvPr id="6" name="Slide Number Placeholder 5"/>
          <p:cNvSpPr>
            <a:spLocks noGrp="1"/>
          </p:cNvSpPr>
          <p:nvPr>
            <p:ph type="sldNum" sz="quarter" idx="12"/>
          </p:nvPr>
        </p:nvSpPr>
        <p:spPr/>
        <p:txBody>
          <a:bodyPr/>
          <a:lstStyle/>
          <a:p>
            <a:fld id="{35D9512D-810D-489D-B4F3-0792CA04F52C}" type="slidenum">
              <a:rPr lang="en-US" smtClean="0"/>
              <a:t>‹#›</a:t>
            </a:fld>
            <a:endParaRPr lang="en-US" dirty="0"/>
          </a:p>
        </p:txBody>
      </p:sp>
    </p:spTree>
    <p:extLst>
      <p:ext uri="{BB962C8B-B14F-4D97-AF65-F5344CB8AC3E}">
        <p14:creationId xmlns:p14="http://schemas.microsoft.com/office/powerpoint/2010/main" val="3495425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35D58C-1CF9-4FB5-8A78-B17E500473D6}" type="datetime1">
              <a:rPr lang="en-US" smtClean="0"/>
              <a:t>3/2/2017</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smtClean="0"/>
              <a:t>©2016 Assessments 24X7</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D9512D-810D-489D-B4F3-0792CA04F52C}" type="slidenum">
              <a:rPr lang="en-US" smtClean="0"/>
              <a:t>‹#›</a:t>
            </a:fld>
            <a:endParaRPr lang="en-US" dirty="0"/>
          </a:p>
        </p:txBody>
      </p:sp>
    </p:spTree>
    <p:extLst>
      <p:ext uri="{BB962C8B-B14F-4D97-AF65-F5344CB8AC3E}">
        <p14:creationId xmlns:p14="http://schemas.microsoft.com/office/powerpoint/2010/main" val="24450694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8962" y="2096778"/>
            <a:ext cx="10631845" cy="3033160"/>
          </a:xfrm>
        </p:spPr>
        <p:txBody>
          <a:bodyPr/>
          <a:lstStyle/>
          <a:p>
            <a:pPr algn="l"/>
            <a:r>
              <a:rPr lang="en-US" dirty="0" smtClean="0"/>
              <a:t>Hartman Value </a:t>
            </a:r>
            <a:r>
              <a:rPr lang="en-US" dirty="0" smtClean="0"/>
              <a:t>Profile</a:t>
            </a:r>
            <a:r>
              <a:rPr lang="en-US" dirty="0" smtClean="0"/>
              <a:t/>
            </a:r>
            <a:br>
              <a:rPr lang="en-US" dirty="0" smtClean="0"/>
            </a:br>
            <a:r>
              <a:rPr lang="en-US" sz="4000" i="1" dirty="0" smtClean="0"/>
              <a:t>A </a:t>
            </a:r>
            <a:r>
              <a:rPr lang="en-US" sz="4000" i="1" dirty="0" smtClean="0"/>
              <a:t>Critical Thinking and Decision Making Process</a:t>
            </a:r>
            <a:endParaRPr lang="en-US" sz="4000" i="1" dirty="0"/>
          </a:p>
        </p:txBody>
      </p:sp>
      <p:pic>
        <p:nvPicPr>
          <p:cNvPr id="5" name="Picture 4"/>
          <p:cNvPicPr/>
          <p:nvPr/>
        </p:nvPicPr>
        <p:blipFill rotWithShape="1">
          <a:blip r:embed="rId3"/>
          <a:srcRect l="11378" t="12097" r="71795" b="47833"/>
          <a:stretch/>
        </p:blipFill>
        <p:spPr bwMode="auto">
          <a:xfrm>
            <a:off x="6512994" y="43974"/>
            <a:ext cx="5695950" cy="2874645"/>
          </a:xfrm>
          <a:prstGeom prst="rect">
            <a:avLst/>
          </a:prstGeom>
          <a:ln>
            <a:noFill/>
          </a:ln>
          <a:extLst>
            <a:ext uri="{53640926-AAD7-44D8-BBD7-CCE9431645EC}">
              <a14:shadowObscured xmlns:a14="http://schemas.microsoft.com/office/drawing/2010/main"/>
            </a:ext>
          </a:extLst>
        </p:spPr>
      </p:pic>
      <p:sp>
        <p:nvSpPr>
          <p:cNvPr id="7" name="Footer Placeholder 6"/>
          <p:cNvSpPr>
            <a:spLocks noGrp="1"/>
          </p:cNvSpPr>
          <p:nvPr>
            <p:ph type="ftr" sz="quarter" idx="11"/>
          </p:nvPr>
        </p:nvSpPr>
        <p:spPr>
          <a:xfrm>
            <a:off x="-1094509" y="6564597"/>
            <a:ext cx="4114800" cy="365125"/>
          </a:xfrm>
        </p:spPr>
        <p:txBody>
          <a:bodyPr/>
          <a:lstStyle/>
          <a:p>
            <a:r>
              <a:rPr lang="en-US" dirty="0" smtClean="0"/>
              <a:t>©2016 Assessments 24X7</a:t>
            </a:r>
            <a:endParaRPr lang="en-US" dirty="0"/>
          </a:p>
        </p:txBody>
      </p:sp>
    </p:spTree>
    <p:extLst>
      <p:ext uri="{BB962C8B-B14F-4D97-AF65-F5344CB8AC3E}">
        <p14:creationId xmlns:p14="http://schemas.microsoft.com/office/powerpoint/2010/main" val="2340520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Hartman Value Profile</a:t>
            </a:r>
            <a:endParaRPr lang="en-US" dirty="0"/>
          </a:p>
        </p:txBody>
      </p:sp>
      <p:pic>
        <p:nvPicPr>
          <p:cNvPr id="4" name="Picture 3"/>
          <p:cNvPicPr/>
          <p:nvPr/>
        </p:nvPicPr>
        <p:blipFill rotWithShape="1">
          <a:blip r:embed="rId3"/>
          <a:srcRect l="11378" t="12097" r="71795" b="47833"/>
          <a:stretch/>
        </p:blipFill>
        <p:spPr bwMode="auto">
          <a:xfrm rot="10800000">
            <a:off x="0" y="4300008"/>
            <a:ext cx="4876800" cy="2421467"/>
          </a:xfrm>
          <a:prstGeom prst="rect">
            <a:avLst/>
          </a:prstGeom>
          <a:ln>
            <a:noFill/>
          </a:ln>
          <a:extLst>
            <a:ext uri="{53640926-AAD7-44D8-BBD7-CCE9431645EC}">
              <a14:shadowObscured xmlns:a14="http://schemas.microsoft.com/office/drawing/2010/main"/>
            </a:ext>
          </a:extLst>
        </p:spPr>
      </p:pic>
      <p:sp>
        <p:nvSpPr>
          <p:cNvPr id="6" name="Slide Number Placeholder 5"/>
          <p:cNvSpPr>
            <a:spLocks noGrp="1"/>
          </p:cNvSpPr>
          <p:nvPr>
            <p:ph type="sldNum" sz="quarter" idx="12"/>
          </p:nvPr>
        </p:nvSpPr>
        <p:spPr/>
        <p:txBody>
          <a:bodyPr/>
          <a:lstStyle/>
          <a:p>
            <a:fld id="{35D9512D-810D-489D-B4F3-0792CA04F52C}" type="slidenum">
              <a:rPr lang="en-US" smtClean="0"/>
              <a:t>2</a:t>
            </a:fld>
            <a:endParaRPr lang="en-US" dirty="0"/>
          </a:p>
        </p:txBody>
      </p:sp>
      <p:sp>
        <p:nvSpPr>
          <p:cNvPr id="7" name="Footer Placeholder 6"/>
          <p:cNvSpPr txBox="1">
            <a:spLocks/>
          </p:cNvSpPr>
          <p:nvPr/>
        </p:nvSpPr>
        <p:spPr>
          <a:xfrm>
            <a:off x="-1094509" y="6564597"/>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©2016 Assessments 24X7</a:t>
            </a:r>
            <a:endParaRPr lang="en-US" dirty="0"/>
          </a:p>
        </p:txBody>
      </p:sp>
      <p:sp>
        <p:nvSpPr>
          <p:cNvPr id="14" name="TextBox 13"/>
          <p:cNvSpPr txBox="1"/>
          <p:nvPr/>
        </p:nvSpPr>
        <p:spPr>
          <a:xfrm>
            <a:off x="838200" y="1827174"/>
            <a:ext cx="10159538" cy="954107"/>
          </a:xfrm>
          <a:prstGeom prst="rect">
            <a:avLst/>
          </a:prstGeom>
          <a:noFill/>
        </p:spPr>
        <p:txBody>
          <a:bodyPr wrap="square" rtlCol="0">
            <a:spAutoFit/>
          </a:bodyPr>
          <a:lstStyle/>
          <a:p>
            <a:pPr algn="ctr"/>
            <a:r>
              <a:rPr lang="en-US" sz="2800" b="1" dirty="0" smtClean="0">
                <a:cs typeface="Times New Roman" pitchFamily="18" charset="0"/>
              </a:rPr>
              <a:t>Critical </a:t>
            </a:r>
            <a:r>
              <a:rPr lang="en-US" sz="2800" b="1" dirty="0">
                <a:cs typeface="Times New Roman" pitchFamily="18" charset="0"/>
              </a:rPr>
              <a:t>Thinking drives </a:t>
            </a:r>
            <a:r>
              <a:rPr lang="en-US" sz="2800" b="1" dirty="0" smtClean="0">
                <a:cs typeface="Times New Roman" pitchFamily="18" charset="0"/>
              </a:rPr>
              <a:t>Decisions </a:t>
            </a:r>
            <a:r>
              <a:rPr lang="en-US" sz="2800" b="1" dirty="0">
                <a:cs typeface="Times New Roman" pitchFamily="18" charset="0"/>
              </a:rPr>
              <a:t>that Precede </a:t>
            </a:r>
            <a:r>
              <a:rPr lang="en-US" sz="2800" b="1" dirty="0" smtClean="0">
                <a:cs typeface="Times New Roman" pitchFamily="18" charset="0"/>
              </a:rPr>
              <a:t>Actions</a:t>
            </a:r>
            <a:br>
              <a:rPr lang="en-US" sz="2800" b="1" dirty="0" smtClean="0">
                <a:cs typeface="Times New Roman" pitchFamily="18" charset="0"/>
              </a:rPr>
            </a:br>
            <a:r>
              <a:rPr lang="en-US" sz="2800" b="1" dirty="0" smtClean="0">
                <a:cs typeface="Times New Roman" pitchFamily="18" charset="0"/>
              </a:rPr>
              <a:t> creating SUCCESS…or </a:t>
            </a:r>
            <a:r>
              <a:rPr lang="en-US" sz="2800" b="1" dirty="0">
                <a:cs typeface="Times New Roman" pitchFamily="18" charset="0"/>
              </a:rPr>
              <a:t>the Alternative</a:t>
            </a:r>
            <a:r>
              <a:rPr lang="en-US" sz="2800" b="1" dirty="0" smtClean="0">
                <a:cs typeface="Times New Roman" pitchFamily="18" charset="0"/>
              </a:rPr>
              <a:t>!</a:t>
            </a:r>
            <a:endParaRPr lang="en-US" sz="2800" b="1" dirty="0">
              <a:cs typeface="Times New Roman" pitchFamily="18" charset="0"/>
            </a:endParaRPr>
          </a:p>
        </p:txBody>
      </p:sp>
      <p:sp>
        <p:nvSpPr>
          <p:cNvPr id="9" name="TextBox 8"/>
          <p:cNvSpPr txBox="1"/>
          <p:nvPr/>
        </p:nvSpPr>
        <p:spPr>
          <a:xfrm>
            <a:off x="2164612" y="3439481"/>
            <a:ext cx="8458200" cy="1815882"/>
          </a:xfrm>
          <a:prstGeom prst="rect">
            <a:avLst/>
          </a:prstGeom>
          <a:noFill/>
        </p:spPr>
        <p:txBody>
          <a:bodyPr wrap="square" rtlCol="0">
            <a:spAutoFit/>
          </a:bodyPr>
          <a:lstStyle/>
          <a:p>
            <a:pPr marL="457200" indent="-457200">
              <a:buFont typeface="Arial" panose="020B0604020202020204" pitchFamily="34" charset="0"/>
              <a:buChar char="•"/>
            </a:pPr>
            <a:r>
              <a:rPr lang="en-US" sz="2800" dirty="0" smtClean="0">
                <a:solidFill>
                  <a:srgbClr val="002060"/>
                </a:solidFill>
                <a:cs typeface="Times New Roman" pitchFamily="18" charset="0"/>
              </a:rPr>
              <a:t>Reveals our decision-making pattern</a:t>
            </a:r>
          </a:p>
          <a:p>
            <a:pPr marL="457200" indent="-457200">
              <a:buFont typeface="Arial" panose="020B0604020202020204" pitchFamily="34" charset="0"/>
              <a:buChar char="•"/>
            </a:pPr>
            <a:r>
              <a:rPr lang="en-US" sz="2800" dirty="0" smtClean="0">
                <a:solidFill>
                  <a:srgbClr val="002060"/>
                </a:solidFill>
                <a:cs typeface="Times New Roman" pitchFamily="18" charset="0"/>
              </a:rPr>
              <a:t>Provides insight into the reasons behind our decisions</a:t>
            </a:r>
          </a:p>
          <a:p>
            <a:pPr marL="457200" indent="-457200">
              <a:buFont typeface="Arial" panose="020B0604020202020204" pitchFamily="34" charset="0"/>
              <a:buChar char="•"/>
            </a:pPr>
            <a:r>
              <a:rPr lang="en-US" sz="2800" dirty="0" smtClean="0">
                <a:solidFill>
                  <a:srgbClr val="002060"/>
                </a:solidFill>
                <a:cs typeface="Times New Roman" pitchFamily="18" charset="0"/>
              </a:rPr>
              <a:t>Identifies how we uniquely define “GOOD”</a:t>
            </a:r>
          </a:p>
          <a:p>
            <a:pPr algn="ctr"/>
            <a:endParaRPr lang="en-US" sz="2800" dirty="0" smtClean="0">
              <a:solidFill>
                <a:srgbClr val="002060"/>
              </a:solidFill>
              <a:cs typeface="Times New Roman" pitchFamily="18" charset="0"/>
            </a:endParaRPr>
          </a:p>
        </p:txBody>
      </p:sp>
    </p:spTree>
    <p:extLst>
      <p:ext uri="{BB962C8B-B14F-4D97-AF65-F5344CB8AC3E}">
        <p14:creationId xmlns:p14="http://schemas.microsoft.com/office/powerpoint/2010/main" val="3420606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1" nodeType="clickEffect">
                                  <p:stCondLst>
                                    <p:cond delay="0"/>
                                  </p:stCondLst>
                                  <p:childTnLst>
                                    <p:anim calcmode="lin" valueType="num">
                                      <p:cBhvr additive="base">
                                        <p:cTn id="12" dur="500"/>
                                        <p:tgtEl>
                                          <p:spTgt spid="14"/>
                                        </p:tgtEl>
                                        <p:attrNameLst>
                                          <p:attrName>ppt_x</p:attrName>
                                        </p:attrNameLst>
                                      </p:cBhvr>
                                      <p:tavLst>
                                        <p:tav tm="0">
                                          <p:val>
                                            <p:strVal val="ppt_x"/>
                                          </p:val>
                                        </p:tav>
                                        <p:tav tm="100000">
                                          <p:val>
                                            <p:strVal val="ppt_x"/>
                                          </p:val>
                                        </p:tav>
                                      </p:tavLst>
                                    </p:anim>
                                    <p:anim calcmode="lin" valueType="num">
                                      <p:cBhvr additive="base">
                                        <p:cTn id="13" dur="500"/>
                                        <p:tgtEl>
                                          <p:spTgt spid="14"/>
                                        </p:tgtEl>
                                        <p:attrNameLst>
                                          <p:attrName>ppt_y</p:attrName>
                                        </p:attrNameLst>
                                      </p:cBhvr>
                                      <p:tavLst>
                                        <p:tav tm="0">
                                          <p:val>
                                            <p:strVal val="ppt_y"/>
                                          </p:val>
                                        </p:tav>
                                        <p:tav tm="100000">
                                          <p:val>
                                            <p:strVal val="1+ppt_h/2"/>
                                          </p:val>
                                        </p:tav>
                                      </p:tavLst>
                                    </p:anim>
                                    <p:set>
                                      <p:cBhvr>
                                        <p:cTn id="14" dur="1" fill="hold">
                                          <p:stCondLst>
                                            <p:cond delay="499"/>
                                          </p:stCondLst>
                                        </p:cTn>
                                        <p:tgtEl>
                                          <p:spTgt spid="14"/>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HVP – </a:t>
            </a:r>
            <a:r>
              <a:rPr lang="en-US" dirty="0"/>
              <a:t>T</a:t>
            </a:r>
            <a:r>
              <a:rPr lang="en-US" dirty="0" smtClean="0"/>
              <a:t>he Process</a:t>
            </a:r>
            <a:endParaRPr lang="en-US" dirty="0"/>
          </a:p>
        </p:txBody>
      </p:sp>
      <p:pic>
        <p:nvPicPr>
          <p:cNvPr id="4" name="Picture 3"/>
          <p:cNvPicPr/>
          <p:nvPr/>
        </p:nvPicPr>
        <p:blipFill rotWithShape="1">
          <a:blip r:embed="rId3"/>
          <a:srcRect l="11378" t="12097" r="71795" b="47833"/>
          <a:stretch/>
        </p:blipFill>
        <p:spPr bwMode="auto">
          <a:xfrm rot="10800000">
            <a:off x="0" y="4300008"/>
            <a:ext cx="4876800" cy="2421467"/>
          </a:xfrm>
          <a:prstGeom prst="rect">
            <a:avLst/>
          </a:prstGeom>
          <a:ln>
            <a:noFill/>
          </a:ln>
          <a:extLst>
            <a:ext uri="{53640926-AAD7-44D8-BBD7-CCE9431645EC}">
              <a14:shadowObscured xmlns:a14="http://schemas.microsoft.com/office/drawing/2010/main"/>
            </a:ext>
          </a:extLst>
        </p:spPr>
      </p:pic>
      <p:sp>
        <p:nvSpPr>
          <p:cNvPr id="6" name="Slide Number Placeholder 5"/>
          <p:cNvSpPr>
            <a:spLocks noGrp="1"/>
          </p:cNvSpPr>
          <p:nvPr>
            <p:ph type="sldNum" sz="quarter" idx="12"/>
          </p:nvPr>
        </p:nvSpPr>
        <p:spPr/>
        <p:txBody>
          <a:bodyPr/>
          <a:lstStyle/>
          <a:p>
            <a:fld id="{35D9512D-810D-489D-B4F3-0792CA04F52C}" type="slidenum">
              <a:rPr lang="en-US" smtClean="0"/>
              <a:t>3</a:t>
            </a:fld>
            <a:endParaRPr lang="en-US" dirty="0"/>
          </a:p>
        </p:txBody>
      </p:sp>
      <p:sp>
        <p:nvSpPr>
          <p:cNvPr id="7" name="Footer Placeholder 6"/>
          <p:cNvSpPr txBox="1">
            <a:spLocks/>
          </p:cNvSpPr>
          <p:nvPr/>
        </p:nvSpPr>
        <p:spPr>
          <a:xfrm>
            <a:off x="-1094509" y="6564597"/>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©2016 Assessments 24X7</a:t>
            </a:r>
            <a:endParaRPr lang="en-US" dirty="0"/>
          </a:p>
        </p:txBody>
      </p:sp>
      <p:sp>
        <p:nvSpPr>
          <p:cNvPr id="3" name="Rectangle 2"/>
          <p:cNvSpPr/>
          <p:nvPr/>
        </p:nvSpPr>
        <p:spPr>
          <a:xfrm>
            <a:off x="1295400" y="1690688"/>
            <a:ext cx="10058400" cy="3323987"/>
          </a:xfrm>
          <a:prstGeom prst="rect">
            <a:avLst/>
          </a:prstGeom>
        </p:spPr>
        <p:txBody>
          <a:bodyPr wrap="square">
            <a:spAutoFit/>
          </a:bodyPr>
          <a:lstStyle/>
          <a:p>
            <a:pPr marL="514350" indent="-514350">
              <a:buAutoNum type="arabicPeriod"/>
            </a:pPr>
            <a:r>
              <a:rPr lang="en-US" sz="3000" dirty="0" smtClean="0">
                <a:solidFill>
                  <a:srgbClr val="002060"/>
                </a:solidFill>
                <a:cs typeface="Times New Roman" pitchFamily="18" charset="0"/>
              </a:rPr>
              <a:t>I’m faced with a problem, challenge or opportunity.</a:t>
            </a:r>
            <a:br>
              <a:rPr lang="en-US" sz="3000" dirty="0" smtClean="0">
                <a:solidFill>
                  <a:srgbClr val="002060"/>
                </a:solidFill>
                <a:cs typeface="Times New Roman" pitchFamily="18" charset="0"/>
              </a:rPr>
            </a:br>
            <a:endParaRPr lang="en-US" sz="3000" dirty="0" smtClean="0">
              <a:solidFill>
                <a:srgbClr val="002060"/>
              </a:solidFill>
              <a:cs typeface="Times New Roman" pitchFamily="18" charset="0"/>
            </a:endParaRPr>
          </a:p>
          <a:p>
            <a:pPr marL="514350" indent="-514350">
              <a:buAutoNum type="arabicPeriod"/>
            </a:pPr>
            <a:r>
              <a:rPr lang="en-US" sz="3000" dirty="0" smtClean="0">
                <a:solidFill>
                  <a:srgbClr val="002060"/>
                </a:solidFill>
                <a:cs typeface="Times New Roman" pitchFamily="18" charset="0"/>
              </a:rPr>
              <a:t>How do I…</a:t>
            </a:r>
          </a:p>
          <a:p>
            <a:pPr marL="914400" lvl="1" indent="-457200">
              <a:buFont typeface="Arial" panose="020B0604020202020204" pitchFamily="34" charset="0"/>
              <a:buChar char="•"/>
            </a:pPr>
            <a:r>
              <a:rPr lang="en-US" sz="3000" dirty="0" smtClean="0">
                <a:solidFill>
                  <a:srgbClr val="002060"/>
                </a:solidFill>
                <a:cs typeface="Times New Roman" pitchFamily="18" charset="0"/>
              </a:rPr>
              <a:t>Solve the problem?</a:t>
            </a:r>
          </a:p>
          <a:p>
            <a:pPr marL="914400" lvl="1" indent="-457200">
              <a:buFont typeface="Arial" panose="020B0604020202020204" pitchFamily="34" charset="0"/>
              <a:buChar char="•"/>
            </a:pPr>
            <a:r>
              <a:rPr lang="en-US" sz="3000" dirty="0" smtClean="0">
                <a:solidFill>
                  <a:srgbClr val="002060"/>
                </a:solidFill>
                <a:cs typeface="Times New Roman" pitchFamily="18" charset="0"/>
              </a:rPr>
              <a:t>Overcome the challenge?</a:t>
            </a:r>
          </a:p>
          <a:p>
            <a:pPr marL="914400" lvl="1" indent="-457200">
              <a:buFont typeface="Arial" panose="020B0604020202020204" pitchFamily="34" charset="0"/>
              <a:buChar char="•"/>
            </a:pPr>
            <a:r>
              <a:rPr lang="en-US" sz="3000" dirty="0" smtClean="0">
                <a:solidFill>
                  <a:srgbClr val="002060"/>
                </a:solidFill>
                <a:cs typeface="Times New Roman" pitchFamily="18" charset="0"/>
              </a:rPr>
              <a:t>Decide to take advantage of the opportunity to make things better?</a:t>
            </a:r>
            <a:endParaRPr lang="en-US" sz="3000" dirty="0">
              <a:solidFill>
                <a:srgbClr val="002060"/>
              </a:solidFill>
              <a:cs typeface="Times New Roman" pitchFamily="18" charset="0"/>
            </a:endParaRPr>
          </a:p>
        </p:txBody>
      </p:sp>
    </p:spTree>
    <p:extLst>
      <p:ext uri="{BB962C8B-B14F-4D97-AF65-F5344CB8AC3E}">
        <p14:creationId xmlns:p14="http://schemas.microsoft.com/office/powerpoint/2010/main" val="2506067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Determining a Good </a:t>
            </a:r>
            <a:r>
              <a:rPr lang="en-US" dirty="0" smtClean="0"/>
              <a:t>decision/solution</a:t>
            </a:r>
            <a:endParaRPr lang="en-US" dirty="0"/>
          </a:p>
        </p:txBody>
      </p:sp>
      <p:pic>
        <p:nvPicPr>
          <p:cNvPr id="4" name="Picture 3"/>
          <p:cNvPicPr/>
          <p:nvPr/>
        </p:nvPicPr>
        <p:blipFill rotWithShape="1">
          <a:blip r:embed="rId3"/>
          <a:srcRect l="11378" t="12097" r="71795" b="47833"/>
          <a:stretch/>
        </p:blipFill>
        <p:spPr bwMode="auto">
          <a:xfrm rot="10800000">
            <a:off x="0" y="4300008"/>
            <a:ext cx="4876800" cy="2421467"/>
          </a:xfrm>
          <a:prstGeom prst="rect">
            <a:avLst/>
          </a:prstGeom>
          <a:ln>
            <a:noFill/>
          </a:ln>
          <a:extLst>
            <a:ext uri="{53640926-AAD7-44D8-BBD7-CCE9431645EC}">
              <a14:shadowObscured xmlns:a14="http://schemas.microsoft.com/office/drawing/2010/main"/>
            </a:ext>
          </a:extLst>
        </p:spPr>
      </p:pic>
      <p:sp>
        <p:nvSpPr>
          <p:cNvPr id="6" name="Slide Number Placeholder 5"/>
          <p:cNvSpPr>
            <a:spLocks noGrp="1"/>
          </p:cNvSpPr>
          <p:nvPr>
            <p:ph type="sldNum" sz="quarter" idx="12"/>
          </p:nvPr>
        </p:nvSpPr>
        <p:spPr/>
        <p:txBody>
          <a:bodyPr/>
          <a:lstStyle/>
          <a:p>
            <a:fld id="{35D9512D-810D-489D-B4F3-0792CA04F52C}" type="slidenum">
              <a:rPr lang="en-US" smtClean="0"/>
              <a:t>4</a:t>
            </a:fld>
            <a:endParaRPr lang="en-US" dirty="0"/>
          </a:p>
        </p:txBody>
      </p:sp>
      <p:sp>
        <p:nvSpPr>
          <p:cNvPr id="7" name="Footer Placeholder 6"/>
          <p:cNvSpPr txBox="1">
            <a:spLocks/>
          </p:cNvSpPr>
          <p:nvPr/>
        </p:nvSpPr>
        <p:spPr>
          <a:xfrm>
            <a:off x="-1094509" y="6564597"/>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©2016 Assessments 24X7</a:t>
            </a:r>
            <a:endParaRPr lang="en-US" dirty="0"/>
          </a:p>
        </p:txBody>
      </p:sp>
      <p:sp>
        <p:nvSpPr>
          <p:cNvPr id="8" name="TextBox 7"/>
          <p:cNvSpPr txBox="1"/>
          <p:nvPr/>
        </p:nvSpPr>
        <p:spPr>
          <a:xfrm>
            <a:off x="834970" y="2286928"/>
            <a:ext cx="3206858" cy="800219"/>
          </a:xfrm>
          <a:prstGeom prst="rect">
            <a:avLst/>
          </a:prstGeom>
          <a:noFill/>
        </p:spPr>
        <p:txBody>
          <a:bodyPr wrap="square" rtlCol="0">
            <a:spAutoFit/>
          </a:bodyPr>
          <a:lstStyle/>
          <a:p>
            <a:pPr algn="ctr"/>
            <a:r>
              <a:rPr lang="en-US" sz="2300" i="1" dirty="0" smtClean="0">
                <a:solidFill>
                  <a:srgbClr val="C00000"/>
                </a:solidFill>
                <a:cs typeface="Times New Roman" pitchFamily="18" charset="0"/>
              </a:rPr>
              <a:t>All 3 must be met for a decision to be GOOD</a:t>
            </a:r>
          </a:p>
        </p:txBody>
      </p:sp>
      <p:sp>
        <p:nvSpPr>
          <p:cNvPr id="9" name="TextBox 8"/>
          <p:cNvSpPr txBox="1"/>
          <p:nvPr/>
        </p:nvSpPr>
        <p:spPr>
          <a:xfrm>
            <a:off x="4489990" y="1614928"/>
            <a:ext cx="6861229" cy="95410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2800" dirty="0" smtClean="0">
                <a:solidFill>
                  <a:srgbClr val="C00000"/>
                </a:solidFill>
                <a:cs typeface="Times New Roman" pitchFamily="18" charset="0"/>
              </a:rPr>
              <a:t>Will this decision </a:t>
            </a:r>
            <a:r>
              <a:rPr lang="en-US" sz="2800" b="1" dirty="0" smtClean="0">
                <a:solidFill>
                  <a:srgbClr val="C00000"/>
                </a:solidFill>
                <a:cs typeface="Times New Roman" pitchFamily="18" charset="0"/>
              </a:rPr>
              <a:t>address the core issues </a:t>
            </a:r>
            <a:r>
              <a:rPr lang="en-US" sz="2800" dirty="0" smtClean="0">
                <a:solidFill>
                  <a:srgbClr val="C00000"/>
                </a:solidFill>
                <a:cs typeface="Times New Roman" pitchFamily="18" charset="0"/>
              </a:rPr>
              <a:t>or the problem, challenge or opportunity?</a:t>
            </a:r>
          </a:p>
        </p:txBody>
      </p:sp>
      <p:sp>
        <p:nvSpPr>
          <p:cNvPr id="10" name="TextBox 9"/>
          <p:cNvSpPr txBox="1"/>
          <p:nvPr/>
        </p:nvSpPr>
        <p:spPr>
          <a:xfrm>
            <a:off x="4492570" y="2951660"/>
            <a:ext cx="6861229" cy="138499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2800" dirty="0" smtClean="0">
                <a:solidFill>
                  <a:srgbClr val="C00000"/>
                </a:solidFill>
                <a:cs typeface="Times New Roman" pitchFamily="18" charset="0"/>
              </a:rPr>
              <a:t>Will this decision create a </a:t>
            </a:r>
            <a:r>
              <a:rPr lang="en-US" sz="2800" b="1" dirty="0" smtClean="0">
                <a:solidFill>
                  <a:srgbClr val="C00000"/>
                </a:solidFill>
                <a:cs typeface="Times New Roman" pitchFamily="18" charset="0"/>
              </a:rPr>
              <a:t>workable solution </a:t>
            </a:r>
            <a:r>
              <a:rPr lang="en-US" sz="2800" dirty="0" smtClean="0">
                <a:solidFill>
                  <a:srgbClr val="C00000"/>
                </a:solidFill>
                <a:cs typeface="Times New Roman" pitchFamily="18" charset="0"/>
              </a:rPr>
              <a:t>to the issue (within the expected parameters, timeframe)?</a:t>
            </a:r>
          </a:p>
        </p:txBody>
      </p:sp>
      <p:sp>
        <p:nvSpPr>
          <p:cNvPr id="11" name="TextBox 10"/>
          <p:cNvSpPr txBox="1"/>
          <p:nvPr/>
        </p:nvSpPr>
        <p:spPr>
          <a:xfrm>
            <a:off x="4489990" y="4719445"/>
            <a:ext cx="6861229" cy="181588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2800" dirty="0" smtClean="0">
                <a:solidFill>
                  <a:srgbClr val="C00000"/>
                </a:solidFill>
                <a:cs typeface="Times New Roman" pitchFamily="18" charset="0"/>
              </a:rPr>
              <a:t>Can I implement the solution </a:t>
            </a:r>
            <a:r>
              <a:rPr lang="en-US" sz="2800" b="1" dirty="0" smtClean="0">
                <a:solidFill>
                  <a:srgbClr val="C00000"/>
                </a:solidFill>
                <a:cs typeface="Times New Roman" pitchFamily="18" charset="0"/>
              </a:rPr>
              <a:t>within the constraints and confines </a:t>
            </a:r>
            <a:r>
              <a:rPr lang="en-US" sz="2800" dirty="0" smtClean="0">
                <a:solidFill>
                  <a:srgbClr val="C00000"/>
                </a:solidFill>
                <a:cs typeface="Times New Roman" pitchFamily="18" charset="0"/>
              </a:rPr>
              <a:t>of the guidelines expected to be followed and with the resources available?</a:t>
            </a:r>
          </a:p>
        </p:txBody>
      </p:sp>
      <p:sp>
        <p:nvSpPr>
          <p:cNvPr id="12" name="TextBox 11"/>
          <p:cNvSpPr txBox="1"/>
          <p:nvPr/>
        </p:nvSpPr>
        <p:spPr>
          <a:xfrm>
            <a:off x="987370" y="1654576"/>
            <a:ext cx="3206858" cy="769441"/>
          </a:xfrm>
          <a:prstGeom prst="rect">
            <a:avLst/>
          </a:prstGeom>
          <a:noFill/>
        </p:spPr>
        <p:txBody>
          <a:bodyPr wrap="square" rtlCol="0">
            <a:spAutoFit/>
          </a:bodyPr>
          <a:lstStyle/>
          <a:p>
            <a:pPr marL="514350" indent="-514350">
              <a:buAutoNum type="arabicPeriod"/>
            </a:pPr>
            <a:r>
              <a:rPr lang="en-US" sz="4400" b="1" dirty="0" smtClean="0">
                <a:solidFill>
                  <a:srgbClr val="C00000"/>
                </a:solidFill>
                <a:cs typeface="Times New Roman" pitchFamily="18" charset="0"/>
              </a:rPr>
              <a:t> Identify</a:t>
            </a:r>
          </a:p>
        </p:txBody>
      </p:sp>
    </p:spTree>
    <p:extLst>
      <p:ext uri="{BB962C8B-B14F-4D97-AF65-F5344CB8AC3E}">
        <p14:creationId xmlns:p14="http://schemas.microsoft.com/office/powerpoint/2010/main" val="791648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animBg="1"/>
      <p:bldP spid="11" grpId="0" animBg="1"/>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Determining a Good </a:t>
            </a:r>
            <a:r>
              <a:rPr lang="en-US" dirty="0" smtClean="0"/>
              <a:t>decision/solution</a:t>
            </a:r>
            <a:endParaRPr lang="en-US" dirty="0"/>
          </a:p>
        </p:txBody>
      </p:sp>
      <p:pic>
        <p:nvPicPr>
          <p:cNvPr id="4" name="Picture 3"/>
          <p:cNvPicPr/>
          <p:nvPr/>
        </p:nvPicPr>
        <p:blipFill rotWithShape="1">
          <a:blip r:embed="rId3"/>
          <a:srcRect l="11378" t="12097" r="71795" b="47833"/>
          <a:stretch/>
        </p:blipFill>
        <p:spPr bwMode="auto">
          <a:xfrm rot="10800000">
            <a:off x="0" y="4300008"/>
            <a:ext cx="4876800" cy="2421467"/>
          </a:xfrm>
          <a:prstGeom prst="rect">
            <a:avLst/>
          </a:prstGeom>
          <a:ln>
            <a:noFill/>
          </a:ln>
          <a:extLst>
            <a:ext uri="{53640926-AAD7-44D8-BBD7-CCE9431645EC}">
              <a14:shadowObscured xmlns:a14="http://schemas.microsoft.com/office/drawing/2010/main"/>
            </a:ext>
          </a:extLst>
        </p:spPr>
      </p:pic>
      <p:sp>
        <p:nvSpPr>
          <p:cNvPr id="6" name="Slide Number Placeholder 5"/>
          <p:cNvSpPr>
            <a:spLocks noGrp="1"/>
          </p:cNvSpPr>
          <p:nvPr>
            <p:ph type="sldNum" sz="quarter" idx="12"/>
          </p:nvPr>
        </p:nvSpPr>
        <p:spPr/>
        <p:txBody>
          <a:bodyPr/>
          <a:lstStyle/>
          <a:p>
            <a:fld id="{35D9512D-810D-489D-B4F3-0792CA04F52C}" type="slidenum">
              <a:rPr lang="en-US" smtClean="0"/>
              <a:t>5</a:t>
            </a:fld>
            <a:endParaRPr lang="en-US" dirty="0"/>
          </a:p>
        </p:txBody>
      </p:sp>
      <p:sp>
        <p:nvSpPr>
          <p:cNvPr id="7" name="Footer Placeholder 6"/>
          <p:cNvSpPr txBox="1">
            <a:spLocks/>
          </p:cNvSpPr>
          <p:nvPr/>
        </p:nvSpPr>
        <p:spPr>
          <a:xfrm>
            <a:off x="-1094509" y="6564597"/>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©2016 Assessments 24X7</a:t>
            </a:r>
            <a:endParaRPr lang="en-US" dirty="0"/>
          </a:p>
        </p:txBody>
      </p:sp>
      <p:sp>
        <p:nvSpPr>
          <p:cNvPr id="9" name="TextBox 8"/>
          <p:cNvSpPr txBox="1"/>
          <p:nvPr/>
        </p:nvSpPr>
        <p:spPr>
          <a:xfrm>
            <a:off x="4489990" y="1614928"/>
            <a:ext cx="6861229" cy="138499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2800" b="1" dirty="0" smtClean="0">
                <a:solidFill>
                  <a:srgbClr val="C00000"/>
                </a:solidFill>
                <a:cs typeface="Times New Roman" pitchFamily="18" charset="0"/>
              </a:rPr>
              <a:t>Clarity/Understanding:</a:t>
            </a:r>
          </a:p>
          <a:p>
            <a:r>
              <a:rPr lang="en-US" sz="2800" dirty="0" smtClean="0">
                <a:solidFill>
                  <a:srgbClr val="C00000"/>
                </a:solidFill>
                <a:cs typeface="Times New Roman" pitchFamily="18" charset="0"/>
              </a:rPr>
              <a:t>How clearly do you know how this decision or solution impacts this area? </a:t>
            </a:r>
          </a:p>
        </p:txBody>
      </p:sp>
      <p:sp>
        <p:nvSpPr>
          <p:cNvPr id="10" name="TextBox 9"/>
          <p:cNvSpPr txBox="1"/>
          <p:nvPr/>
        </p:nvSpPr>
        <p:spPr>
          <a:xfrm>
            <a:off x="4489990" y="3761909"/>
            <a:ext cx="6861229" cy="138499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2800" b="1" dirty="0" smtClean="0">
                <a:solidFill>
                  <a:srgbClr val="C00000"/>
                </a:solidFill>
                <a:cs typeface="Times New Roman" pitchFamily="18" charset="0"/>
              </a:rPr>
              <a:t>Attention/Bias: </a:t>
            </a:r>
            <a:br>
              <a:rPr lang="en-US" sz="2800" b="1" dirty="0" smtClean="0">
                <a:solidFill>
                  <a:srgbClr val="C00000"/>
                </a:solidFill>
                <a:cs typeface="Times New Roman" pitchFamily="18" charset="0"/>
              </a:rPr>
            </a:br>
            <a:r>
              <a:rPr lang="en-US" sz="2800" dirty="0" smtClean="0">
                <a:solidFill>
                  <a:srgbClr val="C00000"/>
                </a:solidFill>
                <a:cs typeface="Times New Roman" pitchFamily="18" charset="0"/>
              </a:rPr>
              <a:t>How much importance or attentiveness do you place on this area?</a:t>
            </a:r>
            <a:endParaRPr lang="en-US" sz="2800" b="1" dirty="0" smtClean="0">
              <a:solidFill>
                <a:srgbClr val="C00000"/>
              </a:solidFill>
              <a:cs typeface="Times New Roman" pitchFamily="18" charset="0"/>
            </a:endParaRPr>
          </a:p>
        </p:txBody>
      </p:sp>
      <p:sp>
        <p:nvSpPr>
          <p:cNvPr id="12" name="TextBox 11"/>
          <p:cNvSpPr txBox="1"/>
          <p:nvPr/>
        </p:nvSpPr>
        <p:spPr>
          <a:xfrm>
            <a:off x="987370" y="1654576"/>
            <a:ext cx="3206858" cy="769441"/>
          </a:xfrm>
          <a:prstGeom prst="rect">
            <a:avLst/>
          </a:prstGeom>
          <a:noFill/>
        </p:spPr>
        <p:txBody>
          <a:bodyPr wrap="square" rtlCol="0">
            <a:spAutoFit/>
          </a:bodyPr>
          <a:lstStyle/>
          <a:p>
            <a:r>
              <a:rPr lang="en-US" sz="4400" b="1" dirty="0" smtClean="0">
                <a:solidFill>
                  <a:srgbClr val="C00000"/>
                </a:solidFill>
                <a:cs typeface="Times New Roman" pitchFamily="18" charset="0"/>
              </a:rPr>
              <a:t>2. Measure</a:t>
            </a:r>
          </a:p>
        </p:txBody>
      </p:sp>
      <p:sp>
        <p:nvSpPr>
          <p:cNvPr id="13" name="TextBox 12"/>
          <p:cNvSpPr txBox="1"/>
          <p:nvPr/>
        </p:nvSpPr>
        <p:spPr>
          <a:xfrm>
            <a:off x="834970" y="2286928"/>
            <a:ext cx="3206858" cy="446276"/>
          </a:xfrm>
          <a:prstGeom prst="rect">
            <a:avLst/>
          </a:prstGeom>
          <a:noFill/>
        </p:spPr>
        <p:txBody>
          <a:bodyPr wrap="square" rtlCol="0">
            <a:spAutoFit/>
          </a:bodyPr>
          <a:lstStyle/>
          <a:p>
            <a:pPr algn="ctr"/>
            <a:r>
              <a:rPr lang="en-US" sz="2300" i="1" dirty="0" smtClean="0">
                <a:solidFill>
                  <a:srgbClr val="C00000"/>
                </a:solidFill>
                <a:cs typeface="Times New Roman" pitchFamily="18" charset="0"/>
              </a:rPr>
              <a:t>As you build a solution</a:t>
            </a:r>
          </a:p>
        </p:txBody>
      </p:sp>
    </p:spTree>
    <p:extLst>
      <p:ext uri="{BB962C8B-B14F-4D97-AF65-F5344CB8AC3E}">
        <p14:creationId xmlns:p14="http://schemas.microsoft.com/office/powerpoint/2010/main" val="2229776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Determining a Good </a:t>
            </a:r>
            <a:r>
              <a:rPr lang="en-US" dirty="0" smtClean="0"/>
              <a:t>decision/solution</a:t>
            </a:r>
            <a:endParaRPr lang="en-US" dirty="0"/>
          </a:p>
        </p:txBody>
      </p:sp>
      <p:pic>
        <p:nvPicPr>
          <p:cNvPr id="4" name="Picture 3"/>
          <p:cNvPicPr/>
          <p:nvPr/>
        </p:nvPicPr>
        <p:blipFill rotWithShape="1">
          <a:blip r:embed="rId3"/>
          <a:srcRect l="11378" t="12097" r="71795" b="47833"/>
          <a:stretch/>
        </p:blipFill>
        <p:spPr bwMode="auto">
          <a:xfrm rot="10800000">
            <a:off x="0" y="4300008"/>
            <a:ext cx="4876800" cy="2421467"/>
          </a:xfrm>
          <a:prstGeom prst="rect">
            <a:avLst/>
          </a:prstGeom>
          <a:ln>
            <a:noFill/>
          </a:ln>
          <a:extLst>
            <a:ext uri="{53640926-AAD7-44D8-BBD7-CCE9431645EC}">
              <a14:shadowObscured xmlns:a14="http://schemas.microsoft.com/office/drawing/2010/main"/>
            </a:ext>
          </a:extLst>
        </p:spPr>
      </p:pic>
      <p:sp>
        <p:nvSpPr>
          <p:cNvPr id="6" name="Slide Number Placeholder 5"/>
          <p:cNvSpPr>
            <a:spLocks noGrp="1"/>
          </p:cNvSpPr>
          <p:nvPr>
            <p:ph type="sldNum" sz="quarter" idx="12"/>
          </p:nvPr>
        </p:nvSpPr>
        <p:spPr/>
        <p:txBody>
          <a:bodyPr/>
          <a:lstStyle/>
          <a:p>
            <a:fld id="{35D9512D-810D-489D-B4F3-0792CA04F52C}" type="slidenum">
              <a:rPr lang="en-US" smtClean="0"/>
              <a:t>6</a:t>
            </a:fld>
            <a:endParaRPr lang="en-US" dirty="0"/>
          </a:p>
        </p:txBody>
      </p:sp>
      <p:sp>
        <p:nvSpPr>
          <p:cNvPr id="7" name="Footer Placeholder 6"/>
          <p:cNvSpPr txBox="1">
            <a:spLocks/>
          </p:cNvSpPr>
          <p:nvPr/>
        </p:nvSpPr>
        <p:spPr>
          <a:xfrm>
            <a:off x="-1094509" y="6564597"/>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©2016 Assessments 24X7</a:t>
            </a:r>
            <a:endParaRPr lang="en-US" dirty="0"/>
          </a:p>
        </p:txBody>
      </p:sp>
      <p:sp>
        <p:nvSpPr>
          <p:cNvPr id="9" name="TextBox 8"/>
          <p:cNvSpPr txBox="1"/>
          <p:nvPr/>
        </p:nvSpPr>
        <p:spPr>
          <a:xfrm>
            <a:off x="4489990" y="1614928"/>
            <a:ext cx="6861229" cy="224676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2800" b="1" dirty="0" smtClean="0">
                <a:solidFill>
                  <a:srgbClr val="C00000"/>
                </a:solidFill>
                <a:cs typeface="Times New Roman" pitchFamily="18" charset="0"/>
              </a:rPr>
              <a:t>A Workable Solution</a:t>
            </a:r>
            <a:r>
              <a:rPr lang="en-US" sz="2800" b="1" dirty="0" smtClean="0">
                <a:solidFill>
                  <a:srgbClr val="C00000"/>
                </a:solidFill>
                <a:cs typeface="Times New Roman" pitchFamily="18" charset="0"/>
              </a:rPr>
              <a:t>:</a:t>
            </a:r>
            <a:endParaRPr lang="en-US" sz="2800" b="1" dirty="0" smtClean="0">
              <a:solidFill>
                <a:srgbClr val="C00000"/>
              </a:solidFill>
              <a:cs typeface="Times New Roman" pitchFamily="18" charset="0"/>
            </a:endParaRPr>
          </a:p>
          <a:p>
            <a:r>
              <a:rPr lang="en-US" sz="2800" dirty="0" smtClean="0">
                <a:solidFill>
                  <a:srgbClr val="C00000"/>
                </a:solidFill>
                <a:cs typeface="Times New Roman" pitchFamily="18" charset="0"/>
              </a:rPr>
              <a:t>Is the solution workable and feasible (time, resources, etc.) to implement and will it resolve the problem, challenge or opportunity? </a:t>
            </a:r>
            <a:endParaRPr lang="en-US" sz="2800" dirty="0" smtClean="0">
              <a:solidFill>
                <a:srgbClr val="C00000"/>
              </a:solidFill>
              <a:cs typeface="Times New Roman" pitchFamily="18" charset="0"/>
            </a:endParaRPr>
          </a:p>
        </p:txBody>
      </p:sp>
      <p:sp>
        <p:nvSpPr>
          <p:cNvPr id="10" name="TextBox 9"/>
          <p:cNvSpPr txBox="1"/>
          <p:nvPr/>
        </p:nvSpPr>
        <p:spPr>
          <a:xfrm>
            <a:off x="4489990" y="4252472"/>
            <a:ext cx="6861229" cy="181588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2800" b="1" dirty="0" smtClean="0">
                <a:solidFill>
                  <a:srgbClr val="C00000"/>
                </a:solidFill>
                <a:cs typeface="Times New Roman" pitchFamily="18" charset="0"/>
              </a:rPr>
              <a:t>Fulfill Expectations: </a:t>
            </a:r>
            <a:r>
              <a:rPr lang="en-US" sz="2800" b="1" dirty="0" smtClean="0">
                <a:solidFill>
                  <a:srgbClr val="C00000"/>
                </a:solidFill>
                <a:cs typeface="Times New Roman" pitchFamily="18" charset="0"/>
              </a:rPr>
              <a:t/>
            </a:r>
            <a:br>
              <a:rPr lang="en-US" sz="2800" b="1" dirty="0" smtClean="0">
                <a:solidFill>
                  <a:srgbClr val="C00000"/>
                </a:solidFill>
                <a:cs typeface="Times New Roman" pitchFamily="18" charset="0"/>
              </a:rPr>
            </a:br>
            <a:r>
              <a:rPr lang="en-US" sz="2800" dirty="0" smtClean="0">
                <a:solidFill>
                  <a:srgbClr val="C00000"/>
                </a:solidFill>
                <a:cs typeface="Times New Roman" pitchFamily="18" charset="0"/>
              </a:rPr>
              <a:t>D</a:t>
            </a:r>
            <a:r>
              <a:rPr lang="en-US" sz="2800" dirty="0" smtClean="0">
                <a:solidFill>
                  <a:srgbClr val="C00000"/>
                </a:solidFill>
                <a:cs typeface="Times New Roman" pitchFamily="18" charset="0"/>
              </a:rPr>
              <a:t>oes </a:t>
            </a:r>
            <a:r>
              <a:rPr lang="en-US" sz="2800" dirty="0">
                <a:solidFill>
                  <a:srgbClr val="C00000"/>
                </a:solidFill>
                <a:cs typeface="Times New Roman" pitchFamily="18" charset="0"/>
              </a:rPr>
              <a:t>it meet the expectations regarding people, tasks (results) and systems (rules)?</a:t>
            </a:r>
          </a:p>
          <a:p>
            <a:endParaRPr lang="en-US" sz="2800" b="1" dirty="0" smtClean="0">
              <a:solidFill>
                <a:srgbClr val="C00000"/>
              </a:solidFill>
              <a:cs typeface="Times New Roman" pitchFamily="18" charset="0"/>
            </a:endParaRPr>
          </a:p>
        </p:txBody>
      </p:sp>
      <p:sp>
        <p:nvSpPr>
          <p:cNvPr id="12" name="TextBox 11"/>
          <p:cNvSpPr txBox="1"/>
          <p:nvPr/>
        </p:nvSpPr>
        <p:spPr>
          <a:xfrm>
            <a:off x="987370" y="1654576"/>
            <a:ext cx="3206858" cy="769441"/>
          </a:xfrm>
          <a:prstGeom prst="rect">
            <a:avLst/>
          </a:prstGeom>
          <a:noFill/>
        </p:spPr>
        <p:txBody>
          <a:bodyPr wrap="square" rtlCol="0">
            <a:spAutoFit/>
          </a:bodyPr>
          <a:lstStyle/>
          <a:p>
            <a:r>
              <a:rPr lang="en-US" sz="4400" b="1" dirty="0" smtClean="0">
                <a:solidFill>
                  <a:srgbClr val="C00000"/>
                </a:solidFill>
                <a:cs typeface="Times New Roman" pitchFamily="18" charset="0"/>
              </a:rPr>
              <a:t>3. Compare</a:t>
            </a:r>
            <a:endParaRPr lang="en-US" sz="4400" b="1" dirty="0" smtClean="0">
              <a:solidFill>
                <a:srgbClr val="C00000"/>
              </a:solidFill>
              <a:cs typeface="Times New Roman" pitchFamily="18" charset="0"/>
            </a:endParaRPr>
          </a:p>
        </p:txBody>
      </p:sp>
      <p:sp>
        <p:nvSpPr>
          <p:cNvPr id="13" name="TextBox 12"/>
          <p:cNvSpPr txBox="1"/>
          <p:nvPr/>
        </p:nvSpPr>
        <p:spPr>
          <a:xfrm>
            <a:off x="555462" y="2280022"/>
            <a:ext cx="3786647" cy="446276"/>
          </a:xfrm>
          <a:prstGeom prst="rect">
            <a:avLst/>
          </a:prstGeom>
          <a:noFill/>
        </p:spPr>
        <p:txBody>
          <a:bodyPr wrap="square" rtlCol="0">
            <a:spAutoFit/>
          </a:bodyPr>
          <a:lstStyle/>
          <a:p>
            <a:pPr algn="ctr"/>
            <a:r>
              <a:rPr lang="en-US" sz="2300" i="1" dirty="0" smtClean="0">
                <a:solidFill>
                  <a:srgbClr val="C00000"/>
                </a:solidFill>
                <a:cs typeface="Times New Roman" pitchFamily="18" charset="0"/>
              </a:rPr>
              <a:t>The solution &amp; expectations</a:t>
            </a:r>
            <a:endParaRPr lang="en-US" sz="2300" i="1" dirty="0" smtClean="0">
              <a:solidFill>
                <a:srgbClr val="C00000"/>
              </a:solidFill>
              <a:cs typeface="Times New Roman" pitchFamily="18" charset="0"/>
            </a:endParaRPr>
          </a:p>
        </p:txBody>
      </p:sp>
    </p:spTree>
    <p:extLst>
      <p:ext uri="{BB962C8B-B14F-4D97-AF65-F5344CB8AC3E}">
        <p14:creationId xmlns:p14="http://schemas.microsoft.com/office/powerpoint/2010/main" val="3182909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rotWithShape="1">
          <a:blip r:embed="rId3"/>
          <a:srcRect l="11378" t="12097" r="71795" b="47833"/>
          <a:stretch/>
        </p:blipFill>
        <p:spPr bwMode="auto">
          <a:xfrm rot="10800000">
            <a:off x="0" y="4300008"/>
            <a:ext cx="4876800" cy="2421467"/>
          </a:xfrm>
          <a:prstGeom prst="rect">
            <a:avLst/>
          </a:prstGeom>
          <a:ln>
            <a:noFill/>
          </a:ln>
          <a:extLst>
            <a:ext uri="{53640926-AAD7-44D8-BBD7-CCE9431645EC}">
              <a14:shadowObscured xmlns:a14="http://schemas.microsoft.com/office/drawing/2010/main"/>
            </a:ext>
          </a:extLst>
        </p:spPr>
      </p:pic>
      <p:sp>
        <p:nvSpPr>
          <p:cNvPr id="2" name="Title 1"/>
          <p:cNvSpPr>
            <a:spLocks noGrp="1"/>
          </p:cNvSpPr>
          <p:nvPr>
            <p:ph type="title"/>
          </p:nvPr>
        </p:nvSpPr>
        <p:spPr/>
        <p:txBody>
          <a:bodyPr/>
          <a:lstStyle/>
          <a:p>
            <a:r>
              <a:rPr lang="en-US" dirty="0" smtClean="0"/>
              <a:t>Assessing Risks</a:t>
            </a:r>
            <a:endParaRPr lang="en-US" dirty="0"/>
          </a:p>
        </p:txBody>
      </p:sp>
      <p:sp>
        <p:nvSpPr>
          <p:cNvPr id="5" name="Content Placeholder 4"/>
          <p:cNvSpPr>
            <a:spLocks noGrp="1"/>
          </p:cNvSpPr>
          <p:nvPr>
            <p:ph sz="half" idx="1"/>
          </p:nvPr>
        </p:nvSpPr>
        <p:spPr>
          <a:xfrm>
            <a:off x="838200" y="1825625"/>
            <a:ext cx="5181600" cy="3639510"/>
          </a:xfrm>
        </p:spPr>
        <p:txBody>
          <a:bodyPr>
            <a:normAutofit lnSpcReduction="10000"/>
          </a:bodyPr>
          <a:lstStyle/>
          <a:p>
            <a:r>
              <a:rPr lang="en-US" sz="3000" b="1" dirty="0" smtClean="0"/>
              <a:t>Low Risk</a:t>
            </a:r>
            <a:r>
              <a:rPr lang="en-US" dirty="0" smtClean="0"/>
              <a:t/>
            </a:r>
            <a:br>
              <a:rPr lang="en-US" dirty="0" smtClean="0"/>
            </a:br>
            <a:endParaRPr lang="en-US" dirty="0" smtClean="0"/>
          </a:p>
          <a:p>
            <a:pPr lvl="1"/>
            <a:r>
              <a:rPr lang="en-US" dirty="0" smtClean="0"/>
              <a:t>Identifies and understands the problem, challenge or opportunity</a:t>
            </a:r>
            <a:br>
              <a:rPr lang="en-US" dirty="0" smtClean="0"/>
            </a:br>
            <a:endParaRPr lang="en-US" dirty="0" smtClean="0"/>
          </a:p>
          <a:p>
            <a:pPr lvl="1"/>
            <a:r>
              <a:rPr lang="en-US" dirty="0" smtClean="0"/>
              <a:t>Great clarity and attention</a:t>
            </a:r>
            <a:br>
              <a:rPr lang="en-US" dirty="0" smtClean="0"/>
            </a:br>
            <a:endParaRPr lang="en-US" dirty="0" smtClean="0"/>
          </a:p>
          <a:p>
            <a:pPr lvl="1"/>
            <a:r>
              <a:rPr lang="en-US" dirty="0" smtClean="0"/>
              <a:t>Identifies Workable solutions within the expectations</a:t>
            </a:r>
            <a:endParaRPr lang="en-US" dirty="0"/>
          </a:p>
        </p:txBody>
      </p:sp>
      <p:sp>
        <p:nvSpPr>
          <p:cNvPr id="8" name="Content Placeholder 7"/>
          <p:cNvSpPr>
            <a:spLocks noGrp="1"/>
          </p:cNvSpPr>
          <p:nvPr>
            <p:ph sz="half" idx="2"/>
          </p:nvPr>
        </p:nvSpPr>
        <p:spPr>
          <a:xfrm>
            <a:off x="6172200" y="1825625"/>
            <a:ext cx="5181600" cy="3639510"/>
          </a:xfrm>
        </p:spPr>
        <p:txBody>
          <a:bodyPr>
            <a:normAutofit lnSpcReduction="10000"/>
          </a:bodyPr>
          <a:lstStyle/>
          <a:p>
            <a:r>
              <a:rPr lang="en-US" sz="3000" b="1" dirty="0"/>
              <a:t>High </a:t>
            </a:r>
            <a:r>
              <a:rPr lang="en-US" sz="3000" b="1" dirty="0" smtClean="0"/>
              <a:t>Risk</a:t>
            </a:r>
            <a:r>
              <a:rPr lang="en-US" dirty="0" smtClean="0"/>
              <a:t/>
            </a:r>
            <a:br>
              <a:rPr lang="en-US" dirty="0" smtClean="0"/>
            </a:br>
            <a:endParaRPr lang="en-US" dirty="0"/>
          </a:p>
          <a:p>
            <a:pPr lvl="1"/>
            <a:r>
              <a:rPr lang="en-US" dirty="0" smtClean="0"/>
              <a:t>Struggles to identify or understand </a:t>
            </a:r>
            <a:r>
              <a:rPr lang="en-US" dirty="0"/>
              <a:t>the problem, challenge or opportunity</a:t>
            </a:r>
            <a:br>
              <a:rPr lang="en-US" dirty="0"/>
            </a:br>
            <a:endParaRPr lang="en-US" dirty="0"/>
          </a:p>
          <a:p>
            <a:pPr lvl="1"/>
            <a:r>
              <a:rPr lang="en-US" dirty="0" smtClean="0"/>
              <a:t>Lack of clarity or strong bias</a:t>
            </a:r>
            <a:r>
              <a:rPr lang="en-US" dirty="0"/>
              <a:t/>
            </a:r>
            <a:br>
              <a:rPr lang="en-US" dirty="0"/>
            </a:br>
            <a:endParaRPr lang="en-US" dirty="0"/>
          </a:p>
          <a:p>
            <a:pPr lvl="1"/>
            <a:r>
              <a:rPr lang="en-US" dirty="0"/>
              <a:t>Identifies </a:t>
            </a:r>
            <a:r>
              <a:rPr lang="en-US" dirty="0" smtClean="0"/>
              <a:t>solutions that are not workable or not within </a:t>
            </a:r>
            <a:r>
              <a:rPr lang="en-US" dirty="0"/>
              <a:t>the expectations</a:t>
            </a:r>
          </a:p>
          <a:p>
            <a:endParaRPr lang="en-US" dirty="0"/>
          </a:p>
        </p:txBody>
      </p:sp>
      <p:sp>
        <p:nvSpPr>
          <p:cNvPr id="6" name="Slide Number Placeholder 5"/>
          <p:cNvSpPr>
            <a:spLocks noGrp="1"/>
          </p:cNvSpPr>
          <p:nvPr>
            <p:ph type="sldNum" sz="quarter" idx="12"/>
          </p:nvPr>
        </p:nvSpPr>
        <p:spPr/>
        <p:txBody>
          <a:bodyPr/>
          <a:lstStyle/>
          <a:p>
            <a:fld id="{35D9512D-810D-489D-B4F3-0792CA04F52C}" type="slidenum">
              <a:rPr lang="en-US" smtClean="0"/>
              <a:t>7</a:t>
            </a:fld>
            <a:endParaRPr lang="en-US" dirty="0"/>
          </a:p>
        </p:txBody>
      </p:sp>
      <p:sp>
        <p:nvSpPr>
          <p:cNvPr id="7" name="Footer Placeholder 6"/>
          <p:cNvSpPr txBox="1">
            <a:spLocks/>
          </p:cNvSpPr>
          <p:nvPr/>
        </p:nvSpPr>
        <p:spPr>
          <a:xfrm>
            <a:off x="-1094509" y="6564597"/>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©2016 Assessments 24X7</a:t>
            </a:r>
            <a:endParaRPr lang="en-US" dirty="0"/>
          </a:p>
        </p:txBody>
      </p:sp>
    </p:spTree>
    <p:extLst>
      <p:ext uri="{BB962C8B-B14F-4D97-AF65-F5344CB8AC3E}">
        <p14:creationId xmlns:p14="http://schemas.microsoft.com/office/powerpoint/2010/main" val="79014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t>
            </a:r>
            <a:r>
              <a:rPr lang="en-US" dirty="0" smtClean="0"/>
              <a:t>he Process: Review</a:t>
            </a:r>
            <a:endParaRPr lang="en-US" dirty="0"/>
          </a:p>
        </p:txBody>
      </p:sp>
      <p:pic>
        <p:nvPicPr>
          <p:cNvPr id="4" name="Picture 3"/>
          <p:cNvPicPr/>
          <p:nvPr/>
        </p:nvPicPr>
        <p:blipFill rotWithShape="1">
          <a:blip r:embed="rId3"/>
          <a:srcRect l="11378" t="12097" r="71795" b="47833"/>
          <a:stretch/>
        </p:blipFill>
        <p:spPr bwMode="auto">
          <a:xfrm rot="10800000">
            <a:off x="0" y="4300008"/>
            <a:ext cx="4876800" cy="2421467"/>
          </a:xfrm>
          <a:prstGeom prst="rect">
            <a:avLst/>
          </a:prstGeom>
          <a:ln>
            <a:noFill/>
          </a:ln>
          <a:extLst>
            <a:ext uri="{53640926-AAD7-44D8-BBD7-CCE9431645EC}">
              <a14:shadowObscured xmlns:a14="http://schemas.microsoft.com/office/drawing/2010/main"/>
            </a:ext>
          </a:extLst>
        </p:spPr>
      </p:pic>
      <p:sp>
        <p:nvSpPr>
          <p:cNvPr id="6" name="Slide Number Placeholder 5"/>
          <p:cNvSpPr>
            <a:spLocks noGrp="1"/>
          </p:cNvSpPr>
          <p:nvPr>
            <p:ph type="sldNum" sz="quarter" idx="12"/>
          </p:nvPr>
        </p:nvSpPr>
        <p:spPr/>
        <p:txBody>
          <a:bodyPr/>
          <a:lstStyle/>
          <a:p>
            <a:fld id="{35D9512D-810D-489D-B4F3-0792CA04F52C}" type="slidenum">
              <a:rPr lang="en-US" smtClean="0"/>
              <a:t>8</a:t>
            </a:fld>
            <a:endParaRPr lang="en-US" dirty="0"/>
          </a:p>
        </p:txBody>
      </p:sp>
      <p:sp>
        <p:nvSpPr>
          <p:cNvPr id="7" name="Footer Placeholder 6"/>
          <p:cNvSpPr txBox="1">
            <a:spLocks/>
          </p:cNvSpPr>
          <p:nvPr/>
        </p:nvSpPr>
        <p:spPr>
          <a:xfrm>
            <a:off x="-1094509" y="6564597"/>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©2016 Assessments 24X7</a:t>
            </a:r>
            <a:endParaRPr lang="en-US" dirty="0"/>
          </a:p>
        </p:txBody>
      </p:sp>
      <p:sp>
        <p:nvSpPr>
          <p:cNvPr id="8" name="Rectangle 7"/>
          <p:cNvSpPr/>
          <p:nvPr/>
        </p:nvSpPr>
        <p:spPr>
          <a:xfrm>
            <a:off x="2358326" y="2391793"/>
            <a:ext cx="8995474" cy="3816429"/>
          </a:xfrm>
          <a:prstGeom prst="rect">
            <a:avLst/>
          </a:prstGeom>
        </p:spPr>
        <p:txBody>
          <a:bodyPr wrap="square">
            <a:spAutoFit/>
          </a:bodyPr>
          <a:lstStyle/>
          <a:p>
            <a:r>
              <a:rPr lang="en-US" sz="3000" b="1" i="1" dirty="0"/>
              <a:t>I can be confident that I am making the right decisions. </a:t>
            </a:r>
          </a:p>
          <a:p>
            <a:endParaRPr lang="en-US" sz="2400" dirty="0" smtClean="0"/>
          </a:p>
          <a:p>
            <a:r>
              <a:rPr lang="en-US" sz="2400" dirty="0" smtClean="0"/>
              <a:t>When I bring together:</a:t>
            </a:r>
          </a:p>
          <a:p>
            <a:pPr marL="342900" indent="-342900">
              <a:buFont typeface="Arial" panose="020B0604020202020204" pitchFamily="34" charset="0"/>
              <a:buChar char="•"/>
            </a:pPr>
            <a:r>
              <a:rPr lang="en-US" sz="2400" dirty="0" smtClean="0"/>
              <a:t> the steps </a:t>
            </a:r>
            <a:r>
              <a:rPr lang="en-US" sz="2400" dirty="0"/>
              <a:t>take to make a good </a:t>
            </a:r>
            <a:r>
              <a:rPr lang="en-US" sz="2400" dirty="0" smtClean="0"/>
              <a:t>decision  </a:t>
            </a:r>
          </a:p>
          <a:p>
            <a:pPr marL="342900" indent="-342900">
              <a:buFont typeface="Arial" panose="020B0604020202020204" pitchFamily="34" charset="0"/>
              <a:buChar char="•"/>
            </a:pPr>
            <a:r>
              <a:rPr lang="en-US" sz="2400" dirty="0" smtClean="0"/>
              <a:t>my </a:t>
            </a:r>
            <a:r>
              <a:rPr lang="en-US" sz="2400" dirty="0"/>
              <a:t>understanding that my decision making skills are good </a:t>
            </a:r>
            <a:r>
              <a:rPr lang="en-US" sz="2400" dirty="0" smtClean="0"/>
              <a:t/>
            </a:r>
            <a:br>
              <a:rPr lang="en-US" sz="2400" dirty="0" smtClean="0"/>
            </a:br>
            <a:r>
              <a:rPr lang="en-US" sz="2400" dirty="0" smtClean="0"/>
              <a:t>(</a:t>
            </a:r>
            <a:r>
              <a:rPr lang="en-US" sz="2400" i="1" dirty="0" smtClean="0"/>
              <a:t>based </a:t>
            </a:r>
            <a:r>
              <a:rPr lang="en-US" sz="2400" i="1" dirty="0"/>
              <a:t>on personal awareness of my </a:t>
            </a:r>
            <a:r>
              <a:rPr lang="en-US" sz="2400" b="1" i="1" dirty="0"/>
              <a:t>clarity and attentiveness to People, Tasks and </a:t>
            </a:r>
            <a:r>
              <a:rPr lang="en-US" sz="2400" b="1" i="1" dirty="0" smtClean="0"/>
              <a:t>Systems</a:t>
            </a:r>
            <a:r>
              <a:rPr lang="en-US" sz="2400" dirty="0" smtClean="0"/>
              <a:t>)</a:t>
            </a:r>
          </a:p>
          <a:p>
            <a:pPr marL="342900" indent="-342900">
              <a:buFont typeface="Arial" panose="020B0604020202020204" pitchFamily="34" charset="0"/>
              <a:buChar char="•"/>
            </a:pPr>
            <a:endParaRPr lang="en-US" sz="2400" dirty="0"/>
          </a:p>
          <a:p>
            <a:r>
              <a:rPr lang="en-US" sz="2200" dirty="0" smtClean="0">
                <a:solidFill>
                  <a:srgbClr val="002060"/>
                </a:solidFill>
                <a:cs typeface="Times New Roman" pitchFamily="18" charset="0"/>
              </a:rPr>
              <a:t/>
            </a:r>
            <a:br>
              <a:rPr lang="en-US" sz="2200" dirty="0" smtClean="0">
                <a:solidFill>
                  <a:srgbClr val="002060"/>
                </a:solidFill>
                <a:cs typeface="Times New Roman" pitchFamily="18" charset="0"/>
              </a:rPr>
            </a:br>
            <a:endParaRPr lang="en-US" sz="2200" dirty="0">
              <a:solidFill>
                <a:srgbClr val="002060"/>
              </a:solidFill>
              <a:cs typeface="Times New Roman" pitchFamily="18" charset="0"/>
            </a:endParaRPr>
          </a:p>
        </p:txBody>
      </p:sp>
      <p:sp>
        <p:nvSpPr>
          <p:cNvPr id="9" name="Rectangle 8"/>
          <p:cNvSpPr/>
          <p:nvPr/>
        </p:nvSpPr>
        <p:spPr>
          <a:xfrm>
            <a:off x="9445490" y="463723"/>
            <a:ext cx="3214930" cy="2154436"/>
          </a:xfrm>
          <a:prstGeom prst="rect">
            <a:avLst/>
          </a:prstGeom>
        </p:spPr>
        <p:txBody>
          <a:bodyPr wrap="square">
            <a:spAutoFit/>
          </a:bodyPr>
          <a:lstStyle/>
          <a:p>
            <a:pPr marL="457200" indent="-457200">
              <a:buAutoNum type="arabicPeriod"/>
            </a:pPr>
            <a:r>
              <a:rPr lang="en-US" sz="3000" b="1" dirty="0" smtClean="0">
                <a:solidFill>
                  <a:srgbClr val="C00000"/>
                </a:solidFill>
              </a:rPr>
              <a:t>Identify</a:t>
            </a:r>
          </a:p>
          <a:p>
            <a:pPr marL="457200" indent="-457200">
              <a:buAutoNum type="arabicPeriod"/>
            </a:pPr>
            <a:r>
              <a:rPr lang="en-US" sz="3000" b="1" dirty="0" smtClean="0">
                <a:solidFill>
                  <a:srgbClr val="C00000"/>
                </a:solidFill>
              </a:rPr>
              <a:t>Measure</a:t>
            </a:r>
          </a:p>
          <a:p>
            <a:pPr marL="457200" indent="-457200">
              <a:buAutoNum type="arabicPeriod"/>
            </a:pPr>
            <a:r>
              <a:rPr lang="en-US" sz="3000" b="1" dirty="0" smtClean="0">
                <a:solidFill>
                  <a:srgbClr val="C00000"/>
                </a:solidFill>
              </a:rPr>
              <a:t>Compare</a:t>
            </a:r>
            <a:endParaRPr lang="en-US" sz="3000" b="1" dirty="0">
              <a:solidFill>
                <a:srgbClr val="C00000"/>
              </a:solidFill>
            </a:endParaRPr>
          </a:p>
          <a:p>
            <a:r>
              <a:rPr lang="en-US" sz="2200" dirty="0" smtClean="0">
                <a:solidFill>
                  <a:srgbClr val="002060"/>
                </a:solidFill>
                <a:cs typeface="Times New Roman" pitchFamily="18" charset="0"/>
              </a:rPr>
              <a:t/>
            </a:r>
            <a:br>
              <a:rPr lang="en-US" sz="2200" dirty="0" smtClean="0">
                <a:solidFill>
                  <a:srgbClr val="002060"/>
                </a:solidFill>
                <a:cs typeface="Times New Roman" pitchFamily="18" charset="0"/>
              </a:rPr>
            </a:br>
            <a:endParaRPr lang="en-US" sz="2200" dirty="0">
              <a:solidFill>
                <a:srgbClr val="002060"/>
              </a:solidFill>
              <a:cs typeface="Times New Roman" pitchFamily="18" charset="0"/>
            </a:endParaRPr>
          </a:p>
        </p:txBody>
      </p:sp>
    </p:spTree>
    <p:extLst>
      <p:ext uri="{BB962C8B-B14F-4D97-AF65-F5344CB8AC3E}">
        <p14:creationId xmlns:p14="http://schemas.microsoft.com/office/powerpoint/2010/main" val="22287991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20521</TotalTime>
  <Words>1037</Words>
  <Application>Microsoft Office PowerPoint</Application>
  <PresentationFormat>Widescreen</PresentationFormat>
  <Paragraphs>108</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Times New Roman</vt:lpstr>
      <vt:lpstr>Office Theme</vt:lpstr>
      <vt:lpstr>Hartman Value Profile A Critical Thinking and Decision Making Process</vt:lpstr>
      <vt:lpstr>Hartman Value Profile</vt:lpstr>
      <vt:lpstr>HVP – The Process</vt:lpstr>
      <vt:lpstr>Determining a Good decision/solution</vt:lpstr>
      <vt:lpstr>Determining a Good decision/solution</vt:lpstr>
      <vt:lpstr>Determining a Good decision/solution</vt:lpstr>
      <vt:lpstr>Assessing Risks</vt:lpstr>
      <vt:lpstr>The Process: 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Learning Styles</dc:title>
  <dc:creator>Jennifer Larsen</dc:creator>
  <cp:lastModifiedBy>Jennifer Voitlein</cp:lastModifiedBy>
  <cp:revision>116</cp:revision>
  <dcterms:created xsi:type="dcterms:W3CDTF">2016-03-22T22:01:54Z</dcterms:created>
  <dcterms:modified xsi:type="dcterms:W3CDTF">2017-03-06T18:34:58Z</dcterms:modified>
</cp:coreProperties>
</file>