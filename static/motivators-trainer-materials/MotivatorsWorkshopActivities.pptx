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67" r:id="rId3"/>
    <p:sldId id="279" r:id="rId4"/>
    <p:sldId id="274" r:id="rId5"/>
    <p:sldId id="284" r:id="rId6"/>
    <p:sldId id="285" r:id="rId7"/>
    <p:sldId id="275" r:id="rId8"/>
    <p:sldId id="276" r:id="rId9"/>
    <p:sldId id="286" r:id="rId10"/>
    <p:sldId id="277" r:id="rId11"/>
    <p:sldId id="289" r:id="rId12"/>
    <p:sldId id="290" r:id="rId13"/>
    <p:sldId id="29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6633"/>
    <a:srgbClr val="F6473A"/>
    <a:srgbClr val="0000FF"/>
    <a:srgbClr val="663300"/>
    <a:srgbClr val="18A9B8"/>
    <a:srgbClr val="5E52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92" autoAdjust="0"/>
    <p:restoredTop sz="46029" autoAdjust="0"/>
  </p:normalViewPr>
  <p:slideViewPr>
    <p:cSldViewPr snapToGrid="0">
      <p:cViewPr varScale="1">
        <p:scale>
          <a:sx n="42" d="100"/>
          <a:sy n="42" d="100"/>
        </p:scale>
        <p:origin x="1950" y="24"/>
      </p:cViewPr>
      <p:guideLst/>
    </p:cSldViewPr>
  </p:slideViewPr>
  <p:notesTextViewPr>
    <p:cViewPr>
      <p:scale>
        <a:sx n="1" d="1"/>
        <a:sy n="1" d="1"/>
      </p:scale>
      <p:origin x="0" y="-39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58E466-47E7-472D-AC34-BD50788CFBD4}" type="datetimeFigureOut">
              <a:rPr lang="en-US" smtClean="0"/>
              <a:t>3/20/2017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9A222A-7EE5-461B-AB51-4E1740066219}" type="slidenum">
              <a:rPr lang="en-US" smtClean="0"/>
              <a:t>‹#›</a:t>
            </a:fld>
            <a:endParaRPr lang="en-US"/>
          </a:p>
        </p:txBody>
      </p:sp>
    </p:spTree>
    <p:extLst>
      <p:ext uri="{BB962C8B-B14F-4D97-AF65-F5344CB8AC3E}">
        <p14:creationId xmlns:p14="http://schemas.microsoft.com/office/powerpoint/2010/main" val="42512579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A9A222A-7EE5-461B-AB51-4E1740066219}" type="slidenum">
              <a:rPr lang="en-US" smtClean="0"/>
              <a:t>1</a:t>
            </a:fld>
            <a:endParaRPr lang="en-US"/>
          </a:p>
        </p:txBody>
      </p:sp>
    </p:spTree>
    <p:extLst>
      <p:ext uri="{BB962C8B-B14F-4D97-AF65-F5344CB8AC3E}">
        <p14:creationId xmlns:p14="http://schemas.microsoft.com/office/powerpoint/2010/main" val="3282679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smtClean="0"/>
          </a:p>
          <a:p>
            <a:r>
              <a:rPr lang="en-US" b="1" baseline="0" dirty="0" smtClean="0"/>
              <a:t>Ask each table to brainstorm and provide a few answers to this question. </a:t>
            </a:r>
          </a:p>
          <a:p>
            <a:r>
              <a:rPr lang="en-US" b="1" baseline="0" dirty="0" smtClean="0"/>
              <a:t>ASK</a:t>
            </a:r>
            <a:r>
              <a:rPr lang="en-US" b="1" baseline="0" dirty="0" smtClean="0"/>
              <a:t>: Why is it important to know if someone has different motivators than you do? </a:t>
            </a:r>
            <a:endParaRPr lang="en-US" b="1" baseline="0" dirty="0" smtClean="0"/>
          </a:p>
          <a:p>
            <a:r>
              <a:rPr lang="en-US" b="1" baseline="0" dirty="0" smtClean="0"/>
              <a:t/>
            </a:r>
            <a:br>
              <a:rPr lang="en-US" b="1" baseline="0" dirty="0" smtClean="0"/>
            </a:br>
            <a:r>
              <a:rPr lang="en-US" b="1" baseline="0" dirty="0" smtClean="0"/>
              <a:t>Example answers</a:t>
            </a:r>
            <a:endParaRPr lang="en-US" b="1"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We all see others as we are, not as they are.  We all have our own needs and desires, and we all express them differently through our actions. </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we have different Motivators, we make different choices. Motivators are the reasons that drive us to WANT to act. </a:t>
            </a:r>
          </a:p>
          <a:p>
            <a:r>
              <a:rPr lang="en-US" baseline="0" dirty="0" smtClean="0"/>
              <a:t>  </a:t>
            </a:r>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FA9A222A-7EE5-461B-AB51-4E1740066219}" type="slidenum">
              <a:rPr lang="en-US" smtClean="0"/>
              <a:t>2</a:t>
            </a:fld>
            <a:endParaRPr lang="en-US"/>
          </a:p>
        </p:txBody>
      </p:sp>
    </p:spTree>
    <p:extLst>
      <p:ext uri="{BB962C8B-B14F-4D97-AF65-F5344CB8AC3E}">
        <p14:creationId xmlns:p14="http://schemas.microsoft.com/office/powerpoint/2010/main" val="35394648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smtClean="0">
                <a:solidFill>
                  <a:schemeClr val="tx1"/>
                </a:solidFill>
                <a:effectLst/>
                <a:latin typeface="+mn-lt"/>
                <a:ea typeface="+mn-ea"/>
                <a:cs typeface="+mn-cs"/>
              </a:rPr>
              <a:t>Assign</a:t>
            </a:r>
            <a:r>
              <a:rPr lang="en-US" sz="1200" b="0" kern="1200" baseline="0" dirty="0" smtClean="0">
                <a:solidFill>
                  <a:schemeClr val="tx1"/>
                </a:solidFill>
                <a:effectLst/>
                <a:latin typeface="+mn-lt"/>
                <a:ea typeface="+mn-ea"/>
                <a:cs typeface="+mn-cs"/>
              </a:rPr>
              <a:t> each group a specific dimension.</a:t>
            </a:r>
            <a:endParaRPr lang="en-US" sz="1200" b="0" kern="1200" dirty="0" smtClean="0">
              <a:solidFill>
                <a:schemeClr val="tx1"/>
              </a:solidFill>
              <a:effectLst/>
              <a:latin typeface="+mn-lt"/>
              <a:ea typeface="+mn-ea"/>
              <a:cs typeface="+mn-cs"/>
            </a:endParaRPr>
          </a:p>
          <a:p>
            <a:endParaRPr lang="en-US" sz="1200" b="0" kern="1200" dirty="0" smtClean="0">
              <a:solidFill>
                <a:schemeClr val="tx1"/>
              </a:solidFill>
              <a:effectLst/>
              <a:latin typeface="+mn-lt"/>
              <a:ea typeface="+mn-ea"/>
              <a:cs typeface="+mn-cs"/>
            </a:endParaRPr>
          </a:p>
          <a:p>
            <a:r>
              <a:rPr lang="en-US" sz="1200" b="0" kern="1200" dirty="0" smtClean="0">
                <a:solidFill>
                  <a:schemeClr val="tx1"/>
                </a:solidFill>
                <a:effectLst/>
                <a:latin typeface="+mn-lt"/>
                <a:ea typeface="+mn-ea"/>
                <a:cs typeface="+mn-cs"/>
              </a:rPr>
              <a:t>Have them complete the activity based on these definitions</a:t>
            </a:r>
            <a:r>
              <a:rPr lang="en-US" sz="1200" b="0" kern="1200" baseline="0" dirty="0" smtClean="0">
                <a:solidFill>
                  <a:schemeClr val="tx1"/>
                </a:solidFill>
                <a:effectLst/>
                <a:latin typeface="+mn-lt"/>
                <a:ea typeface="+mn-ea"/>
                <a:cs typeface="+mn-cs"/>
              </a:rPr>
              <a:t>:</a:t>
            </a:r>
          </a:p>
          <a:p>
            <a:endParaRPr lang="en-US" sz="1200" b="1" kern="1200" baseline="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Aesthetic </a:t>
            </a:r>
            <a:r>
              <a:rPr lang="en-US" sz="1200" kern="1200" dirty="0" smtClean="0">
                <a:solidFill>
                  <a:schemeClr val="tx1"/>
                </a:solidFill>
                <a:effectLst/>
                <a:latin typeface="+mn-lt"/>
                <a:ea typeface="+mn-ea"/>
                <a:cs typeface="+mn-cs"/>
              </a:rPr>
              <a:t>- a drive for balance, harmony, and form</a:t>
            </a:r>
            <a:r>
              <a:rPr lang="en-US" sz="1200" kern="1200" baseline="0" dirty="0" smtClean="0">
                <a:solidFill>
                  <a:schemeClr val="tx1"/>
                </a:solidFill>
                <a:effectLst/>
                <a:latin typeface="+mn-lt"/>
                <a:ea typeface="+mn-ea"/>
                <a:cs typeface="+mn-cs"/>
              </a:rPr>
              <a:t> – alternative thinking versus standardized thinking – standardized values functionality not balance</a:t>
            </a:r>
            <a:endParaRPr lang="en-US" sz="1200" kern="1200" dirty="0" smtClean="0">
              <a:solidFill>
                <a:schemeClr val="tx1"/>
              </a:solidFill>
              <a:effectLst/>
              <a:latin typeface="+mn-lt"/>
              <a:ea typeface="+mn-ea"/>
              <a:cs typeface="+mn-cs"/>
            </a:endParaRPr>
          </a:p>
          <a:p>
            <a:pPr lvl="0"/>
            <a:r>
              <a:rPr lang="en-US" sz="1200" b="1" kern="1200" dirty="0" smtClean="0">
                <a:solidFill>
                  <a:schemeClr val="tx1"/>
                </a:solidFill>
                <a:effectLst/>
                <a:latin typeface="+mn-lt"/>
                <a:ea typeface="+mn-ea"/>
                <a:cs typeface="+mn-cs"/>
              </a:rPr>
              <a:t>Economic -</a:t>
            </a:r>
            <a:r>
              <a:rPr lang="en-US" sz="1200" kern="1200" dirty="0" smtClean="0">
                <a:solidFill>
                  <a:schemeClr val="tx1"/>
                </a:solidFill>
                <a:effectLst/>
                <a:latin typeface="+mn-lt"/>
                <a:ea typeface="+mn-ea"/>
                <a:cs typeface="+mn-cs"/>
              </a:rPr>
              <a:t> a drive for economic or practical returns – competitiveness</a:t>
            </a:r>
            <a:r>
              <a:rPr lang="en-US" sz="1200" kern="1200" baseline="0" dirty="0" smtClean="0">
                <a:solidFill>
                  <a:schemeClr val="tx1"/>
                </a:solidFill>
                <a:effectLst/>
                <a:latin typeface="+mn-lt"/>
                <a:ea typeface="+mn-ea"/>
                <a:cs typeface="+mn-cs"/>
              </a:rPr>
              <a:t> drives the desire for ROI, what’s in it for me, how do I win?</a:t>
            </a:r>
            <a:endParaRPr lang="en-US" sz="1200" kern="1200" dirty="0" smtClean="0">
              <a:solidFill>
                <a:schemeClr val="tx1"/>
              </a:solidFill>
              <a:effectLst/>
              <a:latin typeface="+mn-lt"/>
              <a:ea typeface="+mn-ea"/>
              <a:cs typeface="+mn-cs"/>
            </a:endParaRPr>
          </a:p>
          <a:p>
            <a:pPr lvl="0"/>
            <a:r>
              <a:rPr lang="en-US" sz="1200" b="1" kern="1200" dirty="0" smtClean="0">
                <a:solidFill>
                  <a:schemeClr val="tx1"/>
                </a:solidFill>
                <a:effectLst/>
                <a:latin typeface="+mn-lt"/>
                <a:ea typeface="+mn-ea"/>
                <a:cs typeface="+mn-cs"/>
              </a:rPr>
              <a:t>Individualistic </a:t>
            </a:r>
            <a:r>
              <a:rPr lang="en-US" sz="1200" kern="1200" dirty="0" smtClean="0">
                <a:solidFill>
                  <a:schemeClr val="tx1"/>
                </a:solidFill>
                <a:effectLst/>
                <a:latin typeface="+mn-lt"/>
                <a:ea typeface="+mn-ea"/>
                <a:cs typeface="+mn-cs"/>
              </a:rPr>
              <a:t>- a drive to stand out as independent</a:t>
            </a:r>
            <a:r>
              <a:rPr lang="en-US" sz="1200" kern="1200" baseline="0" dirty="0" smtClean="0">
                <a:solidFill>
                  <a:schemeClr val="tx1"/>
                </a:solidFill>
                <a:effectLst/>
                <a:latin typeface="+mn-lt"/>
                <a:ea typeface="+mn-ea"/>
                <a:cs typeface="+mn-cs"/>
              </a:rPr>
              <a:t> – a desire to be unique</a:t>
            </a:r>
            <a:endParaRPr lang="en-US" sz="1200" kern="1200" dirty="0" smtClean="0">
              <a:solidFill>
                <a:schemeClr val="tx1"/>
              </a:solidFill>
              <a:effectLst/>
              <a:latin typeface="+mn-lt"/>
              <a:ea typeface="+mn-ea"/>
              <a:cs typeface="+mn-cs"/>
            </a:endParaRPr>
          </a:p>
          <a:p>
            <a:pPr lvl="0"/>
            <a:r>
              <a:rPr lang="en-US" sz="1200" b="1" kern="1200" dirty="0" smtClean="0">
                <a:solidFill>
                  <a:schemeClr val="tx1"/>
                </a:solidFill>
                <a:effectLst/>
                <a:latin typeface="+mn-lt"/>
                <a:ea typeface="+mn-ea"/>
                <a:cs typeface="+mn-cs"/>
              </a:rPr>
              <a:t>Politica</a:t>
            </a:r>
            <a:r>
              <a:rPr lang="en-US" sz="1200" kern="1200" dirty="0" smtClean="0">
                <a:solidFill>
                  <a:schemeClr val="tx1"/>
                </a:solidFill>
                <a:effectLst/>
                <a:latin typeface="+mn-lt"/>
                <a:ea typeface="+mn-ea"/>
                <a:cs typeface="+mn-cs"/>
              </a:rPr>
              <a:t>l - a drive to be in control or have influence -  the</a:t>
            </a:r>
            <a:r>
              <a:rPr lang="en-US" sz="1200" kern="1200" baseline="0" dirty="0" smtClean="0">
                <a:solidFill>
                  <a:schemeClr val="tx1"/>
                </a:solidFill>
                <a:effectLst/>
                <a:latin typeface="+mn-lt"/>
                <a:ea typeface="+mn-ea"/>
                <a:cs typeface="+mn-cs"/>
              </a:rPr>
              <a:t> desire to have control and power over a situation or environment</a:t>
            </a:r>
            <a:endParaRPr lang="en-US" sz="1200" kern="1200" dirty="0" smtClean="0">
              <a:solidFill>
                <a:schemeClr val="tx1"/>
              </a:solidFill>
              <a:effectLst/>
              <a:latin typeface="+mn-lt"/>
              <a:ea typeface="+mn-ea"/>
              <a:cs typeface="+mn-cs"/>
            </a:endParaRPr>
          </a:p>
          <a:p>
            <a:pPr lvl="0"/>
            <a:r>
              <a:rPr lang="en-US" sz="1200" b="1" kern="1200" dirty="0" smtClean="0">
                <a:solidFill>
                  <a:schemeClr val="tx1"/>
                </a:solidFill>
                <a:effectLst/>
                <a:latin typeface="+mn-lt"/>
                <a:ea typeface="+mn-ea"/>
                <a:cs typeface="+mn-cs"/>
              </a:rPr>
              <a:t>Altruistic</a:t>
            </a:r>
            <a:r>
              <a:rPr lang="en-US" sz="1200" kern="1200" dirty="0" smtClean="0">
                <a:solidFill>
                  <a:schemeClr val="tx1"/>
                </a:solidFill>
                <a:effectLst/>
                <a:latin typeface="+mn-lt"/>
                <a:ea typeface="+mn-ea"/>
                <a:cs typeface="+mn-cs"/>
              </a:rPr>
              <a:t> - a drive for humanitarian efforts or to help others selflessly –to</a:t>
            </a:r>
            <a:r>
              <a:rPr lang="en-US" sz="1200" kern="1200" baseline="0" dirty="0" smtClean="0">
                <a:solidFill>
                  <a:schemeClr val="tx1"/>
                </a:solidFill>
                <a:effectLst/>
                <a:latin typeface="+mn-lt"/>
                <a:ea typeface="+mn-ea"/>
                <a:cs typeface="+mn-cs"/>
              </a:rPr>
              <a:t> understand or experience the feelings of others</a:t>
            </a:r>
            <a:endParaRPr lang="en-US" sz="1200" kern="1200" dirty="0" smtClean="0">
              <a:solidFill>
                <a:schemeClr val="tx1"/>
              </a:solidFill>
              <a:effectLst/>
              <a:latin typeface="+mn-lt"/>
              <a:ea typeface="+mn-ea"/>
              <a:cs typeface="+mn-cs"/>
            </a:endParaRPr>
          </a:p>
          <a:p>
            <a:pPr lvl="0"/>
            <a:r>
              <a:rPr lang="en-US" sz="1200" b="1" kern="1200" dirty="0" smtClean="0">
                <a:solidFill>
                  <a:schemeClr val="tx1"/>
                </a:solidFill>
                <a:effectLst/>
                <a:latin typeface="+mn-lt"/>
                <a:ea typeface="+mn-ea"/>
                <a:cs typeface="+mn-cs"/>
              </a:rPr>
              <a:t>Regulatory</a:t>
            </a:r>
            <a:r>
              <a:rPr lang="en-US" sz="1200" kern="1200" dirty="0" smtClean="0">
                <a:solidFill>
                  <a:schemeClr val="tx1"/>
                </a:solidFill>
                <a:effectLst/>
                <a:latin typeface="+mn-lt"/>
                <a:ea typeface="+mn-ea"/>
                <a:cs typeface="+mn-cs"/>
              </a:rPr>
              <a:t> - a drive to establish order, routine, and structure –to value</a:t>
            </a:r>
            <a:r>
              <a:rPr lang="en-US" sz="1200" kern="1200" baseline="0" dirty="0" smtClean="0">
                <a:solidFill>
                  <a:schemeClr val="tx1"/>
                </a:solidFill>
                <a:effectLst/>
                <a:latin typeface="+mn-lt"/>
                <a:ea typeface="+mn-ea"/>
                <a:cs typeface="+mn-cs"/>
              </a:rPr>
              <a:t> system and structure</a:t>
            </a:r>
            <a:endParaRPr lang="en-US" sz="1200" kern="1200" dirty="0" smtClean="0">
              <a:solidFill>
                <a:schemeClr val="tx1"/>
              </a:solidFill>
              <a:effectLst/>
              <a:latin typeface="+mn-lt"/>
              <a:ea typeface="+mn-ea"/>
              <a:cs typeface="+mn-cs"/>
            </a:endParaRPr>
          </a:p>
          <a:p>
            <a:pPr lvl="0"/>
            <a:r>
              <a:rPr lang="en-US" sz="1200" b="1" kern="1200" dirty="0" smtClean="0">
                <a:solidFill>
                  <a:schemeClr val="tx1"/>
                </a:solidFill>
                <a:effectLst/>
                <a:latin typeface="+mn-lt"/>
                <a:ea typeface="+mn-ea"/>
                <a:cs typeface="+mn-cs"/>
              </a:rPr>
              <a:t>Theoretical </a:t>
            </a:r>
            <a:r>
              <a:rPr lang="en-US" sz="1200" kern="1200" dirty="0" smtClean="0">
                <a:solidFill>
                  <a:schemeClr val="tx1"/>
                </a:solidFill>
                <a:effectLst/>
                <a:latin typeface="+mn-lt"/>
                <a:ea typeface="+mn-ea"/>
                <a:cs typeface="+mn-cs"/>
              </a:rPr>
              <a:t>- a drive for knowledge, learning, and understanding – a need to</a:t>
            </a:r>
            <a:r>
              <a:rPr lang="en-US" sz="1200" kern="1200" baseline="0" dirty="0" smtClean="0">
                <a:solidFill>
                  <a:schemeClr val="tx1"/>
                </a:solidFill>
                <a:effectLst/>
                <a:latin typeface="+mn-lt"/>
                <a:ea typeface="+mn-ea"/>
                <a:cs typeface="+mn-cs"/>
              </a:rPr>
              <a:t> investigate, know and understand</a:t>
            </a:r>
            <a:endParaRPr lang="en-US" sz="1200" kern="1200" dirty="0" smtClean="0">
              <a:solidFill>
                <a:schemeClr val="tx1"/>
              </a:solidFill>
              <a:effectLst/>
              <a:latin typeface="+mn-lt"/>
              <a:ea typeface="+mn-ea"/>
              <a:cs typeface="+mn-cs"/>
            </a:endParaRPr>
          </a:p>
          <a:p>
            <a:endParaRPr lang="en-US" dirty="0" smtClean="0"/>
          </a:p>
          <a:p>
            <a:r>
              <a:rPr lang="en-US" dirty="0" smtClean="0"/>
              <a:t>Debrief with following slides.</a:t>
            </a:r>
            <a:endParaRPr lang="en-US" dirty="0" smtClean="0"/>
          </a:p>
          <a:p>
            <a:endParaRPr lang="en-US" dirty="0"/>
          </a:p>
        </p:txBody>
      </p:sp>
      <p:sp>
        <p:nvSpPr>
          <p:cNvPr id="4" name="Slide Number Placeholder 3"/>
          <p:cNvSpPr>
            <a:spLocks noGrp="1"/>
          </p:cNvSpPr>
          <p:nvPr>
            <p:ph type="sldNum" sz="quarter" idx="10"/>
          </p:nvPr>
        </p:nvSpPr>
        <p:spPr/>
        <p:txBody>
          <a:bodyPr/>
          <a:lstStyle/>
          <a:p>
            <a:fld id="{FA9A222A-7EE5-461B-AB51-4E1740066219}" type="slidenum">
              <a:rPr lang="en-US" smtClean="0"/>
              <a:t>3</a:t>
            </a:fld>
            <a:endParaRPr lang="en-US"/>
          </a:p>
        </p:txBody>
      </p:sp>
    </p:spTree>
    <p:extLst>
      <p:ext uri="{BB962C8B-B14F-4D97-AF65-F5344CB8AC3E}">
        <p14:creationId xmlns:p14="http://schemas.microsoft.com/office/powerpoint/2010/main" val="11482820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0D2E862-F04A-4567-BD33-10F4CD9A790F}" type="slidenum">
              <a:rPr lang="en-US" smtClean="0">
                <a:solidFill>
                  <a:prstClr val="black"/>
                </a:solidFill>
              </a:rPr>
              <a:pPr>
                <a:defRPr/>
              </a:pPr>
              <a:t>4</a:t>
            </a:fld>
            <a:endParaRPr lang="en-US" dirty="0" smtClean="0">
              <a:solidFill>
                <a:prstClr val="black"/>
              </a:solidFill>
            </a:endParaRPr>
          </a:p>
        </p:txBody>
      </p:sp>
      <p:sp>
        <p:nvSpPr>
          <p:cNvPr id="19459" name="Rectangle 2"/>
          <p:cNvSpPr>
            <a:spLocks noGrp="1" noRot="1" noChangeAspect="1" noChangeArrowheads="1" noTextEdit="1"/>
          </p:cNvSpPr>
          <p:nvPr>
            <p:ph type="sldImg"/>
          </p:nvPr>
        </p:nvSpPr>
        <p:spPr>
          <a:xfrm>
            <a:off x="420688" y="701675"/>
            <a:ext cx="6262687" cy="3524250"/>
          </a:xfrm>
          <a:ln/>
        </p:spPr>
      </p:sp>
      <p:sp>
        <p:nvSpPr>
          <p:cNvPr id="19460" name="Rectangle 3"/>
          <p:cNvSpPr>
            <a:spLocks noGrp="1" noChangeArrowheads="1"/>
          </p:cNvSpPr>
          <p:nvPr>
            <p:ph type="body" idx="1"/>
          </p:nvPr>
        </p:nvSpPr>
        <p:spPr>
          <a:xfrm>
            <a:off x="946997" y="4461770"/>
            <a:ext cx="5208482" cy="422449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115" tIns="47558" rIns="95115" bIns="47558"/>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Review Slide:</a:t>
            </a:r>
            <a:r>
              <a:rPr lang="en-US" b="1" baseline="0" dirty="0" smtClean="0"/>
              <a:t> Note animations to reveal High and Low</a:t>
            </a:r>
          </a:p>
          <a:p>
            <a:endParaRPr lang="en-US" dirty="0" smtClean="0"/>
          </a:p>
        </p:txBody>
      </p:sp>
    </p:spTree>
    <p:extLst>
      <p:ext uri="{BB962C8B-B14F-4D97-AF65-F5344CB8AC3E}">
        <p14:creationId xmlns:p14="http://schemas.microsoft.com/office/powerpoint/2010/main" val="31076777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0D2E862-F04A-4567-BD33-10F4CD9A790F}" type="slidenum">
              <a:rPr lang="en-US" smtClean="0">
                <a:solidFill>
                  <a:prstClr val="black"/>
                </a:solidFill>
              </a:rPr>
              <a:pPr>
                <a:defRPr/>
              </a:pPr>
              <a:t>5</a:t>
            </a:fld>
            <a:endParaRPr lang="en-US" dirty="0" smtClean="0">
              <a:solidFill>
                <a:prstClr val="black"/>
              </a:solidFill>
            </a:endParaRPr>
          </a:p>
        </p:txBody>
      </p:sp>
      <p:sp>
        <p:nvSpPr>
          <p:cNvPr id="19459" name="Rectangle 2"/>
          <p:cNvSpPr>
            <a:spLocks noGrp="1" noRot="1" noChangeAspect="1" noChangeArrowheads="1" noTextEdit="1"/>
          </p:cNvSpPr>
          <p:nvPr>
            <p:ph type="sldImg"/>
          </p:nvPr>
        </p:nvSpPr>
        <p:spPr>
          <a:xfrm>
            <a:off x="420688" y="701675"/>
            <a:ext cx="6262687" cy="3524250"/>
          </a:xfrm>
          <a:ln/>
        </p:spPr>
      </p:sp>
      <p:sp>
        <p:nvSpPr>
          <p:cNvPr id="19460" name="Rectangle 3"/>
          <p:cNvSpPr>
            <a:spLocks noGrp="1" noChangeArrowheads="1"/>
          </p:cNvSpPr>
          <p:nvPr>
            <p:ph type="body" idx="1"/>
          </p:nvPr>
        </p:nvSpPr>
        <p:spPr>
          <a:xfrm>
            <a:off x="946997" y="4461770"/>
            <a:ext cx="5208482" cy="422449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115" tIns="47558" rIns="95115" bIns="47558"/>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Review Slide:</a:t>
            </a:r>
            <a:r>
              <a:rPr lang="en-US" b="1" baseline="0" dirty="0" smtClean="0"/>
              <a:t> Note animations to reveal High and Low</a:t>
            </a:r>
          </a:p>
          <a:p>
            <a:endParaRPr lang="en-US" dirty="0" smtClean="0"/>
          </a:p>
        </p:txBody>
      </p:sp>
    </p:spTree>
    <p:extLst>
      <p:ext uri="{BB962C8B-B14F-4D97-AF65-F5344CB8AC3E}">
        <p14:creationId xmlns:p14="http://schemas.microsoft.com/office/powerpoint/2010/main" val="31191675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ABD000C-4FA8-4497-8F51-7705CABBE1FE}" type="slidenum">
              <a:rPr lang="en-US" smtClean="0">
                <a:solidFill>
                  <a:prstClr val="black"/>
                </a:solidFill>
              </a:rPr>
              <a:pPr>
                <a:defRPr/>
              </a:pPr>
              <a:t>6</a:t>
            </a:fld>
            <a:endParaRPr lang="en-US" dirty="0" smtClean="0">
              <a:solidFill>
                <a:prstClr val="black"/>
              </a:solidFill>
            </a:endParaRPr>
          </a:p>
        </p:txBody>
      </p:sp>
      <p:sp>
        <p:nvSpPr>
          <p:cNvPr id="20483" name="Rectangle 2"/>
          <p:cNvSpPr>
            <a:spLocks noGrp="1" noRot="1" noChangeAspect="1" noChangeArrowheads="1" noTextEdit="1"/>
          </p:cNvSpPr>
          <p:nvPr>
            <p:ph type="sldImg"/>
          </p:nvPr>
        </p:nvSpPr>
        <p:spPr>
          <a:xfrm>
            <a:off x="420688" y="701675"/>
            <a:ext cx="6262687" cy="3524250"/>
          </a:xfrm>
          <a:ln/>
        </p:spPr>
      </p:sp>
      <p:sp>
        <p:nvSpPr>
          <p:cNvPr id="20484" name="Rectangle 3"/>
          <p:cNvSpPr>
            <a:spLocks noGrp="1" noChangeArrowheads="1"/>
          </p:cNvSpPr>
          <p:nvPr>
            <p:ph type="body" idx="1"/>
          </p:nvPr>
        </p:nvSpPr>
        <p:spPr>
          <a:xfrm>
            <a:off x="946997" y="4461770"/>
            <a:ext cx="5208482" cy="422449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115" tIns="47558" rIns="95115" bIns="47558"/>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Review Slide:</a:t>
            </a:r>
            <a:r>
              <a:rPr lang="en-US" b="1" baseline="0" dirty="0" smtClean="0"/>
              <a:t> Note animations to reveal High and Low</a:t>
            </a:r>
          </a:p>
          <a:p>
            <a:endParaRPr lang="en-US" dirty="0" smtClean="0"/>
          </a:p>
        </p:txBody>
      </p:sp>
    </p:spTree>
    <p:extLst>
      <p:ext uri="{BB962C8B-B14F-4D97-AF65-F5344CB8AC3E}">
        <p14:creationId xmlns:p14="http://schemas.microsoft.com/office/powerpoint/2010/main" val="37108109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ABD000C-4FA8-4497-8F51-7705CABBE1FE}" type="slidenum">
              <a:rPr lang="en-US" smtClean="0">
                <a:solidFill>
                  <a:prstClr val="black"/>
                </a:solidFill>
              </a:rPr>
              <a:pPr>
                <a:defRPr/>
              </a:pPr>
              <a:t>7</a:t>
            </a:fld>
            <a:endParaRPr lang="en-US" dirty="0" smtClean="0">
              <a:solidFill>
                <a:prstClr val="black"/>
              </a:solidFill>
            </a:endParaRPr>
          </a:p>
        </p:txBody>
      </p:sp>
      <p:sp>
        <p:nvSpPr>
          <p:cNvPr id="20483" name="Rectangle 2"/>
          <p:cNvSpPr>
            <a:spLocks noGrp="1" noRot="1" noChangeAspect="1" noChangeArrowheads="1" noTextEdit="1"/>
          </p:cNvSpPr>
          <p:nvPr>
            <p:ph type="sldImg"/>
          </p:nvPr>
        </p:nvSpPr>
        <p:spPr>
          <a:xfrm>
            <a:off x="420688" y="701675"/>
            <a:ext cx="6262687" cy="3524250"/>
          </a:xfrm>
          <a:ln/>
        </p:spPr>
      </p:sp>
      <p:sp>
        <p:nvSpPr>
          <p:cNvPr id="20484" name="Rectangle 3"/>
          <p:cNvSpPr>
            <a:spLocks noGrp="1" noChangeArrowheads="1"/>
          </p:cNvSpPr>
          <p:nvPr>
            <p:ph type="body" idx="1"/>
          </p:nvPr>
        </p:nvSpPr>
        <p:spPr>
          <a:xfrm>
            <a:off x="946997" y="4461770"/>
            <a:ext cx="5208482" cy="422449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115" tIns="47558" rIns="95115" bIns="47558"/>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Review Slide:</a:t>
            </a:r>
            <a:r>
              <a:rPr lang="en-US" b="1" baseline="0" dirty="0" smtClean="0"/>
              <a:t> Note animations to reveal High and Low</a:t>
            </a:r>
          </a:p>
          <a:p>
            <a:endParaRPr lang="en-US" dirty="0" smtClean="0"/>
          </a:p>
        </p:txBody>
      </p:sp>
    </p:spTree>
    <p:extLst>
      <p:ext uri="{BB962C8B-B14F-4D97-AF65-F5344CB8AC3E}">
        <p14:creationId xmlns:p14="http://schemas.microsoft.com/office/powerpoint/2010/main" val="1234155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DE2951A5-F664-41C2-81B4-5593274E0605}" type="slidenum">
              <a:rPr lang="en-US" smtClean="0">
                <a:solidFill>
                  <a:prstClr val="black"/>
                </a:solidFill>
              </a:rPr>
              <a:pPr>
                <a:defRPr/>
              </a:pPr>
              <a:t>8</a:t>
            </a:fld>
            <a:endParaRPr lang="en-US" dirty="0" smtClean="0">
              <a:solidFill>
                <a:prstClr val="black"/>
              </a:solidFill>
            </a:endParaRPr>
          </a:p>
        </p:txBody>
      </p:sp>
      <p:sp>
        <p:nvSpPr>
          <p:cNvPr id="21507" name="Rectangle 2"/>
          <p:cNvSpPr>
            <a:spLocks noGrp="1" noRot="1" noChangeAspect="1" noChangeArrowheads="1" noTextEdit="1"/>
          </p:cNvSpPr>
          <p:nvPr>
            <p:ph type="sldImg"/>
          </p:nvPr>
        </p:nvSpPr>
        <p:spPr>
          <a:xfrm>
            <a:off x="420688" y="701675"/>
            <a:ext cx="6262687" cy="3524250"/>
          </a:xfrm>
          <a:ln/>
        </p:spPr>
      </p:sp>
      <p:sp>
        <p:nvSpPr>
          <p:cNvPr id="21508" name="Rectangle 3"/>
          <p:cNvSpPr>
            <a:spLocks noGrp="1" noChangeArrowheads="1"/>
          </p:cNvSpPr>
          <p:nvPr>
            <p:ph type="body" idx="1"/>
          </p:nvPr>
        </p:nvSpPr>
        <p:spPr>
          <a:xfrm>
            <a:off x="946997" y="4461770"/>
            <a:ext cx="5208482" cy="422449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115" tIns="47558" rIns="95115" bIns="47558"/>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Review Slide:</a:t>
            </a:r>
            <a:r>
              <a:rPr lang="en-US" b="1" baseline="0" dirty="0" smtClean="0"/>
              <a:t> Note animations to reveal High and Low</a:t>
            </a:r>
          </a:p>
          <a:p>
            <a:endParaRPr lang="en-US" dirty="0" smtClean="0"/>
          </a:p>
        </p:txBody>
      </p:sp>
    </p:spTree>
    <p:extLst>
      <p:ext uri="{BB962C8B-B14F-4D97-AF65-F5344CB8AC3E}">
        <p14:creationId xmlns:p14="http://schemas.microsoft.com/office/powerpoint/2010/main" val="33065265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DE2951A5-F664-41C2-81B4-5593274E0605}" type="slidenum">
              <a:rPr lang="en-US" smtClean="0">
                <a:solidFill>
                  <a:prstClr val="black"/>
                </a:solidFill>
              </a:rPr>
              <a:pPr>
                <a:defRPr/>
              </a:pPr>
              <a:t>9</a:t>
            </a:fld>
            <a:endParaRPr lang="en-US" dirty="0" smtClean="0">
              <a:solidFill>
                <a:prstClr val="black"/>
              </a:solidFill>
            </a:endParaRPr>
          </a:p>
        </p:txBody>
      </p:sp>
      <p:sp>
        <p:nvSpPr>
          <p:cNvPr id="21507" name="Rectangle 2"/>
          <p:cNvSpPr>
            <a:spLocks noGrp="1" noRot="1" noChangeAspect="1" noChangeArrowheads="1" noTextEdit="1"/>
          </p:cNvSpPr>
          <p:nvPr>
            <p:ph type="sldImg"/>
          </p:nvPr>
        </p:nvSpPr>
        <p:spPr>
          <a:xfrm>
            <a:off x="420688" y="701675"/>
            <a:ext cx="6262687" cy="3524250"/>
          </a:xfrm>
          <a:ln/>
        </p:spPr>
      </p:sp>
      <p:sp>
        <p:nvSpPr>
          <p:cNvPr id="21508" name="Rectangle 3"/>
          <p:cNvSpPr>
            <a:spLocks noGrp="1" noChangeArrowheads="1"/>
          </p:cNvSpPr>
          <p:nvPr>
            <p:ph type="body" idx="1"/>
          </p:nvPr>
        </p:nvSpPr>
        <p:spPr>
          <a:xfrm>
            <a:off x="946997" y="4461770"/>
            <a:ext cx="5208482" cy="422449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115" tIns="47558" rIns="95115" bIns="47558"/>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Review Slide:</a:t>
            </a:r>
            <a:r>
              <a:rPr lang="en-US" b="1" baseline="0" dirty="0" smtClean="0"/>
              <a:t> Note animations to reveal High and Low</a:t>
            </a:r>
          </a:p>
          <a:p>
            <a:endParaRPr lang="en-US" dirty="0" smtClean="0"/>
          </a:p>
        </p:txBody>
      </p:sp>
    </p:spTree>
    <p:extLst>
      <p:ext uri="{BB962C8B-B14F-4D97-AF65-F5344CB8AC3E}">
        <p14:creationId xmlns:p14="http://schemas.microsoft.com/office/powerpoint/2010/main" val="8564858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0984AEF5-5D5A-468D-AE23-20EBE75FED7B}" type="slidenum">
              <a:rPr lang="en-US" smtClean="0">
                <a:solidFill>
                  <a:prstClr val="black"/>
                </a:solidFill>
              </a:rPr>
              <a:pPr>
                <a:defRPr/>
              </a:pPr>
              <a:t>10</a:t>
            </a:fld>
            <a:endParaRPr lang="en-US" dirty="0" smtClean="0">
              <a:solidFill>
                <a:prstClr val="black"/>
              </a:solidFill>
            </a:endParaRPr>
          </a:p>
        </p:txBody>
      </p:sp>
      <p:sp>
        <p:nvSpPr>
          <p:cNvPr id="22531" name="Rectangle 2"/>
          <p:cNvSpPr>
            <a:spLocks noGrp="1" noRot="1" noChangeAspect="1" noChangeArrowheads="1" noTextEdit="1"/>
          </p:cNvSpPr>
          <p:nvPr>
            <p:ph type="sldImg"/>
          </p:nvPr>
        </p:nvSpPr>
        <p:spPr>
          <a:xfrm>
            <a:off x="420688" y="701675"/>
            <a:ext cx="6262687" cy="3524250"/>
          </a:xfrm>
          <a:ln/>
        </p:spPr>
      </p:sp>
      <p:sp>
        <p:nvSpPr>
          <p:cNvPr id="22532" name="Rectangle 3"/>
          <p:cNvSpPr>
            <a:spLocks noGrp="1" noChangeArrowheads="1"/>
          </p:cNvSpPr>
          <p:nvPr>
            <p:ph type="body" idx="1"/>
          </p:nvPr>
        </p:nvSpPr>
        <p:spPr>
          <a:xfrm>
            <a:off x="946997" y="4461770"/>
            <a:ext cx="5208482" cy="422449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115" tIns="47558" rIns="95115" bIns="47558"/>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Review Slide:</a:t>
            </a:r>
            <a:r>
              <a:rPr lang="en-US" b="1" baseline="0" dirty="0" smtClean="0"/>
              <a:t> Note animations to reveal High and Low</a:t>
            </a:r>
          </a:p>
          <a:p>
            <a:endParaRPr lang="en-US" dirty="0" smtClean="0"/>
          </a:p>
        </p:txBody>
      </p:sp>
    </p:spTree>
    <p:extLst>
      <p:ext uri="{BB962C8B-B14F-4D97-AF65-F5344CB8AC3E}">
        <p14:creationId xmlns:p14="http://schemas.microsoft.com/office/powerpoint/2010/main" val="15052963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smtClean="0"/>
              <a:t>Assign a table or area of the</a:t>
            </a:r>
            <a:r>
              <a:rPr lang="en-US" b="0" baseline="0" dirty="0" smtClean="0"/>
              <a:t> room to each Motivation. Have participants hypothesize their greatest areas of influence, and move about the room according to what they anticipate as their most influential motivator, second most influential, and least influential motivator.</a:t>
            </a:r>
            <a:br>
              <a:rPr lang="en-US" b="0" baseline="0" dirty="0" smtClean="0"/>
            </a:br>
            <a:r>
              <a:rPr lang="en-US" b="0" baseline="0" dirty="0" smtClean="0"/>
              <a:t/>
            </a:r>
            <a:br>
              <a:rPr lang="en-US" b="0" baseline="0" dirty="0" smtClean="0"/>
            </a:br>
            <a:r>
              <a:rPr lang="en-US" b="0" baseline="0" dirty="0" smtClean="0"/>
              <a:t>Have participants note if there are groupings that seem more common than others and discuss the impact of having motivations that are similar and different for people.</a:t>
            </a:r>
          </a:p>
          <a:p>
            <a:r>
              <a:rPr lang="en-US" b="0" baseline="0" dirty="0" smtClean="0"/>
              <a:t>Return to original seats.</a:t>
            </a:r>
            <a:endParaRPr lang="en-US" b="0" dirty="0"/>
          </a:p>
        </p:txBody>
      </p:sp>
      <p:sp>
        <p:nvSpPr>
          <p:cNvPr id="4" name="Slide Number Placeholder 3"/>
          <p:cNvSpPr>
            <a:spLocks noGrp="1"/>
          </p:cNvSpPr>
          <p:nvPr>
            <p:ph type="sldNum" sz="quarter" idx="10"/>
          </p:nvPr>
        </p:nvSpPr>
        <p:spPr/>
        <p:txBody>
          <a:bodyPr/>
          <a:lstStyle/>
          <a:p>
            <a:fld id="{FA9A222A-7EE5-461B-AB51-4E1740066219}" type="slidenum">
              <a:rPr lang="en-US" smtClean="0"/>
              <a:t>11</a:t>
            </a:fld>
            <a:endParaRPr lang="en-US"/>
          </a:p>
        </p:txBody>
      </p:sp>
    </p:spTree>
    <p:extLst>
      <p:ext uri="{BB962C8B-B14F-4D97-AF65-F5344CB8AC3E}">
        <p14:creationId xmlns:p14="http://schemas.microsoft.com/office/powerpoint/2010/main" val="21665765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TWO</a:t>
            </a:r>
            <a:r>
              <a:rPr lang="en-US" b="1" baseline="0" dirty="0" smtClean="0"/>
              <a:t> OPTIONS:</a:t>
            </a:r>
            <a:endParaRPr lang="en-US" b="1" dirty="0" smtClean="0"/>
          </a:p>
          <a:p>
            <a:r>
              <a:rPr lang="en-US" b="0" dirty="0" smtClean="0"/>
              <a:t>1. Each person</a:t>
            </a:r>
            <a:r>
              <a:rPr lang="en-US" b="0" baseline="0" dirty="0" smtClean="0"/>
              <a:t> individually</a:t>
            </a:r>
            <a:r>
              <a:rPr lang="en-US" b="0" dirty="0" smtClean="0"/>
              <a:t> - List</a:t>
            </a:r>
            <a:r>
              <a:rPr lang="en-US" b="0" baseline="0" dirty="0" smtClean="0"/>
              <a:t> the members of the team, including yourself, and identify each person’s primary and secondary motivator based on your own guess.</a:t>
            </a:r>
          </a:p>
          <a:p>
            <a:r>
              <a:rPr lang="en-US" b="0" baseline="0" dirty="0" smtClean="0"/>
              <a:t>Then make a list of ways to better engage each team member based on his or her primary and secondary drivers. </a:t>
            </a:r>
          </a:p>
          <a:p>
            <a:endParaRPr lang="en-US" b="0" baseline="0" dirty="0" smtClean="0"/>
          </a:p>
          <a:p>
            <a:r>
              <a:rPr lang="en-US" b="0" baseline="0" dirty="0" smtClean="0"/>
              <a:t>2. As a team, identify each person’s most influential motivators (noting where there may be supporting motivators that strengthen another dimension i.e. High ECO and High POL) . The work as a team to identify the ways to best engage other team members, either individually or as a full group, to be sure that the needs of each person are met, and that each person has the opportunity to embrace their motivators/values within the team.</a:t>
            </a:r>
            <a:endParaRPr lang="en-US" b="0" dirty="0"/>
          </a:p>
        </p:txBody>
      </p:sp>
      <p:sp>
        <p:nvSpPr>
          <p:cNvPr id="4" name="Slide Number Placeholder 3"/>
          <p:cNvSpPr>
            <a:spLocks noGrp="1"/>
          </p:cNvSpPr>
          <p:nvPr>
            <p:ph type="sldNum" sz="quarter" idx="10"/>
          </p:nvPr>
        </p:nvSpPr>
        <p:spPr/>
        <p:txBody>
          <a:bodyPr/>
          <a:lstStyle/>
          <a:p>
            <a:fld id="{FA9A222A-7EE5-461B-AB51-4E1740066219}" type="slidenum">
              <a:rPr lang="en-US" smtClean="0"/>
              <a:t>12</a:t>
            </a:fld>
            <a:endParaRPr lang="en-US"/>
          </a:p>
        </p:txBody>
      </p:sp>
    </p:spTree>
    <p:extLst>
      <p:ext uri="{BB962C8B-B14F-4D97-AF65-F5344CB8AC3E}">
        <p14:creationId xmlns:p14="http://schemas.microsoft.com/office/powerpoint/2010/main" val="4775178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smtClean="0"/>
              <a:t>Find one</a:t>
            </a:r>
            <a:r>
              <a:rPr lang="en-US" b="0" baseline="0" dirty="0" smtClean="0"/>
              <a:t> quote for each Motivator that exemplifies the HIGH scores of each style. Place around the room, and have the participants take a moment to review all quotes and choose the quote that best “fits” or resonates the most with them. Talk about each of the quotes, how they represent that motivator and what characteristics can be seen in the quote for each motivator.</a:t>
            </a:r>
          </a:p>
          <a:p>
            <a:endParaRPr lang="en-US" b="0" baseline="0" dirty="0" smtClean="0"/>
          </a:p>
          <a:p>
            <a:r>
              <a:rPr lang="en-US" b="0" baseline="0" dirty="0" smtClean="0"/>
              <a:t>Example Quotes:</a:t>
            </a:r>
          </a:p>
          <a:p>
            <a:endParaRPr lang="en-US" b="0" baseline="0" dirty="0" smtClean="0"/>
          </a:p>
          <a:p>
            <a:r>
              <a:rPr lang="en-US" sz="1200" b="1" kern="1200" dirty="0" smtClean="0">
                <a:solidFill>
                  <a:schemeClr val="tx1"/>
                </a:solidFill>
                <a:effectLst/>
                <a:latin typeface="+mn-lt"/>
                <a:ea typeface="+mn-ea"/>
                <a:cs typeface="+mn-cs"/>
              </a:rPr>
              <a:t>Aesthetic </a:t>
            </a:r>
            <a:r>
              <a:rPr lang="en-US" sz="1200" kern="1200" dirty="0" smtClean="0">
                <a:solidFill>
                  <a:schemeClr val="tx1"/>
                </a:solidFill>
                <a:effectLst/>
                <a:latin typeface="+mn-lt"/>
                <a:ea typeface="+mn-ea"/>
                <a:cs typeface="+mn-cs"/>
              </a:rPr>
              <a:t>- </a:t>
            </a:r>
            <a:r>
              <a:rPr lang="en-US" dirty="0" smtClean="0"/>
              <a:t>A time for everything: A time to relax and a time to be busy, a time to frolic and a time to labor, a time to receive and a time to give, a time to begin and a time to finish.  </a:t>
            </a:r>
            <a:r>
              <a:rPr lang="en-US" i="1" dirty="0" smtClean="0"/>
              <a:t>Jonathan Lockwood </a:t>
            </a:r>
            <a:r>
              <a:rPr lang="en-US" i="1" dirty="0" err="1" smtClean="0"/>
              <a:t>Huie</a:t>
            </a:r>
            <a:r>
              <a:rPr lang="en-US" i="1" dirty="0" smtClean="0"/>
              <a:t/>
            </a:r>
            <a:br>
              <a:rPr lang="en-US" i="1" dirty="0" smtClean="0"/>
            </a:br>
            <a:endParaRPr lang="en-US" dirty="0" smtClean="0"/>
          </a:p>
          <a:p>
            <a:pPr lvl="0"/>
            <a:r>
              <a:rPr lang="en-US" sz="1200" b="1" kern="1200" dirty="0" smtClean="0">
                <a:solidFill>
                  <a:schemeClr val="tx1"/>
                </a:solidFill>
                <a:effectLst/>
                <a:latin typeface="+mn-lt"/>
                <a:ea typeface="+mn-ea"/>
                <a:cs typeface="+mn-cs"/>
              </a:rPr>
              <a:t>Economic -</a:t>
            </a:r>
            <a:r>
              <a:rPr lang="en-US" sz="1200" kern="1200" dirty="0" smtClean="0">
                <a:solidFill>
                  <a:schemeClr val="tx1"/>
                </a:solidFill>
                <a:effectLst/>
                <a:latin typeface="+mn-lt"/>
                <a:ea typeface="+mn-ea"/>
                <a:cs typeface="+mn-cs"/>
              </a:rPr>
              <a:t> </a:t>
            </a:r>
            <a:r>
              <a:rPr lang="en-US" dirty="0" smtClean="0">
                <a:effectLst/>
              </a:rPr>
              <a:t>Investment is crucial. Because the truth is, you only get jobs and growth in the economy when people invest money, at their own risk, in setting up a business or expanding an existing business. </a:t>
            </a:r>
            <a:r>
              <a:rPr lang="en-US" i="1" dirty="0" smtClean="0">
                <a:effectLst/>
              </a:rPr>
              <a:t>John Key</a:t>
            </a:r>
            <a:br>
              <a:rPr lang="en-US" i="1" dirty="0" smtClean="0">
                <a:effectLst/>
              </a:rPr>
            </a:br>
            <a:r>
              <a:rPr lang="en-US" i="1" dirty="0" smtClean="0">
                <a:effectLst/>
              </a:rPr>
              <a:t/>
            </a:r>
            <a:br>
              <a:rPr lang="en-US" i="1" dirty="0" smtClean="0">
                <a:effectLst/>
              </a:rPr>
            </a:br>
            <a:r>
              <a:rPr lang="en-US" sz="1200" b="1" kern="1200" dirty="0" smtClean="0">
                <a:solidFill>
                  <a:schemeClr val="tx1"/>
                </a:solidFill>
                <a:effectLst/>
                <a:latin typeface="+mn-lt"/>
                <a:ea typeface="+mn-ea"/>
                <a:cs typeface="+mn-cs"/>
              </a:rPr>
              <a:t>Individualistic </a:t>
            </a:r>
            <a:r>
              <a:rPr lang="en-US" sz="1200" kern="1200" dirty="0" smtClean="0">
                <a:solidFill>
                  <a:schemeClr val="tx1"/>
                </a:solidFill>
                <a:effectLst/>
                <a:latin typeface="+mn-lt"/>
                <a:ea typeface="+mn-ea"/>
                <a:cs typeface="+mn-cs"/>
              </a:rPr>
              <a:t>- </a:t>
            </a:r>
            <a:r>
              <a:rPr lang="en-US" dirty="0" smtClean="0">
                <a:effectLst/>
              </a:rPr>
              <a:t>…every single person is unique, and every single person has special things to offer, and it's about embracing it and not being afraid of the fact that maybe you're different or quirky, but it's okay to be different, and it can be a wonderful thing. </a:t>
            </a:r>
            <a:r>
              <a:rPr lang="en-US" i="1" dirty="0" smtClean="0">
                <a:effectLst/>
              </a:rPr>
              <a:t>Lindsey </a:t>
            </a:r>
            <a:r>
              <a:rPr lang="en-US" i="1" dirty="0" err="1" smtClean="0">
                <a:effectLst/>
              </a:rPr>
              <a:t>Stirling</a:t>
            </a:r>
            <a:r>
              <a:rPr lang="en-US" i="1" dirty="0" smtClean="0">
                <a:effectLst/>
              </a:rPr>
              <a:t/>
            </a:r>
            <a:br>
              <a:rPr lang="en-US" i="1" dirty="0" smtClean="0">
                <a:effectLst/>
              </a:rPr>
            </a:br>
            <a:endParaRPr lang="en-US" i="1" dirty="0" smtClean="0">
              <a:effectLst/>
            </a:endParaRPr>
          </a:p>
          <a:p>
            <a:pPr lvl="0"/>
            <a:r>
              <a:rPr lang="en-US" sz="1200" b="1" kern="1200" dirty="0" smtClean="0">
                <a:solidFill>
                  <a:schemeClr val="tx1"/>
                </a:solidFill>
                <a:effectLst/>
                <a:latin typeface="+mn-lt"/>
                <a:ea typeface="+mn-ea"/>
                <a:cs typeface="+mn-cs"/>
              </a:rPr>
              <a:t>Politica</a:t>
            </a:r>
            <a:r>
              <a:rPr lang="en-US" sz="1200" kern="1200" dirty="0" smtClean="0">
                <a:solidFill>
                  <a:schemeClr val="tx1"/>
                </a:solidFill>
                <a:effectLst/>
                <a:latin typeface="+mn-lt"/>
                <a:ea typeface="+mn-ea"/>
                <a:cs typeface="+mn-cs"/>
              </a:rPr>
              <a:t>l - </a:t>
            </a:r>
            <a:r>
              <a:rPr lang="en-US" dirty="0" smtClean="0">
                <a:effectLst/>
              </a:rPr>
              <a:t>Leadership is a matter of having people look at you and gain confidence, seeing how you react. If you're in control, they're in control. </a:t>
            </a:r>
            <a:r>
              <a:rPr lang="en-US" i="1" dirty="0" smtClean="0">
                <a:effectLst/>
              </a:rPr>
              <a:t>Tom Landry</a:t>
            </a:r>
            <a:r>
              <a:rPr lang="en-US" dirty="0" smtClean="0">
                <a:effectLst/>
              </a:rPr>
              <a:t/>
            </a:r>
            <a:br>
              <a:rPr lang="en-US" dirty="0" smtClean="0">
                <a:effectLst/>
              </a:rPr>
            </a:br>
            <a:endParaRPr lang="en-US" dirty="0" smtClean="0">
              <a:effectLst/>
            </a:endParaRPr>
          </a:p>
          <a:p>
            <a:pPr lvl="0"/>
            <a:r>
              <a:rPr lang="en-US" sz="1200" b="1" kern="1200" dirty="0" smtClean="0">
                <a:solidFill>
                  <a:schemeClr val="tx1"/>
                </a:solidFill>
                <a:effectLst/>
                <a:latin typeface="+mn-lt"/>
                <a:ea typeface="+mn-ea"/>
                <a:cs typeface="+mn-cs"/>
              </a:rPr>
              <a:t>Altruistic</a:t>
            </a:r>
            <a:r>
              <a:rPr lang="en-US" sz="1200" kern="1200" dirty="0" smtClean="0">
                <a:solidFill>
                  <a:schemeClr val="tx1"/>
                </a:solidFill>
                <a:effectLst/>
                <a:latin typeface="+mn-lt"/>
                <a:ea typeface="+mn-ea"/>
                <a:cs typeface="+mn-cs"/>
              </a:rPr>
              <a:t> - </a:t>
            </a:r>
            <a:r>
              <a:rPr lang="en-US" dirty="0" smtClean="0">
                <a:effectLst/>
              </a:rPr>
              <a:t>Beginning today, treat everyone you meet as if they were going to be dead by midnight. Extend to them all the care, kindness and understanding you can muster, and do it with no thought of any reward. Your life will never be the same again. </a:t>
            </a:r>
            <a:r>
              <a:rPr lang="en-US" i="1" dirty="0" err="1" smtClean="0">
                <a:effectLst/>
              </a:rPr>
              <a:t>Og</a:t>
            </a:r>
            <a:r>
              <a:rPr lang="en-US" i="1" dirty="0" smtClean="0">
                <a:effectLst/>
              </a:rPr>
              <a:t> </a:t>
            </a:r>
            <a:r>
              <a:rPr lang="en-US" i="1" dirty="0" err="1" smtClean="0">
                <a:effectLst/>
              </a:rPr>
              <a:t>Mandino</a:t>
            </a:r>
            <a:r>
              <a:rPr lang="en-US" dirty="0" smtClean="0">
                <a:effectLst/>
              </a:rPr>
              <a:t/>
            </a:r>
            <a:br>
              <a:rPr lang="en-US" dirty="0" smtClean="0">
                <a:effectLst/>
              </a:rPr>
            </a:br>
            <a:endParaRPr lang="en-US" dirty="0" smtClean="0">
              <a:effectLst/>
            </a:endParaRPr>
          </a:p>
          <a:p>
            <a:pPr lvl="0"/>
            <a:r>
              <a:rPr lang="en-US" sz="1200" b="1" kern="1200" dirty="0" smtClean="0">
                <a:solidFill>
                  <a:schemeClr val="tx1"/>
                </a:solidFill>
                <a:effectLst/>
                <a:latin typeface="+mn-lt"/>
                <a:ea typeface="+mn-ea"/>
                <a:cs typeface="+mn-cs"/>
              </a:rPr>
              <a:t>Regulatory</a:t>
            </a:r>
            <a:r>
              <a:rPr lang="en-US" sz="1200" kern="1200" dirty="0" smtClean="0">
                <a:solidFill>
                  <a:schemeClr val="tx1"/>
                </a:solidFill>
                <a:effectLst/>
                <a:latin typeface="+mn-lt"/>
                <a:ea typeface="+mn-ea"/>
                <a:cs typeface="+mn-cs"/>
              </a:rPr>
              <a:t> - </a:t>
            </a:r>
            <a:r>
              <a:rPr lang="en-US" dirty="0" smtClean="0">
                <a:effectLst/>
              </a:rPr>
              <a:t>I am sure there is a right way and a wrong way and in today's life, there are many different rules… </a:t>
            </a:r>
            <a:r>
              <a:rPr lang="en-US" i="1" dirty="0" smtClean="0">
                <a:effectLst/>
              </a:rPr>
              <a:t>Mike Singletary</a:t>
            </a:r>
          </a:p>
          <a:p>
            <a:pPr lvl="0"/>
            <a:endParaRPr lang="en-US" sz="1200" b="1"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Theoretical </a:t>
            </a:r>
            <a:r>
              <a:rPr lang="en-US" sz="1200" kern="1200" dirty="0" smtClean="0">
                <a:solidFill>
                  <a:schemeClr val="tx1"/>
                </a:solidFill>
                <a:effectLst/>
                <a:latin typeface="+mn-lt"/>
                <a:ea typeface="+mn-ea"/>
                <a:cs typeface="+mn-cs"/>
              </a:rPr>
              <a:t>–An</a:t>
            </a:r>
            <a:r>
              <a:rPr lang="en-US" sz="1200" kern="1200" baseline="0" dirty="0" smtClean="0">
                <a:solidFill>
                  <a:schemeClr val="tx1"/>
                </a:solidFill>
                <a:effectLst/>
                <a:latin typeface="+mn-lt"/>
                <a:ea typeface="+mn-ea"/>
                <a:cs typeface="+mn-cs"/>
              </a:rPr>
              <a:t> investment in knowledge pays the best interest. </a:t>
            </a:r>
            <a:r>
              <a:rPr lang="en-US" sz="1200" i="1" kern="1200" baseline="0" dirty="0" smtClean="0">
                <a:solidFill>
                  <a:schemeClr val="tx1"/>
                </a:solidFill>
                <a:effectLst/>
                <a:latin typeface="+mn-lt"/>
                <a:ea typeface="+mn-ea"/>
                <a:cs typeface="+mn-cs"/>
              </a:rPr>
              <a:t>Benjamin Franklin</a:t>
            </a:r>
            <a:endParaRPr lang="en-US" sz="1200" kern="1200" dirty="0" smtClean="0">
              <a:solidFill>
                <a:schemeClr val="tx1"/>
              </a:solidFill>
              <a:effectLst/>
              <a:latin typeface="+mn-lt"/>
              <a:ea typeface="+mn-ea"/>
              <a:cs typeface="+mn-cs"/>
            </a:endParaRPr>
          </a:p>
          <a:p>
            <a:endParaRPr lang="en-US" b="0" dirty="0"/>
          </a:p>
        </p:txBody>
      </p:sp>
      <p:sp>
        <p:nvSpPr>
          <p:cNvPr id="4" name="Slide Number Placeholder 3"/>
          <p:cNvSpPr>
            <a:spLocks noGrp="1"/>
          </p:cNvSpPr>
          <p:nvPr>
            <p:ph type="sldNum" sz="quarter" idx="10"/>
          </p:nvPr>
        </p:nvSpPr>
        <p:spPr/>
        <p:txBody>
          <a:bodyPr/>
          <a:lstStyle/>
          <a:p>
            <a:fld id="{FA9A222A-7EE5-461B-AB51-4E1740066219}" type="slidenum">
              <a:rPr lang="en-US" smtClean="0"/>
              <a:t>13</a:t>
            </a:fld>
            <a:endParaRPr lang="en-US"/>
          </a:p>
        </p:txBody>
      </p:sp>
    </p:spTree>
    <p:extLst>
      <p:ext uri="{BB962C8B-B14F-4D97-AF65-F5344CB8AC3E}">
        <p14:creationId xmlns:p14="http://schemas.microsoft.com/office/powerpoint/2010/main" val="20474846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2DED286-BA65-4208-B535-1F1458390F3E}" type="datetime1">
              <a:rPr lang="en-US" smtClean="0"/>
              <a:t>3/20/2017</a:t>
            </a:fld>
            <a:endParaRPr lang="en-US"/>
          </a:p>
        </p:txBody>
      </p:sp>
      <p:sp>
        <p:nvSpPr>
          <p:cNvPr id="5" name="Footer Placeholder 4"/>
          <p:cNvSpPr>
            <a:spLocks noGrp="1"/>
          </p:cNvSpPr>
          <p:nvPr>
            <p:ph type="ftr" sz="quarter" idx="11"/>
          </p:nvPr>
        </p:nvSpPr>
        <p:spPr/>
        <p:txBody>
          <a:bodyPr/>
          <a:lstStyle/>
          <a:p>
            <a:r>
              <a:rPr lang="en-US" smtClean="0"/>
              <a:t>©2016 Assessments 24X7</a:t>
            </a:r>
            <a:endParaRPr lang="en-US"/>
          </a:p>
        </p:txBody>
      </p:sp>
      <p:sp>
        <p:nvSpPr>
          <p:cNvPr id="6" name="Slide Number Placeholder 5"/>
          <p:cNvSpPr>
            <a:spLocks noGrp="1"/>
          </p:cNvSpPr>
          <p:nvPr>
            <p:ph type="sldNum" sz="quarter" idx="12"/>
          </p:nvPr>
        </p:nvSpPr>
        <p:spPr/>
        <p:txBody>
          <a:bodyPr/>
          <a:lstStyle/>
          <a:p>
            <a:fld id="{35D9512D-810D-489D-B4F3-0792CA04F52C}" type="slidenum">
              <a:rPr lang="en-US" smtClean="0"/>
              <a:t>‹#›</a:t>
            </a:fld>
            <a:endParaRPr lang="en-US"/>
          </a:p>
        </p:txBody>
      </p:sp>
    </p:spTree>
    <p:extLst>
      <p:ext uri="{BB962C8B-B14F-4D97-AF65-F5344CB8AC3E}">
        <p14:creationId xmlns:p14="http://schemas.microsoft.com/office/powerpoint/2010/main" val="25624250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C33C1EF-E1A6-46B7-87EA-DFDCA8631C95}" type="datetime1">
              <a:rPr lang="en-US" smtClean="0"/>
              <a:t>3/20/2017</a:t>
            </a:fld>
            <a:endParaRPr lang="en-US"/>
          </a:p>
        </p:txBody>
      </p:sp>
      <p:sp>
        <p:nvSpPr>
          <p:cNvPr id="5" name="Footer Placeholder 4"/>
          <p:cNvSpPr>
            <a:spLocks noGrp="1"/>
          </p:cNvSpPr>
          <p:nvPr>
            <p:ph type="ftr" sz="quarter" idx="11"/>
          </p:nvPr>
        </p:nvSpPr>
        <p:spPr/>
        <p:txBody>
          <a:bodyPr/>
          <a:lstStyle/>
          <a:p>
            <a:r>
              <a:rPr lang="en-US" smtClean="0"/>
              <a:t>©2016 Assessments 24X7</a:t>
            </a:r>
            <a:endParaRPr lang="en-US"/>
          </a:p>
        </p:txBody>
      </p:sp>
      <p:sp>
        <p:nvSpPr>
          <p:cNvPr id="6" name="Slide Number Placeholder 5"/>
          <p:cNvSpPr>
            <a:spLocks noGrp="1"/>
          </p:cNvSpPr>
          <p:nvPr>
            <p:ph type="sldNum" sz="quarter" idx="12"/>
          </p:nvPr>
        </p:nvSpPr>
        <p:spPr/>
        <p:txBody>
          <a:bodyPr/>
          <a:lstStyle/>
          <a:p>
            <a:fld id="{35D9512D-810D-489D-B4F3-0792CA04F52C}" type="slidenum">
              <a:rPr lang="en-US" smtClean="0"/>
              <a:t>‹#›</a:t>
            </a:fld>
            <a:endParaRPr lang="en-US"/>
          </a:p>
        </p:txBody>
      </p:sp>
    </p:spTree>
    <p:extLst>
      <p:ext uri="{BB962C8B-B14F-4D97-AF65-F5344CB8AC3E}">
        <p14:creationId xmlns:p14="http://schemas.microsoft.com/office/powerpoint/2010/main" val="1342818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20A373-CD05-4370-B778-4C83B63112B1}" type="datetime1">
              <a:rPr lang="en-US" smtClean="0"/>
              <a:t>3/20/2017</a:t>
            </a:fld>
            <a:endParaRPr lang="en-US"/>
          </a:p>
        </p:txBody>
      </p:sp>
      <p:sp>
        <p:nvSpPr>
          <p:cNvPr id="5" name="Footer Placeholder 4"/>
          <p:cNvSpPr>
            <a:spLocks noGrp="1"/>
          </p:cNvSpPr>
          <p:nvPr>
            <p:ph type="ftr" sz="quarter" idx="11"/>
          </p:nvPr>
        </p:nvSpPr>
        <p:spPr/>
        <p:txBody>
          <a:bodyPr/>
          <a:lstStyle/>
          <a:p>
            <a:r>
              <a:rPr lang="en-US" smtClean="0"/>
              <a:t>©2016 Assessments 24X7</a:t>
            </a:r>
            <a:endParaRPr lang="en-US"/>
          </a:p>
        </p:txBody>
      </p:sp>
      <p:sp>
        <p:nvSpPr>
          <p:cNvPr id="6" name="Slide Number Placeholder 5"/>
          <p:cNvSpPr>
            <a:spLocks noGrp="1"/>
          </p:cNvSpPr>
          <p:nvPr>
            <p:ph type="sldNum" sz="quarter" idx="12"/>
          </p:nvPr>
        </p:nvSpPr>
        <p:spPr/>
        <p:txBody>
          <a:bodyPr/>
          <a:lstStyle/>
          <a:p>
            <a:fld id="{35D9512D-810D-489D-B4F3-0792CA04F52C}" type="slidenum">
              <a:rPr lang="en-US" smtClean="0"/>
              <a:t>‹#›</a:t>
            </a:fld>
            <a:endParaRPr lang="en-US"/>
          </a:p>
        </p:txBody>
      </p:sp>
    </p:spTree>
    <p:extLst>
      <p:ext uri="{BB962C8B-B14F-4D97-AF65-F5344CB8AC3E}">
        <p14:creationId xmlns:p14="http://schemas.microsoft.com/office/powerpoint/2010/main" val="2804619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2B9C23D-B0CB-4A01-AAB6-266F5BCC508C}" type="datetime1">
              <a:rPr lang="en-US" smtClean="0"/>
              <a:t>3/20/2017</a:t>
            </a:fld>
            <a:endParaRPr lang="en-US"/>
          </a:p>
        </p:txBody>
      </p:sp>
      <p:sp>
        <p:nvSpPr>
          <p:cNvPr id="6" name="Footer Placeholder 5"/>
          <p:cNvSpPr>
            <a:spLocks noGrp="1"/>
          </p:cNvSpPr>
          <p:nvPr>
            <p:ph type="ftr" sz="quarter" idx="11"/>
          </p:nvPr>
        </p:nvSpPr>
        <p:spPr/>
        <p:txBody>
          <a:bodyPr/>
          <a:lstStyle/>
          <a:p>
            <a:r>
              <a:rPr lang="en-US" smtClean="0"/>
              <a:t>©2016 Assessments 24X7</a:t>
            </a:r>
            <a:endParaRPr lang="en-US"/>
          </a:p>
        </p:txBody>
      </p:sp>
      <p:sp>
        <p:nvSpPr>
          <p:cNvPr id="7" name="Slide Number Placeholder 6"/>
          <p:cNvSpPr>
            <a:spLocks noGrp="1"/>
          </p:cNvSpPr>
          <p:nvPr>
            <p:ph type="sldNum" sz="quarter" idx="12"/>
          </p:nvPr>
        </p:nvSpPr>
        <p:spPr/>
        <p:txBody>
          <a:bodyPr/>
          <a:lstStyle/>
          <a:p>
            <a:fld id="{35D9512D-810D-489D-B4F3-0792CA04F52C}" type="slidenum">
              <a:rPr lang="en-US" smtClean="0"/>
              <a:t>‹#›</a:t>
            </a:fld>
            <a:endParaRPr lang="en-US"/>
          </a:p>
        </p:txBody>
      </p:sp>
    </p:spTree>
    <p:extLst>
      <p:ext uri="{BB962C8B-B14F-4D97-AF65-F5344CB8AC3E}">
        <p14:creationId xmlns:p14="http://schemas.microsoft.com/office/powerpoint/2010/main" val="2811776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8F86A2C-AC5E-4279-B58C-D8416C406737}" type="datetime1">
              <a:rPr lang="en-US" smtClean="0"/>
              <a:t>3/20/2017</a:t>
            </a:fld>
            <a:endParaRPr lang="en-US"/>
          </a:p>
        </p:txBody>
      </p:sp>
      <p:sp>
        <p:nvSpPr>
          <p:cNvPr id="8" name="Footer Placeholder 7"/>
          <p:cNvSpPr>
            <a:spLocks noGrp="1"/>
          </p:cNvSpPr>
          <p:nvPr>
            <p:ph type="ftr" sz="quarter" idx="11"/>
          </p:nvPr>
        </p:nvSpPr>
        <p:spPr/>
        <p:txBody>
          <a:bodyPr/>
          <a:lstStyle/>
          <a:p>
            <a:r>
              <a:rPr lang="en-US" smtClean="0"/>
              <a:t>©2016 Assessments 24X7</a:t>
            </a:r>
            <a:endParaRPr lang="en-US"/>
          </a:p>
        </p:txBody>
      </p:sp>
      <p:sp>
        <p:nvSpPr>
          <p:cNvPr id="9" name="Slide Number Placeholder 8"/>
          <p:cNvSpPr>
            <a:spLocks noGrp="1"/>
          </p:cNvSpPr>
          <p:nvPr>
            <p:ph type="sldNum" sz="quarter" idx="12"/>
          </p:nvPr>
        </p:nvSpPr>
        <p:spPr/>
        <p:txBody>
          <a:bodyPr/>
          <a:lstStyle/>
          <a:p>
            <a:fld id="{35D9512D-810D-489D-B4F3-0792CA04F52C}" type="slidenum">
              <a:rPr lang="en-US" smtClean="0"/>
              <a:t>‹#›</a:t>
            </a:fld>
            <a:endParaRPr lang="en-US"/>
          </a:p>
        </p:txBody>
      </p:sp>
    </p:spTree>
    <p:extLst>
      <p:ext uri="{BB962C8B-B14F-4D97-AF65-F5344CB8AC3E}">
        <p14:creationId xmlns:p14="http://schemas.microsoft.com/office/powerpoint/2010/main" val="1295503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924FFAA-C761-4291-8137-9A1DCC352337}" type="datetime1">
              <a:rPr lang="en-US" smtClean="0"/>
              <a:t>3/20/2017</a:t>
            </a:fld>
            <a:endParaRPr lang="en-US"/>
          </a:p>
        </p:txBody>
      </p:sp>
      <p:sp>
        <p:nvSpPr>
          <p:cNvPr id="4" name="Footer Placeholder 3"/>
          <p:cNvSpPr>
            <a:spLocks noGrp="1"/>
          </p:cNvSpPr>
          <p:nvPr>
            <p:ph type="ftr" sz="quarter" idx="11"/>
          </p:nvPr>
        </p:nvSpPr>
        <p:spPr/>
        <p:txBody>
          <a:bodyPr/>
          <a:lstStyle/>
          <a:p>
            <a:r>
              <a:rPr lang="en-US" smtClean="0"/>
              <a:t>©2016 Assessments 24X7</a:t>
            </a:r>
            <a:endParaRPr lang="en-US"/>
          </a:p>
        </p:txBody>
      </p:sp>
      <p:sp>
        <p:nvSpPr>
          <p:cNvPr id="5" name="Slide Number Placeholder 4"/>
          <p:cNvSpPr>
            <a:spLocks noGrp="1"/>
          </p:cNvSpPr>
          <p:nvPr>
            <p:ph type="sldNum" sz="quarter" idx="12"/>
          </p:nvPr>
        </p:nvSpPr>
        <p:spPr/>
        <p:txBody>
          <a:bodyPr/>
          <a:lstStyle/>
          <a:p>
            <a:fld id="{35D9512D-810D-489D-B4F3-0792CA04F52C}" type="slidenum">
              <a:rPr lang="en-US" smtClean="0"/>
              <a:t>‹#›</a:t>
            </a:fld>
            <a:endParaRPr lang="en-US"/>
          </a:p>
        </p:txBody>
      </p:sp>
    </p:spTree>
    <p:extLst>
      <p:ext uri="{BB962C8B-B14F-4D97-AF65-F5344CB8AC3E}">
        <p14:creationId xmlns:p14="http://schemas.microsoft.com/office/powerpoint/2010/main" val="4179342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1017BA-2B6F-4356-BA1E-1030289959B5}" type="datetime1">
              <a:rPr lang="en-US" smtClean="0"/>
              <a:t>3/20/2017</a:t>
            </a:fld>
            <a:endParaRPr lang="en-US"/>
          </a:p>
        </p:txBody>
      </p:sp>
      <p:sp>
        <p:nvSpPr>
          <p:cNvPr id="3" name="Footer Placeholder 2"/>
          <p:cNvSpPr>
            <a:spLocks noGrp="1"/>
          </p:cNvSpPr>
          <p:nvPr>
            <p:ph type="ftr" sz="quarter" idx="11"/>
          </p:nvPr>
        </p:nvSpPr>
        <p:spPr/>
        <p:txBody>
          <a:bodyPr/>
          <a:lstStyle/>
          <a:p>
            <a:r>
              <a:rPr lang="en-US" smtClean="0"/>
              <a:t>©2016 Assessments 24X7</a:t>
            </a:r>
            <a:endParaRPr lang="en-US"/>
          </a:p>
        </p:txBody>
      </p:sp>
      <p:sp>
        <p:nvSpPr>
          <p:cNvPr id="4" name="Slide Number Placeholder 3"/>
          <p:cNvSpPr>
            <a:spLocks noGrp="1"/>
          </p:cNvSpPr>
          <p:nvPr>
            <p:ph type="sldNum" sz="quarter" idx="12"/>
          </p:nvPr>
        </p:nvSpPr>
        <p:spPr/>
        <p:txBody>
          <a:bodyPr/>
          <a:lstStyle/>
          <a:p>
            <a:fld id="{35D9512D-810D-489D-B4F3-0792CA04F52C}" type="slidenum">
              <a:rPr lang="en-US" smtClean="0"/>
              <a:t>‹#›</a:t>
            </a:fld>
            <a:endParaRPr lang="en-US"/>
          </a:p>
        </p:txBody>
      </p:sp>
    </p:spTree>
    <p:extLst>
      <p:ext uri="{BB962C8B-B14F-4D97-AF65-F5344CB8AC3E}">
        <p14:creationId xmlns:p14="http://schemas.microsoft.com/office/powerpoint/2010/main" val="28064597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DE821E0-D61A-4584-95FC-5EEEAD2BF0E3}" type="datetime1">
              <a:rPr lang="en-US" smtClean="0"/>
              <a:t>3/20/2017</a:t>
            </a:fld>
            <a:endParaRPr lang="en-US"/>
          </a:p>
        </p:txBody>
      </p:sp>
      <p:sp>
        <p:nvSpPr>
          <p:cNvPr id="6" name="Footer Placeholder 5"/>
          <p:cNvSpPr>
            <a:spLocks noGrp="1"/>
          </p:cNvSpPr>
          <p:nvPr>
            <p:ph type="ftr" sz="quarter" idx="11"/>
          </p:nvPr>
        </p:nvSpPr>
        <p:spPr/>
        <p:txBody>
          <a:bodyPr/>
          <a:lstStyle/>
          <a:p>
            <a:r>
              <a:rPr lang="en-US" smtClean="0"/>
              <a:t>©2016 Assessments 24X7</a:t>
            </a:r>
            <a:endParaRPr lang="en-US"/>
          </a:p>
        </p:txBody>
      </p:sp>
      <p:sp>
        <p:nvSpPr>
          <p:cNvPr id="7" name="Slide Number Placeholder 6"/>
          <p:cNvSpPr>
            <a:spLocks noGrp="1"/>
          </p:cNvSpPr>
          <p:nvPr>
            <p:ph type="sldNum" sz="quarter" idx="12"/>
          </p:nvPr>
        </p:nvSpPr>
        <p:spPr/>
        <p:txBody>
          <a:bodyPr/>
          <a:lstStyle/>
          <a:p>
            <a:fld id="{35D9512D-810D-489D-B4F3-0792CA04F52C}" type="slidenum">
              <a:rPr lang="en-US" smtClean="0"/>
              <a:t>‹#›</a:t>
            </a:fld>
            <a:endParaRPr lang="en-US"/>
          </a:p>
        </p:txBody>
      </p:sp>
    </p:spTree>
    <p:extLst>
      <p:ext uri="{BB962C8B-B14F-4D97-AF65-F5344CB8AC3E}">
        <p14:creationId xmlns:p14="http://schemas.microsoft.com/office/powerpoint/2010/main" val="3646670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CA3CC52-05E0-4588-AED3-AE6C38827EE3}" type="datetime1">
              <a:rPr lang="en-US" smtClean="0"/>
              <a:t>3/20/2017</a:t>
            </a:fld>
            <a:endParaRPr lang="en-US"/>
          </a:p>
        </p:txBody>
      </p:sp>
      <p:sp>
        <p:nvSpPr>
          <p:cNvPr id="6" name="Footer Placeholder 5"/>
          <p:cNvSpPr>
            <a:spLocks noGrp="1"/>
          </p:cNvSpPr>
          <p:nvPr>
            <p:ph type="ftr" sz="quarter" idx="11"/>
          </p:nvPr>
        </p:nvSpPr>
        <p:spPr/>
        <p:txBody>
          <a:bodyPr/>
          <a:lstStyle/>
          <a:p>
            <a:r>
              <a:rPr lang="en-US" smtClean="0"/>
              <a:t>©2016 Assessments 24X7</a:t>
            </a:r>
            <a:endParaRPr lang="en-US"/>
          </a:p>
        </p:txBody>
      </p:sp>
      <p:sp>
        <p:nvSpPr>
          <p:cNvPr id="7" name="Slide Number Placeholder 6"/>
          <p:cNvSpPr>
            <a:spLocks noGrp="1"/>
          </p:cNvSpPr>
          <p:nvPr>
            <p:ph type="sldNum" sz="quarter" idx="12"/>
          </p:nvPr>
        </p:nvSpPr>
        <p:spPr/>
        <p:txBody>
          <a:bodyPr/>
          <a:lstStyle/>
          <a:p>
            <a:fld id="{35D9512D-810D-489D-B4F3-0792CA04F52C}" type="slidenum">
              <a:rPr lang="en-US" smtClean="0"/>
              <a:t>‹#›</a:t>
            </a:fld>
            <a:endParaRPr lang="en-US"/>
          </a:p>
        </p:txBody>
      </p:sp>
    </p:spTree>
    <p:extLst>
      <p:ext uri="{BB962C8B-B14F-4D97-AF65-F5344CB8AC3E}">
        <p14:creationId xmlns:p14="http://schemas.microsoft.com/office/powerpoint/2010/main" val="23332545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86EBACB-C37A-4C31-823C-D17ABEFE40B3}" type="datetime1">
              <a:rPr lang="en-US" smtClean="0"/>
              <a:t>3/20/2017</a:t>
            </a:fld>
            <a:endParaRPr lang="en-US"/>
          </a:p>
        </p:txBody>
      </p:sp>
      <p:sp>
        <p:nvSpPr>
          <p:cNvPr id="5" name="Footer Placeholder 4"/>
          <p:cNvSpPr>
            <a:spLocks noGrp="1"/>
          </p:cNvSpPr>
          <p:nvPr>
            <p:ph type="ftr" sz="quarter" idx="11"/>
          </p:nvPr>
        </p:nvSpPr>
        <p:spPr/>
        <p:txBody>
          <a:bodyPr/>
          <a:lstStyle/>
          <a:p>
            <a:r>
              <a:rPr lang="en-US" smtClean="0"/>
              <a:t>©2016 Assessments 24X7</a:t>
            </a:r>
            <a:endParaRPr lang="en-US"/>
          </a:p>
        </p:txBody>
      </p:sp>
      <p:sp>
        <p:nvSpPr>
          <p:cNvPr id="6" name="Slide Number Placeholder 5"/>
          <p:cNvSpPr>
            <a:spLocks noGrp="1"/>
          </p:cNvSpPr>
          <p:nvPr>
            <p:ph type="sldNum" sz="quarter" idx="12"/>
          </p:nvPr>
        </p:nvSpPr>
        <p:spPr/>
        <p:txBody>
          <a:bodyPr/>
          <a:lstStyle/>
          <a:p>
            <a:fld id="{35D9512D-810D-489D-B4F3-0792CA04F52C}" type="slidenum">
              <a:rPr lang="en-US" smtClean="0"/>
              <a:t>‹#›</a:t>
            </a:fld>
            <a:endParaRPr lang="en-US"/>
          </a:p>
        </p:txBody>
      </p:sp>
    </p:spTree>
    <p:extLst>
      <p:ext uri="{BB962C8B-B14F-4D97-AF65-F5344CB8AC3E}">
        <p14:creationId xmlns:p14="http://schemas.microsoft.com/office/powerpoint/2010/main" val="29212547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225D550-C929-4905-841B-AB26D94EF114}" type="datetime1">
              <a:rPr lang="en-US" smtClean="0"/>
              <a:t>3/20/2017</a:t>
            </a:fld>
            <a:endParaRPr lang="en-US"/>
          </a:p>
        </p:txBody>
      </p:sp>
      <p:sp>
        <p:nvSpPr>
          <p:cNvPr id="5" name="Footer Placeholder 4"/>
          <p:cNvSpPr>
            <a:spLocks noGrp="1"/>
          </p:cNvSpPr>
          <p:nvPr>
            <p:ph type="ftr" sz="quarter" idx="11"/>
          </p:nvPr>
        </p:nvSpPr>
        <p:spPr/>
        <p:txBody>
          <a:bodyPr/>
          <a:lstStyle/>
          <a:p>
            <a:r>
              <a:rPr lang="en-US" smtClean="0"/>
              <a:t>©2016 Assessments 24X7</a:t>
            </a:r>
            <a:endParaRPr lang="en-US"/>
          </a:p>
        </p:txBody>
      </p:sp>
      <p:sp>
        <p:nvSpPr>
          <p:cNvPr id="6" name="Slide Number Placeholder 5"/>
          <p:cNvSpPr>
            <a:spLocks noGrp="1"/>
          </p:cNvSpPr>
          <p:nvPr>
            <p:ph type="sldNum" sz="quarter" idx="12"/>
          </p:nvPr>
        </p:nvSpPr>
        <p:spPr/>
        <p:txBody>
          <a:bodyPr/>
          <a:lstStyle/>
          <a:p>
            <a:fld id="{35D9512D-810D-489D-B4F3-0792CA04F52C}" type="slidenum">
              <a:rPr lang="en-US" smtClean="0"/>
              <a:t>‹#›</a:t>
            </a:fld>
            <a:endParaRPr lang="en-US"/>
          </a:p>
        </p:txBody>
      </p:sp>
    </p:spTree>
    <p:extLst>
      <p:ext uri="{BB962C8B-B14F-4D97-AF65-F5344CB8AC3E}">
        <p14:creationId xmlns:p14="http://schemas.microsoft.com/office/powerpoint/2010/main" val="3495425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35D58C-1CF9-4FB5-8A78-B17E500473D6}" type="datetime1">
              <a:rPr lang="en-US" smtClean="0"/>
              <a:t>3/20/2017</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©2016 Assessments 24X7</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D9512D-810D-489D-B4F3-0792CA04F52C}" type="slidenum">
              <a:rPr lang="en-US" smtClean="0"/>
              <a:t>‹#›</a:t>
            </a:fld>
            <a:endParaRPr lang="en-US"/>
          </a:p>
        </p:txBody>
      </p:sp>
    </p:spTree>
    <p:extLst>
      <p:ext uri="{BB962C8B-B14F-4D97-AF65-F5344CB8AC3E}">
        <p14:creationId xmlns:p14="http://schemas.microsoft.com/office/powerpoint/2010/main" val="24450694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6969" y="1724819"/>
            <a:ext cx="9144000" cy="2387600"/>
          </a:xfrm>
        </p:spPr>
        <p:txBody>
          <a:bodyPr>
            <a:normAutofit/>
          </a:bodyPr>
          <a:lstStyle/>
          <a:p>
            <a:pPr algn="l"/>
            <a:r>
              <a:rPr lang="en-US" dirty="0" smtClean="0"/>
              <a:t>Motivators Activities</a:t>
            </a:r>
            <a:r>
              <a:rPr lang="en-US" dirty="0" smtClean="0"/>
              <a:t/>
            </a:r>
            <a:br>
              <a:rPr lang="en-US" dirty="0" smtClean="0"/>
            </a:br>
            <a:endParaRPr lang="en-US" sz="4800" i="1" dirty="0"/>
          </a:p>
        </p:txBody>
      </p:sp>
      <p:pic>
        <p:nvPicPr>
          <p:cNvPr id="5" name="Picture 4"/>
          <p:cNvPicPr/>
          <p:nvPr/>
        </p:nvPicPr>
        <p:blipFill rotWithShape="1">
          <a:blip r:embed="rId3"/>
          <a:srcRect l="11378" t="12097" r="71795" b="47833"/>
          <a:stretch/>
        </p:blipFill>
        <p:spPr bwMode="auto">
          <a:xfrm>
            <a:off x="6512994" y="43974"/>
            <a:ext cx="5695950" cy="2874645"/>
          </a:xfrm>
          <a:prstGeom prst="rect">
            <a:avLst/>
          </a:prstGeom>
          <a:ln>
            <a:noFill/>
          </a:ln>
          <a:extLst>
            <a:ext uri="{53640926-AAD7-44D8-BBD7-CCE9431645EC}">
              <a14:shadowObscured xmlns:a14="http://schemas.microsoft.com/office/drawing/2010/main"/>
            </a:ext>
          </a:extLst>
        </p:spPr>
      </p:pic>
      <p:sp>
        <p:nvSpPr>
          <p:cNvPr id="7" name="Footer Placeholder 6"/>
          <p:cNvSpPr>
            <a:spLocks noGrp="1"/>
          </p:cNvSpPr>
          <p:nvPr>
            <p:ph type="ftr" sz="quarter" idx="11"/>
          </p:nvPr>
        </p:nvSpPr>
        <p:spPr>
          <a:xfrm>
            <a:off x="8465128" y="6542750"/>
            <a:ext cx="4114800" cy="365125"/>
          </a:xfrm>
        </p:spPr>
        <p:txBody>
          <a:bodyPr/>
          <a:lstStyle/>
          <a:p>
            <a:r>
              <a:rPr lang="en-US" dirty="0" smtClean="0"/>
              <a:t>©2016 Assessments 24X7</a:t>
            </a:r>
            <a:endParaRPr lang="en-US" dirty="0"/>
          </a:p>
        </p:txBody>
      </p:sp>
      <p:sp>
        <p:nvSpPr>
          <p:cNvPr id="6" name="Text Box 2"/>
          <p:cNvSpPr txBox="1">
            <a:spLocks noChangeArrowheads="1"/>
          </p:cNvSpPr>
          <p:nvPr/>
        </p:nvSpPr>
        <p:spPr bwMode="auto">
          <a:xfrm>
            <a:off x="9165994" y="5793264"/>
            <a:ext cx="2571750" cy="800735"/>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marL="0" marR="0" algn="ctr">
              <a:lnSpc>
                <a:spcPct val="115000"/>
              </a:lnSpc>
              <a:spcBef>
                <a:spcPts val="0"/>
              </a:spcBef>
              <a:spcAft>
                <a:spcPts val="1000"/>
              </a:spcAft>
            </a:pPr>
            <a:r>
              <a:rPr lang="en-US" sz="1300" b="1" i="1">
                <a:effectLst/>
                <a:latin typeface="Calibri" panose="020F0502020204030204" pitchFamily="34" charset="0"/>
                <a:ea typeface="MS Mincho"/>
                <a:cs typeface="Times New Roman" panose="02020603050405020304" pitchFamily="18" charset="0"/>
              </a:rPr>
              <a:t>In partnership with</a:t>
            </a:r>
            <a:br>
              <a:rPr lang="en-US" sz="1300" b="1" i="1">
                <a:effectLst/>
                <a:latin typeface="Calibri" panose="020F0502020204030204" pitchFamily="34" charset="0"/>
                <a:ea typeface="MS Mincho"/>
                <a:cs typeface="Times New Roman" panose="02020603050405020304" pitchFamily="18" charset="0"/>
              </a:rPr>
            </a:br>
            <a:r>
              <a:rPr lang="en-US" sz="1300" b="1" i="1">
                <a:effectLst/>
                <a:latin typeface="Calibri" panose="020F0502020204030204" pitchFamily="34" charset="0"/>
                <a:ea typeface="MS Mincho"/>
                <a:cs typeface="Times New Roman" panose="02020603050405020304" pitchFamily="18" charset="0"/>
              </a:rPr>
              <a:t>BehavioralResourceGroup.com</a:t>
            </a:r>
            <a:r>
              <a:rPr lang="en-US" sz="1100" i="1">
                <a:effectLst/>
                <a:latin typeface="Calibri" panose="020F0502020204030204" pitchFamily="34" charset="0"/>
                <a:ea typeface="MS Mincho"/>
                <a:cs typeface="Times New Roman" panose="02020603050405020304" pitchFamily="18" charset="0"/>
              </a:rPr>
              <a:t/>
            </a:r>
            <a:br>
              <a:rPr lang="en-US" sz="1100" i="1">
                <a:effectLst/>
                <a:latin typeface="Calibri" panose="020F0502020204030204" pitchFamily="34" charset="0"/>
                <a:ea typeface="MS Mincho"/>
                <a:cs typeface="Times New Roman" panose="02020603050405020304" pitchFamily="18" charset="0"/>
              </a:rPr>
            </a:br>
            <a:r>
              <a:rPr lang="en-US" sz="1100" i="1">
                <a:effectLst/>
                <a:latin typeface="Calibri" panose="020F0502020204030204" pitchFamily="34" charset="0"/>
                <a:ea typeface="MS Mincho"/>
                <a:cs typeface="Times New Roman" panose="02020603050405020304" pitchFamily="18" charset="0"/>
              </a:rPr>
              <a:t>leaders in people intelligence</a:t>
            </a:r>
            <a:endParaRPr lang="en-US" sz="1100">
              <a:effectLst/>
              <a:latin typeface="Calibri" panose="020F0502020204030204" pitchFamily="34" charset="0"/>
              <a:ea typeface="MS Mincho"/>
              <a:cs typeface="Times New Roman" panose="02020603050405020304" pitchFamily="18" charset="0"/>
            </a:endParaRPr>
          </a:p>
        </p:txBody>
      </p:sp>
    </p:spTree>
    <p:extLst>
      <p:ext uri="{BB962C8B-B14F-4D97-AF65-F5344CB8AC3E}">
        <p14:creationId xmlns:p14="http://schemas.microsoft.com/office/powerpoint/2010/main" val="2340520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2733" y="93265"/>
            <a:ext cx="10515600" cy="1325563"/>
          </a:xfrm>
        </p:spPr>
        <p:txBody>
          <a:bodyPr/>
          <a:lstStyle/>
          <a:p>
            <a:r>
              <a:rPr lang="en-US" b="1" dirty="0" smtClean="0"/>
              <a:t>Discussion</a:t>
            </a:r>
            <a:r>
              <a:rPr lang="en-US" dirty="0" smtClean="0"/>
              <a:t> - Different </a:t>
            </a:r>
            <a:r>
              <a:rPr lang="en-US" dirty="0" smtClean="0"/>
              <a:t>Motivators</a:t>
            </a:r>
            <a:endParaRPr lang="en-US" dirty="0"/>
          </a:p>
        </p:txBody>
      </p:sp>
      <p:sp>
        <p:nvSpPr>
          <p:cNvPr id="3" name="Footer Placeholder 2"/>
          <p:cNvSpPr>
            <a:spLocks noGrp="1"/>
          </p:cNvSpPr>
          <p:nvPr>
            <p:ph type="ftr" sz="quarter" idx="11"/>
          </p:nvPr>
        </p:nvSpPr>
        <p:spPr>
          <a:xfrm>
            <a:off x="-1129146" y="6549880"/>
            <a:ext cx="4114800" cy="365125"/>
          </a:xfrm>
        </p:spPr>
        <p:txBody>
          <a:bodyPr/>
          <a:lstStyle/>
          <a:p>
            <a:r>
              <a:rPr lang="en-US" dirty="0" smtClean="0"/>
              <a:t>©2016 Assessments 24X7</a:t>
            </a:r>
            <a:endParaRPr lang="en-US" dirty="0"/>
          </a:p>
        </p:txBody>
      </p:sp>
      <p:sp>
        <p:nvSpPr>
          <p:cNvPr id="4" name="Slide Number Placeholder 3"/>
          <p:cNvSpPr>
            <a:spLocks noGrp="1"/>
          </p:cNvSpPr>
          <p:nvPr>
            <p:ph type="sldNum" sz="quarter" idx="12"/>
          </p:nvPr>
        </p:nvSpPr>
        <p:spPr/>
        <p:txBody>
          <a:bodyPr/>
          <a:lstStyle/>
          <a:p>
            <a:fld id="{35D9512D-810D-489D-B4F3-0792CA04F52C}" type="slidenum">
              <a:rPr lang="en-US" smtClean="0"/>
              <a:t>2</a:t>
            </a:fld>
            <a:endParaRPr lang="en-US"/>
          </a:p>
        </p:txBody>
      </p:sp>
      <p:sp>
        <p:nvSpPr>
          <p:cNvPr id="6" name="TextBox 5"/>
          <p:cNvSpPr txBox="1"/>
          <p:nvPr/>
        </p:nvSpPr>
        <p:spPr>
          <a:xfrm>
            <a:off x="1463040" y="3458093"/>
            <a:ext cx="1047404" cy="1446550"/>
          </a:xfrm>
          <a:prstGeom prst="rect">
            <a:avLst/>
          </a:prstGeom>
          <a:noFill/>
        </p:spPr>
        <p:txBody>
          <a:bodyPr wrap="square" rtlCol="0">
            <a:spAutoFit/>
          </a:bodyPr>
          <a:lstStyle/>
          <a:p>
            <a:pPr lvl="0" algn="ctr"/>
            <a:r>
              <a:rPr lang="en-US" sz="2200" b="1" dirty="0" smtClean="0">
                <a:solidFill>
                  <a:schemeClr val="bg1"/>
                </a:solidFill>
              </a:rPr>
              <a:t>55%</a:t>
            </a:r>
          </a:p>
          <a:p>
            <a:pPr lvl="0" algn="ctr"/>
            <a:endParaRPr lang="en-US" sz="2200" b="1" dirty="0">
              <a:solidFill>
                <a:schemeClr val="bg1"/>
              </a:solidFill>
            </a:endParaRPr>
          </a:p>
          <a:p>
            <a:pPr lvl="0" algn="ctr"/>
            <a:endParaRPr lang="en-US" sz="2200" b="1" dirty="0" smtClean="0">
              <a:solidFill>
                <a:schemeClr val="bg1"/>
              </a:solidFill>
            </a:endParaRPr>
          </a:p>
          <a:p>
            <a:pPr lvl="0" algn="ctr"/>
            <a:r>
              <a:rPr lang="en-US" sz="2200" b="1" dirty="0" smtClean="0">
                <a:solidFill>
                  <a:schemeClr val="bg1"/>
                </a:solidFill>
              </a:rPr>
              <a:t>45%</a:t>
            </a:r>
            <a:endParaRPr lang="en-US" sz="2200" b="1" dirty="0">
              <a:solidFill>
                <a:schemeClr val="bg1"/>
              </a:solidFill>
            </a:endParaRPr>
          </a:p>
        </p:txBody>
      </p:sp>
      <p:sp>
        <p:nvSpPr>
          <p:cNvPr id="11" name="TextBox 10"/>
          <p:cNvSpPr txBox="1"/>
          <p:nvPr/>
        </p:nvSpPr>
        <p:spPr>
          <a:xfrm>
            <a:off x="6954982" y="3412163"/>
            <a:ext cx="1047404" cy="2123658"/>
          </a:xfrm>
          <a:prstGeom prst="rect">
            <a:avLst/>
          </a:prstGeom>
          <a:noFill/>
        </p:spPr>
        <p:txBody>
          <a:bodyPr wrap="square" rtlCol="0">
            <a:spAutoFit/>
          </a:bodyPr>
          <a:lstStyle/>
          <a:p>
            <a:pPr lvl="0" algn="ctr"/>
            <a:r>
              <a:rPr lang="en-US" sz="2200" b="1" dirty="0" smtClean="0">
                <a:solidFill>
                  <a:schemeClr val="bg1"/>
                </a:solidFill>
              </a:rPr>
              <a:t>45%</a:t>
            </a:r>
          </a:p>
          <a:p>
            <a:pPr lvl="0" algn="ctr"/>
            <a:endParaRPr lang="en-US" b="1" dirty="0">
              <a:solidFill>
                <a:schemeClr val="bg1"/>
              </a:solidFill>
            </a:endParaRPr>
          </a:p>
          <a:p>
            <a:pPr lvl="0" algn="ctr"/>
            <a:r>
              <a:rPr lang="en-US" sz="2200" b="1" dirty="0">
                <a:solidFill>
                  <a:schemeClr val="bg1"/>
                </a:solidFill>
              </a:rPr>
              <a:t/>
            </a:r>
            <a:br>
              <a:rPr lang="en-US" sz="2200" b="1" dirty="0">
                <a:solidFill>
                  <a:schemeClr val="bg1"/>
                </a:solidFill>
              </a:rPr>
            </a:br>
            <a:r>
              <a:rPr lang="en-US" sz="2200" b="1" dirty="0" smtClean="0">
                <a:solidFill>
                  <a:schemeClr val="bg1"/>
                </a:solidFill>
              </a:rPr>
              <a:t>25%</a:t>
            </a:r>
          </a:p>
          <a:p>
            <a:pPr lvl="0" algn="ctr"/>
            <a:endParaRPr lang="en-US" sz="2600" b="1" dirty="0">
              <a:solidFill>
                <a:schemeClr val="bg1"/>
              </a:solidFill>
            </a:endParaRPr>
          </a:p>
          <a:p>
            <a:pPr lvl="0" algn="ctr"/>
            <a:r>
              <a:rPr lang="en-US" sz="2200" b="1" dirty="0" smtClean="0">
                <a:solidFill>
                  <a:schemeClr val="bg1"/>
                </a:solidFill>
              </a:rPr>
              <a:t>30%</a:t>
            </a:r>
            <a:endParaRPr lang="en-US" sz="2200" b="1" dirty="0">
              <a:solidFill>
                <a:schemeClr val="bg1"/>
              </a:solidFill>
            </a:endParaRPr>
          </a:p>
        </p:txBody>
      </p:sp>
      <p:sp>
        <p:nvSpPr>
          <p:cNvPr id="12" name="TextBox 11"/>
          <p:cNvSpPr txBox="1"/>
          <p:nvPr/>
        </p:nvSpPr>
        <p:spPr>
          <a:xfrm>
            <a:off x="9700953" y="3458093"/>
            <a:ext cx="1047404" cy="1446550"/>
          </a:xfrm>
          <a:prstGeom prst="rect">
            <a:avLst/>
          </a:prstGeom>
          <a:noFill/>
        </p:spPr>
        <p:txBody>
          <a:bodyPr wrap="square" rtlCol="0">
            <a:spAutoFit/>
          </a:bodyPr>
          <a:lstStyle/>
          <a:p>
            <a:pPr lvl="0" algn="ctr"/>
            <a:r>
              <a:rPr lang="en-US" sz="2200" b="1" dirty="0" smtClean="0">
                <a:solidFill>
                  <a:schemeClr val="bg1"/>
                </a:solidFill>
              </a:rPr>
              <a:t>53%</a:t>
            </a:r>
          </a:p>
          <a:p>
            <a:pPr lvl="0" algn="ctr"/>
            <a:endParaRPr lang="en-US" sz="2200" b="1" dirty="0">
              <a:solidFill>
                <a:schemeClr val="bg1"/>
              </a:solidFill>
            </a:endParaRPr>
          </a:p>
          <a:p>
            <a:pPr lvl="0" algn="ctr"/>
            <a:endParaRPr lang="en-US" sz="2200" b="1" dirty="0" smtClean="0">
              <a:solidFill>
                <a:schemeClr val="bg1"/>
              </a:solidFill>
            </a:endParaRPr>
          </a:p>
          <a:p>
            <a:pPr lvl="0" algn="ctr"/>
            <a:r>
              <a:rPr lang="en-US" sz="2200" b="1" dirty="0" smtClean="0">
                <a:solidFill>
                  <a:schemeClr val="bg1"/>
                </a:solidFill>
              </a:rPr>
              <a:t>47%</a:t>
            </a:r>
            <a:endParaRPr lang="en-US" sz="2200" b="1" dirty="0">
              <a:solidFill>
                <a:schemeClr val="bg1"/>
              </a:solidFill>
            </a:endParaRPr>
          </a:p>
        </p:txBody>
      </p:sp>
      <p:sp>
        <p:nvSpPr>
          <p:cNvPr id="7" name="Content Placeholder 6"/>
          <p:cNvSpPr>
            <a:spLocks noGrp="1"/>
          </p:cNvSpPr>
          <p:nvPr>
            <p:ph idx="1"/>
          </p:nvPr>
        </p:nvSpPr>
        <p:spPr>
          <a:xfrm>
            <a:off x="838200" y="1825625"/>
            <a:ext cx="10515600" cy="3470994"/>
          </a:xfrm>
        </p:spPr>
        <p:txBody>
          <a:bodyPr>
            <a:normAutofit/>
          </a:bodyPr>
          <a:lstStyle/>
          <a:p>
            <a:r>
              <a:rPr lang="en-US" sz="4000" dirty="0" smtClean="0"/>
              <a:t>Why is it important to know if someone has different motivators than you do? </a:t>
            </a:r>
            <a:endParaRPr lang="en-US" sz="4000" dirty="0"/>
          </a:p>
        </p:txBody>
      </p:sp>
      <p:sp>
        <p:nvSpPr>
          <p:cNvPr id="10" name="Rectangle 9"/>
          <p:cNvSpPr/>
          <p:nvPr/>
        </p:nvSpPr>
        <p:spPr>
          <a:xfrm>
            <a:off x="7212997" y="3577292"/>
            <a:ext cx="3651738" cy="2199986"/>
          </a:xfrm>
          <a:prstGeom prst="rect">
            <a:avLst/>
          </a:prstGeom>
          <a:blipFill dpi="0" rotWithShape="1">
            <a:blip r:embed="rId3">
              <a:alphaModFix amt="69000"/>
            </a:blip>
            <a:srcRect/>
            <a:stretch>
              <a:fillRect/>
            </a:stretch>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23730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Activity</a:t>
            </a:r>
            <a:r>
              <a:rPr lang="en-US" dirty="0" smtClean="0"/>
              <a:t> – Describe the Dimension</a:t>
            </a:r>
            <a:endParaRPr lang="en-US" dirty="0"/>
          </a:p>
        </p:txBody>
      </p:sp>
      <p:sp>
        <p:nvSpPr>
          <p:cNvPr id="3" name="Content Placeholder 2"/>
          <p:cNvSpPr>
            <a:spLocks noGrp="1"/>
          </p:cNvSpPr>
          <p:nvPr>
            <p:ph idx="1"/>
          </p:nvPr>
        </p:nvSpPr>
        <p:spPr/>
        <p:txBody>
          <a:bodyPr>
            <a:normAutofit/>
          </a:bodyPr>
          <a:lstStyle/>
          <a:p>
            <a:r>
              <a:rPr lang="en-US" sz="3600" dirty="0" smtClean="0"/>
              <a:t>Using your assigned Dimension, create a list of characteristics for high scores and low scores in that area. </a:t>
            </a:r>
          </a:p>
          <a:p>
            <a:endParaRPr lang="en-US" sz="3600" dirty="0" smtClean="0"/>
          </a:p>
          <a:p>
            <a:r>
              <a:rPr lang="en-US" sz="3600" dirty="0" smtClean="0"/>
              <a:t>Identify 2 potential strengths and 2 potential limitations for high and low scores.</a:t>
            </a:r>
            <a:endParaRPr lang="en-US" sz="3600" dirty="0"/>
          </a:p>
        </p:txBody>
      </p:sp>
      <p:sp>
        <p:nvSpPr>
          <p:cNvPr id="4" name="Footer Placeholder 3"/>
          <p:cNvSpPr>
            <a:spLocks noGrp="1"/>
          </p:cNvSpPr>
          <p:nvPr>
            <p:ph type="ftr" sz="quarter" idx="11"/>
          </p:nvPr>
        </p:nvSpPr>
        <p:spPr/>
        <p:txBody>
          <a:bodyPr/>
          <a:lstStyle/>
          <a:p>
            <a:r>
              <a:rPr lang="en-US" smtClean="0"/>
              <a:t>©2016 Assessments 24X7</a:t>
            </a:r>
            <a:endParaRPr lang="en-US"/>
          </a:p>
        </p:txBody>
      </p:sp>
      <p:sp>
        <p:nvSpPr>
          <p:cNvPr id="5" name="Slide Number Placeholder 4"/>
          <p:cNvSpPr>
            <a:spLocks noGrp="1"/>
          </p:cNvSpPr>
          <p:nvPr>
            <p:ph type="sldNum" sz="quarter" idx="12"/>
          </p:nvPr>
        </p:nvSpPr>
        <p:spPr/>
        <p:txBody>
          <a:bodyPr/>
          <a:lstStyle/>
          <a:p>
            <a:fld id="{35D9512D-810D-489D-B4F3-0792CA04F52C}" type="slidenum">
              <a:rPr lang="en-US" smtClean="0"/>
              <a:t>3</a:t>
            </a:fld>
            <a:endParaRPr lang="en-US"/>
          </a:p>
        </p:txBody>
      </p:sp>
    </p:spTree>
    <p:extLst>
      <p:ext uri="{BB962C8B-B14F-4D97-AF65-F5344CB8AC3E}">
        <p14:creationId xmlns:p14="http://schemas.microsoft.com/office/powerpoint/2010/main" val="4192798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6"/>
          <p:cNvSpPr txBox="1">
            <a:spLocks noChangeArrowheads="1"/>
          </p:cNvSpPr>
          <p:nvPr/>
        </p:nvSpPr>
        <p:spPr bwMode="auto">
          <a:xfrm>
            <a:off x="2703513" y="1447801"/>
            <a:ext cx="194151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eaLnBrk="1" fontAlgn="base" hangingPunct="1">
              <a:spcBef>
                <a:spcPct val="0"/>
              </a:spcBef>
              <a:spcAft>
                <a:spcPct val="10000"/>
              </a:spcAft>
              <a:buSzPct val="125000"/>
              <a:buFont typeface="Wingdings" pitchFamily="2" charset="2"/>
              <a:buNone/>
            </a:pPr>
            <a:endParaRPr lang="en-US" sz="1600">
              <a:solidFill>
                <a:srgbClr val="CC0000"/>
              </a:solidFill>
            </a:endParaRPr>
          </a:p>
        </p:txBody>
      </p:sp>
      <p:sp>
        <p:nvSpPr>
          <p:cNvPr id="9219" name="Text Box 34"/>
          <p:cNvSpPr txBox="1">
            <a:spLocks noChangeArrowheads="1"/>
          </p:cNvSpPr>
          <p:nvPr/>
        </p:nvSpPr>
        <p:spPr bwMode="auto">
          <a:xfrm>
            <a:off x="2168526" y="114301"/>
            <a:ext cx="48863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eaLnBrk="1" fontAlgn="base" hangingPunct="1">
              <a:spcBef>
                <a:spcPct val="50000"/>
              </a:spcBef>
              <a:spcAft>
                <a:spcPct val="0"/>
              </a:spcAft>
            </a:pPr>
            <a:r>
              <a:rPr lang="en-US" sz="3000">
                <a:solidFill>
                  <a:srgbClr val="808080"/>
                </a:solidFill>
              </a:rPr>
              <a:t>Strengths and Limitations</a:t>
            </a:r>
          </a:p>
        </p:txBody>
      </p:sp>
      <p:sp>
        <p:nvSpPr>
          <p:cNvPr id="31" name="Rectangle 3"/>
          <p:cNvSpPr>
            <a:spLocks noChangeArrowheads="1"/>
          </p:cNvSpPr>
          <p:nvPr/>
        </p:nvSpPr>
        <p:spPr bwMode="auto">
          <a:xfrm>
            <a:off x="2219325" y="742950"/>
            <a:ext cx="7715250" cy="2857500"/>
          </a:xfrm>
          <a:prstGeom prst="roundRect">
            <a:avLst>
              <a:gd name="adj" fmla="val 7955"/>
            </a:avLst>
          </a:prstGeom>
          <a:noFill/>
          <a:ln>
            <a:solidFill>
              <a:schemeClr val="bg2"/>
            </a:solidFill>
            <a:headEnd/>
            <a:tailEnd/>
          </a:ln>
        </p:spPr>
        <p:style>
          <a:lnRef idx="2">
            <a:schemeClr val="accent3">
              <a:shade val="50000"/>
            </a:schemeClr>
          </a:lnRef>
          <a:fillRef idx="1">
            <a:schemeClr val="accent3"/>
          </a:fillRef>
          <a:effectRef idx="0">
            <a:schemeClr val="accent3"/>
          </a:effectRef>
          <a:fontRef idx="minor">
            <a:schemeClr val="lt1"/>
          </a:fontRef>
        </p:style>
        <p:txBody>
          <a:bodyPr wrap="none" anchor="ctr"/>
          <a:lstStyle/>
          <a:p>
            <a:pPr algn="ctr" fontAlgn="base">
              <a:spcBef>
                <a:spcPct val="50000"/>
              </a:spcBef>
              <a:spcAft>
                <a:spcPct val="0"/>
              </a:spcAft>
              <a:defRPr/>
            </a:pPr>
            <a:endParaRPr lang="en-US" sz="2800" b="1" dirty="0">
              <a:solidFill>
                <a:srgbClr val="FFFFFF"/>
              </a:solidFill>
            </a:endParaRPr>
          </a:p>
        </p:txBody>
      </p:sp>
      <p:sp>
        <p:nvSpPr>
          <p:cNvPr id="32" name="Rectangle 3"/>
          <p:cNvSpPr>
            <a:spLocks noChangeArrowheads="1"/>
          </p:cNvSpPr>
          <p:nvPr/>
        </p:nvSpPr>
        <p:spPr bwMode="auto">
          <a:xfrm>
            <a:off x="2219325" y="3848101"/>
            <a:ext cx="7715250" cy="2857500"/>
          </a:xfrm>
          <a:prstGeom prst="roundRect">
            <a:avLst>
              <a:gd name="adj" fmla="val 7955"/>
            </a:avLst>
          </a:prstGeom>
          <a:noFill/>
          <a:ln>
            <a:solidFill>
              <a:schemeClr val="bg2"/>
            </a:solidFill>
            <a:headEnd/>
            <a:tailEnd/>
          </a:ln>
        </p:spPr>
        <p:style>
          <a:lnRef idx="2">
            <a:schemeClr val="accent3">
              <a:shade val="50000"/>
            </a:schemeClr>
          </a:lnRef>
          <a:fillRef idx="1">
            <a:schemeClr val="accent3"/>
          </a:fillRef>
          <a:effectRef idx="0">
            <a:schemeClr val="accent3"/>
          </a:effectRef>
          <a:fontRef idx="minor">
            <a:schemeClr val="lt1"/>
          </a:fontRef>
        </p:style>
        <p:txBody>
          <a:bodyPr wrap="none" anchor="ctr"/>
          <a:lstStyle/>
          <a:p>
            <a:pPr algn="ctr" fontAlgn="base">
              <a:spcBef>
                <a:spcPct val="50000"/>
              </a:spcBef>
              <a:spcAft>
                <a:spcPct val="0"/>
              </a:spcAft>
              <a:defRPr/>
            </a:pPr>
            <a:endParaRPr lang="en-US" sz="2800" b="1" dirty="0">
              <a:solidFill>
                <a:srgbClr val="FFFFFF"/>
              </a:solidFill>
            </a:endParaRPr>
          </a:p>
        </p:txBody>
      </p:sp>
      <p:sp>
        <p:nvSpPr>
          <p:cNvPr id="9222" name="Text Box 6"/>
          <p:cNvSpPr txBox="1">
            <a:spLocks noChangeArrowheads="1"/>
          </p:cNvSpPr>
          <p:nvPr/>
        </p:nvSpPr>
        <p:spPr bwMode="auto">
          <a:xfrm>
            <a:off x="2722563" y="1314451"/>
            <a:ext cx="194151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eaLnBrk="1" fontAlgn="base" hangingPunct="1">
              <a:spcBef>
                <a:spcPct val="0"/>
              </a:spcBef>
              <a:spcAft>
                <a:spcPct val="10000"/>
              </a:spcAft>
              <a:buSzPct val="125000"/>
              <a:buFont typeface="Wingdings" pitchFamily="2" charset="2"/>
              <a:buNone/>
            </a:pPr>
            <a:endParaRPr lang="en-US" sz="1600">
              <a:solidFill>
                <a:srgbClr val="CC0000"/>
              </a:solidFill>
            </a:endParaRPr>
          </a:p>
        </p:txBody>
      </p:sp>
      <p:sp>
        <p:nvSpPr>
          <p:cNvPr id="9223" name="Text Box 10"/>
          <p:cNvSpPr txBox="1">
            <a:spLocks noChangeArrowheads="1"/>
          </p:cNvSpPr>
          <p:nvPr/>
        </p:nvSpPr>
        <p:spPr bwMode="auto">
          <a:xfrm>
            <a:off x="6446838" y="1314451"/>
            <a:ext cx="194151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eaLnBrk="1" fontAlgn="base" hangingPunct="1">
              <a:spcBef>
                <a:spcPct val="0"/>
              </a:spcBef>
              <a:spcAft>
                <a:spcPct val="10000"/>
              </a:spcAft>
              <a:buSzPct val="125000"/>
              <a:buFont typeface="Wingdings" pitchFamily="2" charset="2"/>
              <a:buNone/>
            </a:pPr>
            <a:endParaRPr lang="en-US" sz="1600">
              <a:solidFill>
                <a:srgbClr val="CC0000"/>
              </a:solidFill>
            </a:endParaRPr>
          </a:p>
        </p:txBody>
      </p:sp>
      <p:sp>
        <p:nvSpPr>
          <p:cNvPr id="9224" name="Text Box 21"/>
          <p:cNvSpPr txBox="1">
            <a:spLocks noChangeArrowheads="1"/>
          </p:cNvSpPr>
          <p:nvPr/>
        </p:nvSpPr>
        <p:spPr bwMode="auto">
          <a:xfrm>
            <a:off x="2667000" y="2047991"/>
            <a:ext cx="3200400" cy="1144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algn="ctr" eaLnBrk="1" fontAlgn="base" hangingPunct="1">
              <a:lnSpc>
                <a:spcPct val="105000"/>
              </a:lnSpc>
              <a:spcBef>
                <a:spcPct val="50000"/>
              </a:spcBef>
              <a:spcAft>
                <a:spcPct val="0"/>
              </a:spcAft>
            </a:pPr>
            <a:r>
              <a:rPr lang="en-US" sz="1200" b="0" dirty="0">
                <a:solidFill>
                  <a:srgbClr val="000000"/>
                </a:solidFill>
              </a:rPr>
              <a:t>Expression of creativity</a:t>
            </a:r>
          </a:p>
          <a:p>
            <a:pPr algn="ctr" eaLnBrk="1" fontAlgn="base" hangingPunct="1">
              <a:lnSpc>
                <a:spcPct val="105000"/>
              </a:lnSpc>
              <a:spcBef>
                <a:spcPct val="50000"/>
              </a:spcBef>
              <a:spcAft>
                <a:spcPct val="0"/>
              </a:spcAft>
            </a:pPr>
            <a:r>
              <a:rPr lang="en-US" sz="1200" b="0" dirty="0">
                <a:solidFill>
                  <a:srgbClr val="000000"/>
                </a:solidFill>
              </a:rPr>
              <a:t>Appreciation of environment</a:t>
            </a:r>
          </a:p>
          <a:p>
            <a:pPr algn="ctr" eaLnBrk="1" fontAlgn="base" hangingPunct="1">
              <a:lnSpc>
                <a:spcPct val="105000"/>
              </a:lnSpc>
              <a:spcBef>
                <a:spcPct val="50000"/>
              </a:spcBef>
              <a:spcAft>
                <a:spcPct val="0"/>
              </a:spcAft>
            </a:pPr>
            <a:r>
              <a:rPr lang="en-US" sz="1200" b="0" dirty="0" smtClean="0">
                <a:solidFill>
                  <a:srgbClr val="000000"/>
                </a:solidFill>
              </a:rPr>
              <a:t>Values personal fulfillment and peace</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smtClean="0">
                <a:solidFill>
                  <a:srgbClr val="000000"/>
                </a:solidFill>
              </a:rPr>
              <a:t>Intuitive insight</a:t>
            </a:r>
            <a:endParaRPr lang="en-US" sz="1200" b="0" dirty="0">
              <a:solidFill>
                <a:srgbClr val="000000"/>
              </a:solidFill>
            </a:endParaRPr>
          </a:p>
        </p:txBody>
      </p:sp>
      <p:sp>
        <p:nvSpPr>
          <p:cNvPr id="9225" name="Text Box 22"/>
          <p:cNvSpPr txBox="1">
            <a:spLocks noChangeArrowheads="1"/>
          </p:cNvSpPr>
          <p:nvPr/>
        </p:nvSpPr>
        <p:spPr bwMode="auto">
          <a:xfrm>
            <a:off x="6115050" y="2019301"/>
            <a:ext cx="3733800"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algn="ctr" eaLnBrk="1" fontAlgn="base" hangingPunct="1">
              <a:lnSpc>
                <a:spcPct val="105000"/>
              </a:lnSpc>
              <a:spcBef>
                <a:spcPct val="50000"/>
              </a:spcBef>
              <a:spcAft>
                <a:spcPct val="0"/>
              </a:spcAft>
            </a:pPr>
            <a:r>
              <a:rPr lang="en-US" sz="1200" b="0" dirty="0" smtClean="0">
                <a:solidFill>
                  <a:srgbClr val="000000"/>
                </a:solidFill>
              </a:rPr>
              <a:t>May have head in clouds</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a:solidFill>
                  <a:srgbClr val="000000"/>
                </a:solidFill>
              </a:rPr>
              <a:t>Avoid disharmony and pain</a:t>
            </a:r>
          </a:p>
          <a:p>
            <a:pPr algn="ctr" eaLnBrk="1" fontAlgn="base" hangingPunct="1">
              <a:lnSpc>
                <a:spcPct val="105000"/>
              </a:lnSpc>
              <a:spcBef>
                <a:spcPct val="50000"/>
              </a:spcBef>
              <a:spcAft>
                <a:spcPct val="0"/>
              </a:spcAft>
            </a:pPr>
            <a:r>
              <a:rPr lang="en-US" sz="1200" b="0" dirty="0" smtClean="0">
                <a:solidFill>
                  <a:srgbClr val="000000"/>
                </a:solidFill>
              </a:rPr>
              <a:t>Can be unrealistic</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smtClean="0">
                <a:solidFill>
                  <a:srgbClr val="000000"/>
                </a:solidFill>
              </a:rPr>
              <a:t>Struggle with practicality</a:t>
            </a:r>
            <a:endParaRPr lang="en-US" sz="1200" b="0" dirty="0">
              <a:solidFill>
                <a:srgbClr val="000000"/>
              </a:solidFill>
            </a:endParaRPr>
          </a:p>
        </p:txBody>
      </p:sp>
      <p:sp>
        <p:nvSpPr>
          <p:cNvPr id="39" name="Round Same Side Corner Rectangle 38"/>
          <p:cNvSpPr/>
          <p:nvPr/>
        </p:nvSpPr>
        <p:spPr bwMode="auto">
          <a:xfrm>
            <a:off x="2667000" y="1533526"/>
            <a:ext cx="3200400" cy="365125"/>
          </a:xfrm>
          <a:prstGeom prst="round2SameRect">
            <a:avLst>
              <a:gd name="adj1" fmla="val 36738"/>
              <a:gd name="adj2" fmla="val 10026"/>
            </a:avLst>
          </a:prstGeom>
          <a:solidFill>
            <a:srgbClr val="92D050"/>
          </a:solidFill>
          <a:ln w="38100" cap="flat" cmpd="sng" algn="ctr">
            <a:noFill/>
            <a:prstDash val="solid"/>
            <a:round/>
            <a:headEnd type="none" w="med" len="med"/>
            <a:tailEnd type="none" w="med" len="med"/>
          </a:ln>
          <a:effectLst/>
        </p:spPr>
        <p:txBody>
          <a:bodyPr wrap="none" anchor="ctr"/>
          <a:lstStyle/>
          <a:p>
            <a:pPr algn="ctr" fontAlgn="base">
              <a:spcBef>
                <a:spcPct val="50000"/>
              </a:spcBef>
              <a:spcAft>
                <a:spcPct val="0"/>
              </a:spcAft>
              <a:defRPr/>
            </a:pPr>
            <a:r>
              <a:rPr lang="en-US" sz="2100" b="1" dirty="0">
                <a:solidFill>
                  <a:srgbClr val="FFFFFF"/>
                </a:solidFill>
              </a:rPr>
              <a:t>Strengths</a:t>
            </a:r>
          </a:p>
        </p:txBody>
      </p:sp>
      <p:sp>
        <p:nvSpPr>
          <p:cNvPr id="40" name="Round Same Side Corner Rectangle 39"/>
          <p:cNvSpPr/>
          <p:nvPr/>
        </p:nvSpPr>
        <p:spPr bwMode="auto">
          <a:xfrm>
            <a:off x="6334125" y="1533526"/>
            <a:ext cx="3200400" cy="365125"/>
          </a:xfrm>
          <a:prstGeom prst="round2SameRect">
            <a:avLst>
              <a:gd name="adj1" fmla="val 36738"/>
              <a:gd name="adj2" fmla="val 10026"/>
            </a:avLst>
          </a:prstGeom>
          <a:solidFill>
            <a:srgbClr val="92D050"/>
          </a:solidFill>
          <a:ln w="38100" cap="flat" cmpd="sng" algn="ctr">
            <a:noFill/>
            <a:prstDash val="solid"/>
            <a:round/>
            <a:headEnd type="none" w="med" len="med"/>
            <a:tailEnd type="none" w="med" len="med"/>
          </a:ln>
          <a:effectLst/>
        </p:spPr>
        <p:txBody>
          <a:bodyPr wrap="none" anchor="ctr"/>
          <a:lstStyle/>
          <a:p>
            <a:pPr algn="ctr" fontAlgn="base">
              <a:spcBef>
                <a:spcPct val="50000"/>
              </a:spcBef>
              <a:spcAft>
                <a:spcPct val="0"/>
              </a:spcAft>
              <a:defRPr/>
            </a:pPr>
            <a:r>
              <a:rPr lang="en-US" sz="2100" b="1" dirty="0">
                <a:solidFill>
                  <a:srgbClr val="FFFFFF"/>
                </a:solidFill>
              </a:rPr>
              <a:t>Limitations</a:t>
            </a:r>
          </a:p>
        </p:txBody>
      </p:sp>
      <p:sp>
        <p:nvSpPr>
          <p:cNvPr id="9228" name="Rounded Rectangle 144"/>
          <p:cNvSpPr>
            <a:spLocks noChangeArrowheads="1"/>
          </p:cNvSpPr>
          <p:nvPr/>
        </p:nvSpPr>
        <p:spPr bwMode="auto">
          <a:xfrm>
            <a:off x="2667000" y="1524000"/>
            <a:ext cx="3200400" cy="1828800"/>
          </a:xfrm>
          <a:prstGeom prst="roundRect">
            <a:avLst>
              <a:gd name="adj" fmla="val 7588"/>
            </a:avLst>
          </a:prstGeom>
          <a:noFill/>
          <a:ln w="381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fontAlgn="base">
              <a:spcBef>
                <a:spcPct val="50000"/>
              </a:spcBef>
              <a:spcAft>
                <a:spcPct val="0"/>
              </a:spcAft>
            </a:pPr>
            <a:endParaRPr lang="en-US" sz="2800" b="1">
              <a:solidFill>
                <a:srgbClr val="000000"/>
              </a:solidFill>
            </a:endParaRPr>
          </a:p>
        </p:txBody>
      </p:sp>
      <p:sp>
        <p:nvSpPr>
          <p:cNvPr id="9229" name="Rounded Rectangle 144"/>
          <p:cNvSpPr>
            <a:spLocks noChangeArrowheads="1"/>
          </p:cNvSpPr>
          <p:nvPr/>
        </p:nvSpPr>
        <p:spPr bwMode="auto">
          <a:xfrm>
            <a:off x="6334125" y="1524000"/>
            <a:ext cx="3200400" cy="1828800"/>
          </a:xfrm>
          <a:prstGeom prst="roundRect">
            <a:avLst>
              <a:gd name="adj" fmla="val 7588"/>
            </a:avLst>
          </a:prstGeom>
          <a:noFill/>
          <a:ln w="381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fontAlgn="base">
              <a:spcBef>
                <a:spcPct val="50000"/>
              </a:spcBef>
              <a:spcAft>
                <a:spcPct val="0"/>
              </a:spcAft>
            </a:pPr>
            <a:endParaRPr lang="en-US" sz="2800" b="1">
              <a:solidFill>
                <a:srgbClr val="000000"/>
              </a:solidFill>
            </a:endParaRPr>
          </a:p>
        </p:txBody>
      </p:sp>
      <p:cxnSp>
        <p:nvCxnSpPr>
          <p:cNvPr id="9230" name="Straight Connector 41"/>
          <p:cNvCxnSpPr>
            <a:cxnSpLocks noChangeShapeType="1"/>
          </p:cNvCxnSpPr>
          <p:nvPr/>
        </p:nvCxnSpPr>
        <p:spPr bwMode="auto">
          <a:xfrm>
            <a:off x="2686050" y="1905000"/>
            <a:ext cx="3200400" cy="0"/>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cxnSp>
      <p:cxnSp>
        <p:nvCxnSpPr>
          <p:cNvPr id="9231" name="Straight Connector 42"/>
          <p:cNvCxnSpPr>
            <a:cxnSpLocks noChangeShapeType="1"/>
          </p:cNvCxnSpPr>
          <p:nvPr/>
        </p:nvCxnSpPr>
        <p:spPr bwMode="auto">
          <a:xfrm>
            <a:off x="6343650" y="1905000"/>
            <a:ext cx="3200400" cy="0"/>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cxnSp>
      <p:sp>
        <p:nvSpPr>
          <p:cNvPr id="47" name="Text Box 4"/>
          <p:cNvSpPr txBox="1">
            <a:spLocks noChangeArrowheads="1"/>
          </p:cNvSpPr>
          <p:nvPr/>
        </p:nvSpPr>
        <p:spPr bwMode="auto">
          <a:xfrm>
            <a:off x="4591051" y="846138"/>
            <a:ext cx="3052763" cy="488950"/>
          </a:xfrm>
          <a:prstGeom prst="rect">
            <a:avLst/>
          </a:prstGeom>
          <a:noFill/>
          <a:ln w="38100" algn="ctr">
            <a:noFill/>
            <a:miter lim="800000"/>
            <a:headEnd/>
            <a:tailEnd/>
          </a:ln>
          <a:effectLst/>
        </p:spPr>
        <p:txBody>
          <a:bodyPr>
            <a:spAutoFit/>
          </a:bodyPr>
          <a:lstStyle/>
          <a:p>
            <a:pPr algn="ctr" fontAlgn="base">
              <a:spcBef>
                <a:spcPct val="50000"/>
              </a:spcBef>
              <a:spcAft>
                <a:spcPct val="0"/>
              </a:spcAft>
              <a:defRPr/>
            </a:pPr>
            <a:r>
              <a:rPr lang="en-US" sz="2600" b="1" dirty="0" smtClean="0">
                <a:solidFill>
                  <a:srgbClr val="92D050"/>
                </a:solidFill>
                <a:effectLst>
                  <a:outerShdw blurRad="38100" dist="38100" dir="2700000" algn="tl">
                    <a:srgbClr val="C0C0C0"/>
                  </a:outerShdw>
                </a:effectLst>
              </a:rPr>
              <a:t>Aesthetic - High</a:t>
            </a:r>
            <a:endParaRPr lang="en-US" sz="2600" b="1" dirty="0">
              <a:solidFill>
                <a:srgbClr val="92D050"/>
              </a:solidFill>
              <a:effectLst>
                <a:outerShdw blurRad="38100" dist="38100" dir="2700000" algn="tl">
                  <a:srgbClr val="C0C0C0"/>
                </a:outerShdw>
              </a:effectLst>
            </a:endParaRPr>
          </a:p>
        </p:txBody>
      </p:sp>
      <p:sp>
        <p:nvSpPr>
          <p:cNvPr id="26" name="Text Box 6"/>
          <p:cNvSpPr txBox="1">
            <a:spLocks noChangeArrowheads="1"/>
          </p:cNvSpPr>
          <p:nvPr/>
        </p:nvSpPr>
        <p:spPr bwMode="auto">
          <a:xfrm>
            <a:off x="2747962" y="4449764"/>
            <a:ext cx="194151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eaLnBrk="1" fontAlgn="base" hangingPunct="1">
              <a:spcBef>
                <a:spcPct val="0"/>
              </a:spcBef>
              <a:spcAft>
                <a:spcPct val="10000"/>
              </a:spcAft>
              <a:buSzPct val="125000"/>
              <a:buFont typeface="Wingdings" pitchFamily="2" charset="2"/>
              <a:buNone/>
            </a:pPr>
            <a:endParaRPr lang="en-US" sz="1600">
              <a:solidFill>
                <a:srgbClr val="CC0000"/>
              </a:solidFill>
            </a:endParaRPr>
          </a:p>
        </p:txBody>
      </p:sp>
      <p:sp>
        <p:nvSpPr>
          <p:cNvPr id="28" name="Text Box 6"/>
          <p:cNvSpPr txBox="1">
            <a:spLocks noChangeArrowheads="1"/>
          </p:cNvSpPr>
          <p:nvPr/>
        </p:nvSpPr>
        <p:spPr bwMode="auto">
          <a:xfrm>
            <a:off x="2767012" y="4316414"/>
            <a:ext cx="194151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eaLnBrk="1" fontAlgn="base" hangingPunct="1">
              <a:spcBef>
                <a:spcPct val="0"/>
              </a:spcBef>
              <a:spcAft>
                <a:spcPct val="10000"/>
              </a:spcAft>
              <a:buSzPct val="125000"/>
              <a:buFont typeface="Wingdings" pitchFamily="2" charset="2"/>
              <a:buNone/>
            </a:pPr>
            <a:endParaRPr lang="en-US" sz="1600">
              <a:solidFill>
                <a:srgbClr val="CC0000"/>
              </a:solidFill>
            </a:endParaRPr>
          </a:p>
        </p:txBody>
      </p:sp>
      <p:sp>
        <p:nvSpPr>
          <p:cNvPr id="29" name="Text Box 10"/>
          <p:cNvSpPr txBox="1">
            <a:spLocks noChangeArrowheads="1"/>
          </p:cNvSpPr>
          <p:nvPr/>
        </p:nvSpPr>
        <p:spPr bwMode="auto">
          <a:xfrm>
            <a:off x="6491287" y="4316414"/>
            <a:ext cx="194151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eaLnBrk="1" fontAlgn="base" hangingPunct="1">
              <a:spcBef>
                <a:spcPct val="0"/>
              </a:spcBef>
              <a:spcAft>
                <a:spcPct val="10000"/>
              </a:spcAft>
              <a:buSzPct val="125000"/>
              <a:buFont typeface="Wingdings" pitchFamily="2" charset="2"/>
              <a:buNone/>
            </a:pPr>
            <a:endParaRPr lang="en-US" sz="1600">
              <a:solidFill>
                <a:srgbClr val="CC0000"/>
              </a:solidFill>
            </a:endParaRPr>
          </a:p>
        </p:txBody>
      </p:sp>
      <p:sp>
        <p:nvSpPr>
          <p:cNvPr id="30" name="Text Box 21"/>
          <p:cNvSpPr txBox="1">
            <a:spLocks noChangeArrowheads="1"/>
          </p:cNvSpPr>
          <p:nvPr/>
        </p:nvSpPr>
        <p:spPr bwMode="auto">
          <a:xfrm>
            <a:off x="2711449" y="5016172"/>
            <a:ext cx="3200400" cy="1144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algn="ctr" eaLnBrk="1" fontAlgn="base" hangingPunct="1">
              <a:lnSpc>
                <a:spcPct val="105000"/>
              </a:lnSpc>
              <a:spcBef>
                <a:spcPct val="50000"/>
              </a:spcBef>
              <a:spcAft>
                <a:spcPct val="0"/>
              </a:spcAft>
            </a:pPr>
            <a:r>
              <a:rPr lang="en-US" sz="1200" b="0" dirty="0" smtClean="0">
                <a:solidFill>
                  <a:srgbClr val="000000"/>
                </a:solidFill>
              </a:rPr>
              <a:t>Practical results focus</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smtClean="0">
                <a:solidFill>
                  <a:srgbClr val="000000"/>
                </a:solidFill>
              </a:rPr>
              <a:t>Less emotional, straightforward</a:t>
            </a:r>
          </a:p>
          <a:p>
            <a:pPr algn="ctr" eaLnBrk="1" fontAlgn="base" hangingPunct="1">
              <a:lnSpc>
                <a:spcPct val="105000"/>
              </a:lnSpc>
              <a:spcBef>
                <a:spcPct val="50000"/>
              </a:spcBef>
              <a:spcAft>
                <a:spcPct val="0"/>
              </a:spcAft>
            </a:pPr>
            <a:r>
              <a:rPr lang="en-US" sz="1200" b="0" dirty="0" smtClean="0">
                <a:solidFill>
                  <a:srgbClr val="000000"/>
                </a:solidFill>
              </a:rPr>
              <a:t>Values Functionality</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smtClean="0">
                <a:solidFill>
                  <a:srgbClr val="000000"/>
                </a:solidFill>
              </a:rPr>
              <a:t>No need for frill and enhancement</a:t>
            </a:r>
            <a:endParaRPr lang="en-US" sz="1200" b="0" dirty="0">
              <a:solidFill>
                <a:srgbClr val="000000"/>
              </a:solidFill>
            </a:endParaRPr>
          </a:p>
        </p:txBody>
      </p:sp>
      <p:sp>
        <p:nvSpPr>
          <p:cNvPr id="33" name="Text Box 22"/>
          <p:cNvSpPr txBox="1">
            <a:spLocks noChangeArrowheads="1"/>
          </p:cNvSpPr>
          <p:nvPr/>
        </p:nvSpPr>
        <p:spPr bwMode="auto">
          <a:xfrm>
            <a:off x="6159499" y="5021264"/>
            <a:ext cx="3733800" cy="1144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algn="ctr" eaLnBrk="1" fontAlgn="base" hangingPunct="1">
              <a:lnSpc>
                <a:spcPct val="105000"/>
              </a:lnSpc>
              <a:spcBef>
                <a:spcPct val="50000"/>
              </a:spcBef>
              <a:spcAft>
                <a:spcPct val="0"/>
              </a:spcAft>
            </a:pPr>
            <a:r>
              <a:rPr lang="en-US" sz="1200" b="0" dirty="0" smtClean="0">
                <a:solidFill>
                  <a:srgbClr val="000000"/>
                </a:solidFill>
              </a:rPr>
              <a:t>May seem impersonal, too businesslike</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smtClean="0">
                <a:solidFill>
                  <a:srgbClr val="000000"/>
                </a:solidFill>
              </a:rPr>
              <a:t>May put too much focus on results </a:t>
            </a:r>
          </a:p>
          <a:p>
            <a:pPr algn="ctr" eaLnBrk="1" fontAlgn="base" hangingPunct="1">
              <a:lnSpc>
                <a:spcPct val="105000"/>
              </a:lnSpc>
              <a:spcBef>
                <a:spcPct val="50000"/>
              </a:spcBef>
              <a:spcAft>
                <a:spcPct val="0"/>
              </a:spcAft>
            </a:pPr>
            <a:r>
              <a:rPr lang="en-US" sz="1200" b="0" dirty="0" smtClean="0">
                <a:solidFill>
                  <a:srgbClr val="000000"/>
                </a:solidFill>
              </a:rPr>
              <a:t>May be unimaginative, resist the uncommon</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smtClean="0">
                <a:solidFill>
                  <a:srgbClr val="000000"/>
                </a:solidFill>
              </a:rPr>
              <a:t>Hyper aware of “wasting time”</a:t>
            </a:r>
            <a:endParaRPr lang="en-US" sz="1200" b="0" dirty="0">
              <a:solidFill>
                <a:srgbClr val="000000"/>
              </a:solidFill>
            </a:endParaRPr>
          </a:p>
        </p:txBody>
      </p:sp>
      <p:sp>
        <p:nvSpPr>
          <p:cNvPr id="34" name="Round Same Side Corner Rectangle 33"/>
          <p:cNvSpPr/>
          <p:nvPr/>
        </p:nvSpPr>
        <p:spPr bwMode="auto">
          <a:xfrm>
            <a:off x="2711449" y="4535489"/>
            <a:ext cx="3200400" cy="365125"/>
          </a:xfrm>
          <a:prstGeom prst="round2SameRect">
            <a:avLst>
              <a:gd name="adj1" fmla="val 36738"/>
              <a:gd name="adj2" fmla="val 10026"/>
            </a:avLst>
          </a:prstGeom>
          <a:solidFill>
            <a:srgbClr val="92D050"/>
          </a:solidFill>
          <a:ln w="38100" cap="flat" cmpd="sng" algn="ctr">
            <a:noFill/>
            <a:prstDash val="solid"/>
            <a:round/>
            <a:headEnd type="none" w="med" len="med"/>
            <a:tailEnd type="none" w="med" len="med"/>
          </a:ln>
          <a:effectLst/>
        </p:spPr>
        <p:txBody>
          <a:bodyPr wrap="none" anchor="ctr"/>
          <a:lstStyle/>
          <a:p>
            <a:pPr algn="ctr" fontAlgn="base">
              <a:spcBef>
                <a:spcPct val="50000"/>
              </a:spcBef>
              <a:spcAft>
                <a:spcPct val="0"/>
              </a:spcAft>
              <a:defRPr/>
            </a:pPr>
            <a:r>
              <a:rPr lang="en-US" sz="2100" b="1" dirty="0">
                <a:solidFill>
                  <a:srgbClr val="FFFFFF"/>
                </a:solidFill>
              </a:rPr>
              <a:t>Strengths</a:t>
            </a:r>
          </a:p>
        </p:txBody>
      </p:sp>
      <p:sp>
        <p:nvSpPr>
          <p:cNvPr id="35" name="Round Same Side Corner Rectangle 34"/>
          <p:cNvSpPr/>
          <p:nvPr/>
        </p:nvSpPr>
        <p:spPr bwMode="auto">
          <a:xfrm>
            <a:off x="6378574" y="4535489"/>
            <a:ext cx="3200400" cy="365125"/>
          </a:xfrm>
          <a:prstGeom prst="round2SameRect">
            <a:avLst>
              <a:gd name="adj1" fmla="val 36738"/>
              <a:gd name="adj2" fmla="val 10026"/>
            </a:avLst>
          </a:prstGeom>
          <a:solidFill>
            <a:srgbClr val="92D050"/>
          </a:solidFill>
          <a:ln w="38100" cap="flat" cmpd="sng" algn="ctr">
            <a:noFill/>
            <a:prstDash val="solid"/>
            <a:round/>
            <a:headEnd type="none" w="med" len="med"/>
            <a:tailEnd type="none" w="med" len="med"/>
          </a:ln>
          <a:effectLst/>
        </p:spPr>
        <p:txBody>
          <a:bodyPr wrap="none" anchor="ctr"/>
          <a:lstStyle/>
          <a:p>
            <a:pPr algn="ctr" fontAlgn="base">
              <a:spcBef>
                <a:spcPct val="50000"/>
              </a:spcBef>
              <a:spcAft>
                <a:spcPct val="0"/>
              </a:spcAft>
              <a:defRPr/>
            </a:pPr>
            <a:r>
              <a:rPr lang="en-US" sz="2100" b="1" dirty="0">
                <a:solidFill>
                  <a:srgbClr val="FFFFFF"/>
                </a:solidFill>
              </a:rPr>
              <a:t>Limitations</a:t>
            </a:r>
          </a:p>
        </p:txBody>
      </p:sp>
      <p:sp>
        <p:nvSpPr>
          <p:cNvPr id="36" name="Rounded Rectangle 144"/>
          <p:cNvSpPr>
            <a:spLocks noChangeArrowheads="1"/>
          </p:cNvSpPr>
          <p:nvPr/>
        </p:nvSpPr>
        <p:spPr bwMode="auto">
          <a:xfrm>
            <a:off x="2711449" y="4525963"/>
            <a:ext cx="3200400" cy="1828800"/>
          </a:xfrm>
          <a:prstGeom prst="roundRect">
            <a:avLst>
              <a:gd name="adj" fmla="val 7588"/>
            </a:avLst>
          </a:prstGeom>
          <a:noFill/>
          <a:ln w="381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fontAlgn="base">
              <a:spcBef>
                <a:spcPct val="50000"/>
              </a:spcBef>
              <a:spcAft>
                <a:spcPct val="0"/>
              </a:spcAft>
            </a:pPr>
            <a:endParaRPr lang="en-US" sz="2800" b="1">
              <a:solidFill>
                <a:srgbClr val="000000"/>
              </a:solidFill>
            </a:endParaRPr>
          </a:p>
        </p:txBody>
      </p:sp>
      <p:sp>
        <p:nvSpPr>
          <p:cNvPr id="37" name="Rounded Rectangle 144"/>
          <p:cNvSpPr>
            <a:spLocks noChangeArrowheads="1"/>
          </p:cNvSpPr>
          <p:nvPr/>
        </p:nvSpPr>
        <p:spPr bwMode="auto">
          <a:xfrm>
            <a:off x="6378574" y="4525963"/>
            <a:ext cx="3200400" cy="1828800"/>
          </a:xfrm>
          <a:prstGeom prst="roundRect">
            <a:avLst>
              <a:gd name="adj" fmla="val 7588"/>
            </a:avLst>
          </a:prstGeom>
          <a:noFill/>
          <a:ln w="381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fontAlgn="base">
              <a:spcBef>
                <a:spcPct val="50000"/>
              </a:spcBef>
              <a:spcAft>
                <a:spcPct val="0"/>
              </a:spcAft>
            </a:pPr>
            <a:endParaRPr lang="en-US" sz="2800" b="1">
              <a:solidFill>
                <a:srgbClr val="000000"/>
              </a:solidFill>
            </a:endParaRPr>
          </a:p>
        </p:txBody>
      </p:sp>
      <p:cxnSp>
        <p:nvCxnSpPr>
          <p:cNvPr id="38" name="Straight Connector 41"/>
          <p:cNvCxnSpPr>
            <a:cxnSpLocks noChangeShapeType="1"/>
          </p:cNvCxnSpPr>
          <p:nvPr/>
        </p:nvCxnSpPr>
        <p:spPr bwMode="auto">
          <a:xfrm>
            <a:off x="2730499" y="4906963"/>
            <a:ext cx="3200400" cy="0"/>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cxnSp>
      <p:cxnSp>
        <p:nvCxnSpPr>
          <p:cNvPr id="41" name="Straight Connector 42"/>
          <p:cNvCxnSpPr>
            <a:cxnSpLocks noChangeShapeType="1"/>
          </p:cNvCxnSpPr>
          <p:nvPr/>
        </p:nvCxnSpPr>
        <p:spPr bwMode="auto">
          <a:xfrm>
            <a:off x="6388099" y="4906963"/>
            <a:ext cx="3200400" cy="0"/>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cxnSp>
      <p:sp>
        <p:nvSpPr>
          <p:cNvPr id="42" name="Text Box 4"/>
          <p:cNvSpPr txBox="1">
            <a:spLocks noChangeArrowheads="1"/>
          </p:cNvSpPr>
          <p:nvPr/>
        </p:nvSpPr>
        <p:spPr bwMode="auto">
          <a:xfrm>
            <a:off x="4635500" y="3848101"/>
            <a:ext cx="3052763" cy="488950"/>
          </a:xfrm>
          <a:prstGeom prst="rect">
            <a:avLst/>
          </a:prstGeom>
          <a:noFill/>
          <a:ln w="38100" algn="ctr">
            <a:noFill/>
            <a:miter lim="800000"/>
            <a:headEnd/>
            <a:tailEnd/>
          </a:ln>
          <a:effectLst/>
        </p:spPr>
        <p:txBody>
          <a:bodyPr>
            <a:spAutoFit/>
          </a:bodyPr>
          <a:lstStyle/>
          <a:p>
            <a:pPr algn="ctr" fontAlgn="base">
              <a:spcBef>
                <a:spcPct val="50000"/>
              </a:spcBef>
              <a:spcAft>
                <a:spcPct val="0"/>
              </a:spcAft>
              <a:defRPr/>
            </a:pPr>
            <a:r>
              <a:rPr lang="en-US" sz="2600" b="1" dirty="0" smtClean="0">
                <a:solidFill>
                  <a:srgbClr val="92D050"/>
                </a:solidFill>
                <a:effectLst>
                  <a:outerShdw blurRad="38100" dist="38100" dir="2700000" algn="tl">
                    <a:srgbClr val="C0C0C0"/>
                  </a:outerShdw>
                </a:effectLst>
              </a:rPr>
              <a:t>Aesthetic - Low</a:t>
            </a:r>
            <a:endParaRPr lang="en-US" sz="2600" b="1" dirty="0">
              <a:solidFill>
                <a:srgbClr val="92D050"/>
              </a:solidFill>
              <a:effectLst>
                <a:outerShdw blurRad="38100" dist="38100" dir="2700000" algn="tl">
                  <a:srgbClr val="C0C0C0"/>
                </a:outerShdw>
              </a:effectLst>
            </a:endParaRPr>
          </a:p>
        </p:txBody>
      </p:sp>
    </p:spTree>
    <p:extLst>
      <p:ext uri="{BB962C8B-B14F-4D97-AF65-F5344CB8AC3E}">
        <p14:creationId xmlns:p14="http://schemas.microsoft.com/office/powerpoint/2010/main" val="13172253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0" grpId="0"/>
      <p:bldP spid="33" grpId="0"/>
      <p:bldP spid="34" grpId="0" animBg="1"/>
      <p:bldP spid="35" grpId="0" animBg="1"/>
      <p:bldP spid="36" grpId="0" animBg="1"/>
      <p:bldP spid="37" grpId="0" animBg="1"/>
      <p:bldP spid="4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6"/>
          <p:cNvSpPr txBox="1">
            <a:spLocks noChangeArrowheads="1"/>
          </p:cNvSpPr>
          <p:nvPr/>
        </p:nvSpPr>
        <p:spPr bwMode="auto">
          <a:xfrm>
            <a:off x="2703513" y="1447801"/>
            <a:ext cx="194151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eaLnBrk="1" fontAlgn="base" hangingPunct="1">
              <a:spcBef>
                <a:spcPct val="0"/>
              </a:spcBef>
              <a:spcAft>
                <a:spcPct val="10000"/>
              </a:spcAft>
              <a:buSzPct val="125000"/>
              <a:buFont typeface="Wingdings" pitchFamily="2" charset="2"/>
              <a:buNone/>
            </a:pPr>
            <a:endParaRPr lang="en-US" sz="1600">
              <a:solidFill>
                <a:srgbClr val="CC0000"/>
              </a:solidFill>
            </a:endParaRPr>
          </a:p>
        </p:txBody>
      </p:sp>
      <p:sp>
        <p:nvSpPr>
          <p:cNvPr id="9219" name="Text Box 34"/>
          <p:cNvSpPr txBox="1">
            <a:spLocks noChangeArrowheads="1"/>
          </p:cNvSpPr>
          <p:nvPr/>
        </p:nvSpPr>
        <p:spPr bwMode="auto">
          <a:xfrm>
            <a:off x="2168526" y="114301"/>
            <a:ext cx="48863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eaLnBrk="1" fontAlgn="base" hangingPunct="1">
              <a:spcBef>
                <a:spcPct val="50000"/>
              </a:spcBef>
              <a:spcAft>
                <a:spcPct val="0"/>
              </a:spcAft>
            </a:pPr>
            <a:r>
              <a:rPr lang="en-US" sz="3000">
                <a:solidFill>
                  <a:srgbClr val="808080"/>
                </a:solidFill>
              </a:rPr>
              <a:t>Strengths and Limitations</a:t>
            </a:r>
          </a:p>
        </p:txBody>
      </p:sp>
      <p:sp>
        <p:nvSpPr>
          <p:cNvPr id="31" name="Rectangle 3"/>
          <p:cNvSpPr>
            <a:spLocks noChangeArrowheads="1"/>
          </p:cNvSpPr>
          <p:nvPr/>
        </p:nvSpPr>
        <p:spPr bwMode="auto">
          <a:xfrm>
            <a:off x="2219325" y="742950"/>
            <a:ext cx="7715250" cy="2857500"/>
          </a:xfrm>
          <a:prstGeom prst="roundRect">
            <a:avLst>
              <a:gd name="adj" fmla="val 7955"/>
            </a:avLst>
          </a:prstGeom>
          <a:noFill/>
          <a:ln>
            <a:solidFill>
              <a:schemeClr val="bg2"/>
            </a:solidFill>
            <a:headEnd/>
            <a:tailEnd/>
          </a:ln>
        </p:spPr>
        <p:style>
          <a:lnRef idx="2">
            <a:schemeClr val="accent3">
              <a:shade val="50000"/>
            </a:schemeClr>
          </a:lnRef>
          <a:fillRef idx="1">
            <a:schemeClr val="accent3"/>
          </a:fillRef>
          <a:effectRef idx="0">
            <a:schemeClr val="accent3"/>
          </a:effectRef>
          <a:fontRef idx="minor">
            <a:schemeClr val="lt1"/>
          </a:fontRef>
        </p:style>
        <p:txBody>
          <a:bodyPr wrap="none" anchor="ctr"/>
          <a:lstStyle/>
          <a:p>
            <a:pPr algn="ctr" fontAlgn="base">
              <a:spcBef>
                <a:spcPct val="50000"/>
              </a:spcBef>
              <a:spcAft>
                <a:spcPct val="0"/>
              </a:spcAft>
              <a:defRPr/>
            </a:pPr>
            <a:endParaRPr lang="en-US" sz="2800" b="1" dirty="0">
              <a:solidFill>
                <a:srgbClr val="FFFFFF"/>
              </a:solidFill>
            </a:endParaRPr>
          </a:p>
        </p:txBody>
      </p:sp>
      <p:sp>
        <p:nvSpPr>
          <p:cNvPr id="32" name="Rectangle 3"/>
          <p:cNvSpPr>
            <a:spLocks noChangeArrowheads="1"/>
          </p:cNvSpPr>
          <p:nvPr/>
        </p:nvSpPr>
        <p:spPr bwMode="auto">
          <a:xfrm>
            <a:off x="2228850" y="3741738"/>
            <a:ext cx="7715250" cy="2857500"/>
          </a:xfrm>
          <a:prstGeom prst="roundRect">
            <a:avLst>
              <a:gd name="adj" fmla="val 7955"/>
            </a:avLst>
          </a:prstGeom>
          <a:noFill/>
          <a:ln>
            <a:solidFill>
              <a:schemeClr val="bg2"/>
            </a:solidFill>
            <a:headEnd/>
            <a:tailEnd/>
          </a:ln>
        </p:spPr>
        <p:style>
          <a:lnRef idx="2">
            <a:schemeClr val="accent3">
              <a:shade val="50000"/>
            </a:schemeClr>
          </a:lnRef>
          <a:fillRef idx="1">
            <a:schemeClr val="accent3"/>
          </a:fillRef>
          <a:effectRef idx="0">
            <a:schemeClr val="accent3"/>
          </a:effectRef>
          <a:fontRef idx="minor">
            <a:schemeClr val="lt1"/>
          </a:fontRef>
        </p:style>
        <p:txBody>
          <a:bodyPr wrap="none" anchor="ctr"/>
          <a:lstStyle/>
          <a:p>
            <a:pPr algn="ctr" fontAlgn="base">
              <a:spcBef>
                <a:spcPct val="50000"/>
              </a:spcBef>
              <a:spcAft>
                <a:spcPct val="0"/>
              </a:spcAft>
              <a:defRPr/>
            </a:pPr>
            <a:endParaRPr lang="en-US" sz="2800" b="1" dirty="0">
              <a:solidFill>
                <a:srgbClr val="FFFFFF"/>
              </a:solidFill>
            </a:endParaRPr>
          </a:p>
        </p:txBody>
      </p:sp>
      <p:sp>
        <p:nvSpPr>
          <p:cNvPr id="9222" name="Text Box 6"/>
          <p:cNvSpPr txBox="1">
            <a:spLocks noChangeArrowheads="1"/>
          </p:cNvSpPr>
          <p:nvPr/>
        </p:nvSpPr>
        <p:spPr bwMode="auto">
          <a:xfrm>
            <a:off x="2722563" y="1314451"/>
            <a:ext cx="194151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eaLnBrk="1" fontAlgn="base" hangingPunct="1">
              <a:spcBef>
                <a:spcPct val="0"/>
              </a:spcBef>
              <a:spcAft>
                <a:spcPct val="10000"/>
              </a:spcAft>
              <a:buSzPct val="125000"/>
              <a:buFont typeface="Wingdings" pitchFamily="2" charset="2"/>
              <a:buNone/>
            </a:pPr>
            <a:endParaRPr lang="en-US" sz="1600">
              <a:solidFill>
                <a:srgbClr val="CC0000"/>
              </a:solidFill>
            </a:endParaRPr>
          </a:p>
        </p:txBody>
      </p:sp>
      <p:sp>
        <p:nvSpPr>
          <p:cNvPr id="9223" name="Text Box 10"/>
          <p:cNvSpPr txBox="1">
            <a:spLocks noChangeArrowheads="1"/>
          </p:cNvSpPr>
          <p:nvPr/>
        </p:nvSpPr>
        <p:spPr bwMode="auto">
          <a:xfrm>
            <a:off x="6446838" y="1314451"/>
            <a:ext cx="194151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eaLnBrk="1" fontAlgn="base" hangingPunct="1">
              <a:spcBef>
                <a:spcPct val="0"/>
              </a:spcBef>
              <a:spcAft>
                <a:spcPct val="10000"/>
              </a:spcAft>
              <a:buSzPct val="125000"/>
              <a:buFont typeface="Wingdings" pitchFamily="2" charset="2"/>
              <a:buNone/>
            </a:pPr>
            <a:endParaRPr lang="en-US" sz="1600">
              <a:solidFill>
                <a:srgbClr val="CC0000"/>
              </a:solidFill>
            </a:endParaRPr>
          </a:p>
        </p:txBody>
      </p:sp>
      <p:sp>
        <p:nvSpPr>
          <p:cNvPr id="9224" name="Text Box 21"/>
          <p:cNvSpPr txBox="1">
            <a:spLocks noChangeArrowheads="1"/>
          </p:cNvSpPr>
          <p:nvPr/>
        </p:nvSpPr>
        <p:spPr bwMode="auto">
          <a:xfrm>
            <a:off x="2703513" y="2093913"/>
            <a:ext cx="3200400" cy="1144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algn="ctr" eaLnBrk="1" fontAlgn="base" hangingPunct="1">
              <a:lnSpc>
                <a:spcPct val="105000"/>
              </a:lnSpc>
              <a:spcBef>
                <a:spcPct val="50000"/>
              </a:spcBef>
              <a:spcAft>
                <a:spcPct val="0"/>
              </a:spcAft>
            </a:pPr>
            <a:r>
              <a:rPr lang="en-US" sz="1200" b="0" dirty="0" smtClean="0">
                <a:solidFill>
                  <a:srgbClr val="000000"/>
                </a:solidFill>
              </a:rPr>
              <a:t>Focus on achievement and winning</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smtClean="0">
                <a:solidFill>
                  <a:srgbClr val="000000"/>
                </a:solidFill>
              </a:rPr>
              <a:t>Driven by competition, challenges, money</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smtClean="0">
                <a:solidFill>
                  <a:srgbClr val="000000"/>
                </a:solidFill>
              </a:rPr>
              <a:t>Efficient, no nonsense, value time</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smtClean="0">
                <a:solidFill>
                  <a:srgbClr val="000000"/>
                </a:solidFill>
              </a:rPr>
              <a:t>Ultimate outcome or results oriented</a:t>
            </a:r>
            <a:endParaRPr lang="en-US" sz="1200" b="0" dirty="0">
              <a:solidFill>
                <a:srgbClr val="000000"/>
              </a:solidFill>
            </a:endParaRPr>
          </a:p>
        </p:txBody>
      </p:sp>
      <p:sp>
        <p:nvSpPr>
          <p:cNvPr id="9225" name="Text Box 22"/>
          <p:cNvSpPr txBox="1">
            <a:spLocks noChangeArrowheads="1"/>
          </p:cNvSpPr>
          <p:nvPr/>
        </p:nvSpPr>
        <p:spPr bwMode="auto">
          <a:xfrm>
            <a:off x="6067425" y="2104070"/>
            <a:ext cx="3733800" cy="1144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algn="ctr" eaLnBrk="1" fontAlgn="base" hangingPunct="1">
              <a:lnSpc>
                <a:spcPct val="105000"/>
              </a:lnSpc>
              <a:spcBef>
                <a:spcPct val="50000"/>
              </a:spcBef>
              <a:spcAft>
                <a:spcPct val="0"/>
              </a:spcAft>
            </a:pPr>
            <a:r>
              <a:rPr lang="en-US" sz="1200" b="0" dirty="0">
                <a:solidFill>
                  <a:srgbClr val="000000"/>
                </a:solidFill>
              </a:rPr>
              <a:t>Potential workaholic</a:t>
            </a:r>
          </a:p>
          <a:p>
            <a:pPr algn="ctr" eaLnBrk="1" fontAlgn="base" hangingPunct="1">
              <a:lnSpc>
                <a:spcPct val="105000"/>
              </a:lnSpc>
              <a:spcBef>
                <a:spcPct val="50000"/>
              </a:spcBef>
              <a:spcAft>
                <a:spcPct val="0"/>
              </a:spcAft>
            </a:pPr>
            <a:r>
              <a:rPr lang="en-US" sz="1200" b="0" dirty="0">
                <a:solidFill>
                  <a:srgbClr val="000000"/>
                </a:solidFill>
              </a:rPr>
              <a:t>Lack of concern for others</a:t>
            </a:r>
          </a:p>
          <a:p>
            <a:pPr algn="ctr" eaLnBrk="1" fontAlgn="base" hangingPunct="1">
              <a:lnSpc>
                <a:spcPct val="105000"/>
              </a:lnSpc>
              <a:spcBef>
                <a:spcPct val="50000"/>
              </a:spcBef>
              <a:spcAft>
                <a:spcPct val="0"/>
              </a:spcAft>
            </a:pPr>
            <a:r>
              <a:rPr lang="en-US" sz="1200" b="0" dirty="0" smtClean="0">
                <a:solidFill>
                  <a:srgbClr val="000000"/>
                </a:solidFill>
              </a:rPr>
              <a:t>Can be too financially motivated</a:t>
            </a:r>
          </a:p>
          <a:p>
            <a:pPr algn="ctr" eaLnBrk="1" fontAlgn="base" hangingPunct="1">
              <a:lnSpc>
                <a:spcPct val="105000"/>
              </a:lnSpc>
              <a:spcBef>
                <a:spcPct val="50000"/>
              </a:spcBef>
              <a:spcAft>
                <a:spcPct val="0"/>
              </a:spcAft>
            </a:pPr>
            <a:r>
              <a:rPr lang="en-US" sz="1200" b="0" dirty="0" smtClean="0">
                <a:solidFill>
                  <a:srgbClr val="000000"/>
                </a:solidFill>
              </a:rPr>
              <a:t>Always </a:t>
            </a:r>
            <a:r>
              <a:rPr lang="en-US" sz="1200" b="0" dirty="0">
                <a:solidFill>
                  <a:srgbClr val="000000"/>
                </a:solidFill>
              </a:rPr>
              <a:t>expects something in </a:t>
            </a:r>
            <a:r>
              <a:rPr lang="en-US" sz="1200" b="0" dirty="0" smtClean="0">
                <a:solidFill>
                  <a:srgbClr val="000000"/>
                </a:solidFill>
              </a:rPr>
              <a:t>return</a:t>
            </a:r>
            <a:endParaRPr lang="en-US" sz="1200" b="0" dirty="0">
              <a:solidFill>
                <a:srgbClr val="000000"/>
              </a:solidFill>
            </a:endParaRPr>
          </a:p>
        </p:txBody>
      </p:sp>
      <p:sp>
        <p:nvSpPr>
          <p:cNvPr id="39" name="Round Same Side Corner Rectangle 38"/>
          <p:cNvSpPr/>
          <p:nvPr/>
        </p:nvSpPr>
        <p:spPr bwMode="auto">
          <a:xfrm>
            <a:off x="2667000" y="1533526"/>
            <a:ext cx="3200400" cy="365125"/>
          </a:xfrm>
          <a:prstGeom prst="round2SameRect">
            <a:avLst>
              <a:gd name="adj1" fmla="val 36738"/>
              <a:gd name="adj2" fmla="val 10026"/>
            </a:avLst>
          </a:prstGeom>
          <a:solidFill>
            <a:srgbClr val="0000FF"/>
          </a:solidFill>
          <a:ln w="38100" cap="flat" cmpd="sng" algn="ctr">
            <a:noFill/>
            <a:prstDash val="solid"/>
            <a:round/>
            <a:headEnd type="none" w="med" len="med"/>
            <a:tailEnd type="none" w="med" len="med"/>
          </a:ln>
          <a:effectLst/>
        </p:spPr>
        <p:txBody>
          <a:bodyPr wrap="none" anchor="ctr"/>
          <a:lstStyle/>
          <a:p>
            <a:pPr algn="ctr" fontAlgn="base">
              <a:spcBef>
                <a:spcPct val="50000"/>
              </a:spcBef>
              <a:spcAft>
                <a:spcPct val="0"/>
              </a:spcAft>
              <a:defRPr/>
            </a:pPr>
            <a:r>
              <a:rPr lang="en-US" sz="2100" b="1" dirty="0">
                <a:solidFill>
                  <a:srgbClr val="FFFFFF"/>
                </a:solidFill>
              </a:rPr>
              <a:t>Strengths</a:t>
            </a:r>
          </a:p>
        </p:txBody>
      </p:sp>
      <p:sp>
        <p:nvSpPr>
          <p:cNvPr id="40" name="Round Same Side Corner Rectangle 39"/>
          <p:cNvSpPr/>
          <p:nvPr/>
        </p:nvSpPr>
        <p:spPr bwMode="auto">
          <a:xfrm>
            <a:off x="6334125" y="1533526"/>
            <a:ext cx="3200400" cy="365125"/>
          </a:xfrm>
          <a:prstGeom prst="round2SameRect">
            <a:avLst>
              <a:gd name="adj1" fmla="val 36738"/>
              <a:gd name="adj2" fmla="val 10026"/>
            </a:avLst>
          </a:prstGeom>
          <a:solidFill>
            <a:srgbClr val="0000FF"/>
          </a:solidFill>
          <a:ln w="38100" cap="flat" cmpd="sng" algn="ctr">
            <a:noFill/>
            <a:prstDash val="solid"/>
            <a:round/>
            <a:headEnd type="none" w="med" len="med"/>
            <a:tailEnd type="none" w="med" len="med"/>
          </a:ln>
          <a:effectLst/>
        </p:spPr>
        <p:txBody>
          <a:bodyPr wrap="none" anchor="ctr"/>
          <a:lstStyle/>
          <a:p>
            <a:pPr algn="ctr" fontAlgn="base">
              <a:spcBef>
                <a:spcPct val="50000"/>
              </a:spcBef>
              <a:spcAft>
                <a:spcPct val="0"/>
              </a:spcAft>
              <a:defRPr/>
            </a:pPr>
            <a:r>
              <a:rPr lang="en-US" sz="2100" b="1" dirty="0">
                <a:solidFill>
                  <a:srgbClr val="FFFFFF"/>
                </a:solidFill>
              </a:rPr>
              <a:t>Limitations</a:t>
            </a:r>
          </a:p>
        </p:txBody>
      </p:sp>
      <p:sp>
        <p:nvSpPr>
          <p:cNvPr id="9228" name="Rounded Rectangle 144"/>
          <p:cNvSpPr>
            <a:spLocks noChangeArrowheads="1"/>
          </p:cNvSpPr>
          <p:nvPr/>
        </p:nvSpPr>
        <p:spPr bwMode="auto">
          <a:xfrm>
            <a:off x="2667000" y="1524000"/>
            <a:ext cx="3200400" cy="1828800"/>
          </a:xfrm>
          <a:prstGeom prst="roundRect">
            <a:avLst>
              <a:gd name="adj" fmla="val 7588"/>
            </a:avLst>
          </a:prstGeom>
          <a:noFill/>
          <a:ln w="381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fontAlgn="base">
              <a:spcBef>
                <a:spcPct val="50000"/>
              </a:spcBef>
              <a:spcAft>
                <a:spcPct val="0"/>
              </a:spcAft>
            </a:pPr>
            <a:endParaRPr lang="en-US" sz="2800" b="1">
              <a:solidFill>
                <a:srgbClr val="000000"/>
              </a:solidFill>
            </a:endParaRPr>
          </a:p>
        </p:txBody>
      </p:sp>
      <p:sp>
        <p:nvSpPr>
          <p:cNvPr id="9229" name="Rounded Rectangle 144"/>
          <p:cNvSpPr>
            <a:spLocks noChangeArrowheads="1"/>
          </p:cNvSpPr>
          <p:nvPr/>
        </p:nvSpPr>
        <p:spPr bwMode="auto">
          <a:xfrm>
            <a:off x="6334125" y="1524000"/>
            <a:ext cx="3200400" cy="1828800"/>
          </a:xfrm>
          <a:prstGeom prst="roundRect">
            <a:avLst>
              <a:gd name="adj" fmla="val 7588"/>
            </a:avLst>
          </a:prstGeom>
          <a:noFill/>
          <a:ln w="381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fontAlgn="base">
              <a:spcBef>
                <a:spcPct val="50000"/>
              </a:spcBef>
              <a:spcAft>
                <a:spcPct val="0"/>
              </a:spcAft>
            </a:pPr>
            <a:endParaRPr lang="en-US" sz="2800" b="1">
              <a:solidFill>
                <a:srgbClr val="000000"/>
              </a:solidFill>
            </a:endParaRPr>
          </a:p>
        </p:txBody>
      </p:sp>
      <p:cxnSp>
        <p:nvCxnSpPr>
          <p:cNvPr id="9230" name="Straight Connector 41"/>
          <p:cNvCxnSpPr>
            <a:cxnSpLocks noChangeShapeType="1"/>
          </p:cNvCxnSpPr>
          <p:nvPr/>
        </p:nvCxnSpPr>
        <p:spPr bwMode="auto">
          <a:xfrm>
            <a:off x="2686050" y="1905000"/>
            <a:ext cx="3200400" cy="0"/>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cxnSp>
      <p:cxnSp>
        <p:nvCxnSpPr>
          <p:cNvPr id="9231" name="Straight Connector 42"/>
          <p:cNvCxnSpPr>
            <a:cxnSpLocks noChangeShapeType="1"/>
          </p:cNvCxnSpPr>
          <p:nvPr/>
        </p:nvCxnSpPr>
        <p:spPr bwMode="auto">
          <a:xfrm>
            <a:off x="6343650" y="1905000"/>
            <a:ext cx="3200400" cy="0"/>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cxnSp>
      <p:sp>
        <p:nvSpPr>
          <p:cNvPr id="47" name="Text Box 4"/>
          <p:cNvSpPr txBox="1">
            <a:spLocks noChangeArrowheads="1"/>
          </p:cNvSpPr>
          <p:nvPr/>
        </p:nvSpPr>
        <p:spPr bwMode="auto">
          <a:xfrm>
            <a:off x="4591051" y="846138"/>
            <a:ext cx="3052763" cy="488950"/>
          </a:xfrm>
          <a:prstGeom prst="rect">
            <a:avLst/>
          </a:prstGeom>
          <a:noFill/>
          <a:ln w="38100" algn="ctr">
            <a:noFill/>
            <a:miter lim="800000"/>
            <a:headEnd/>
            <a:tailEnd/>
          </a:ln>
          <a:effectLst/>
        </p:spPr>
        <p:txBody>
          <a:bodyPr>
            <a:spAutoFit/>
          </a:bodyPr>
          <a:lstStyle/>
          <a:p>
            <a:pPr algn="ctr" fontAlgn="base">
              <a:spcBef>
                <a:spcPct val="50000"/>
              </a:spcBef>
              <a:spcAft>
                <a:spcPct val="0"/>
              </a:spcAft>
              <a:defRPr/>
            </a:pPr>
            <a:r>
              <a:rPr lang="en-US" sz="2600" b="1" dirty="0" smtClean="0">
                <a:solidFill>
                  <a:srgbClr val="0000FF"/>
                </a:solidFill>
                <a:effectLst>
                  <a:outerShdw blurRad="38100" dist="38100" dir="2700000" algn="tl">
                    <a:srgbClr val="C0C0C0"/>
                  </a:outerShdw>
                </a:effectLst>
              </a:rPr>
              <a:t>Economic - High</a:t>
            </a:r>
            <a:endParaRPr lang="en-US" sz="2600" b="1" dirty="0">
              <a:solidFill>
                <a:srgbClr val="0000FF"/>
              </a:solidFill>
              <a:effectLst>
                <a:outerShdw blurRad="38100" dist="38100" dir="2700000" algn="tl">
                  <a:srgbClr val="C0C0C0"/>
                </a:outerShdw>
              </a:effectLst>
            </a:endParaRPr>
          </a:p>
        </p:txBody>
      </p:sp>
      <p:sp>
        <p:nvSpPr>
          <p:cNvPr id="48" name="Text Box 4"/>
          <p:cNvSpPr txBox="1">
            <a:spLocks noChangeArrowheads="1"/>
          </p:cNvSpPr>
          <p:nvPr/>
        </p:nvSpPr>
        <p:spPr bwMode="auto">
          <a:xfrm>
            <a:off x="4503738" y="3836988"/>
            <a:ext cx="3052762" cy="488950"/>
          </a:xfrm>
          <a:prstGeom prst="rect">
            <a:avLst/>
          </a:prstGeom>
          <a:noFill/>
          <a:ln w="38100" algn="ctr">
            <a:noFill/>
            <a:miter lim="800000"/>
            <a:headEnd/>
            <a:tailEnd/>
          </a:ln>
          <a:effectLst/>
        </p:spPr>
        <p:txBody>
          <a:bodyPr>
            <a:spAutoFit/>
          </a:bodyPr>
          <a:lstStyle/>
          <a:p>
            <a:pPr algn="ctr" fontAlgn="base">
              <a:spcBef>
                <a:spcPct val="50000"/>
              </a:spcBef>
              <a:spcAft>
                <a:spcPct val="0"/>
              </a:spcAft>
              <a:defRPr/>
            </a:pPr>
            <a:r>
              <a:rPr lang="en-US" sz="2600" b="1" dirty="0" smtClean="0">
                <a:solidFill>
                  <a:srgbClr val="0000FF"/>
                </a:solidFill>
                <a:effectLst>
                  <a:outerShdw blurRad="38100" dist="38100" dir="2700000" algn="tl">
                    <a:srgbClr val="C0C0C0"/>
                  </a:outerShdw>
                </a:effectLst>
              </a:rPr>
              <a:t>Economic - Low</a:t>
            </a:r>
            <a:endParaRPr lang="en-US" sz="2600" b="1" dirty="0">
              <a:solidFill>
                <a:srgbClr val="0000FF"/>
              </a:solidFill>
              <a:effectLst>
                <a:outerShdw blurRad="38100" dist="38100" dir="2700000" algn="tl">
                  <a:srgbClr val="C0C0C0"/>
                </a:outerShdw>
              </a:effectLst>
            </a:endParaRPr>
          </a:p>
        </p:txBody>
      </p:sp>
      <p:sp>
        <p:nvSpPr>
          <p:cNvPr id="49" name="Round Same Side Corner Rectangle 48"/>
          <p:cNvSpPr/>
          <p:nvPr/>
        </p:nvSpPr>
        <p:spPr bwMode="auto">
          <a:xfrm>
            <a:off x="6334125" y="4543426"/>
            <a:ext cx="3200400" cy="365125"/>
          </a:xfrm>
          <a:prstGeom prst="round2SameRect">
            <a:avLst>
              <a:gd name="adj1" fmla="val 36738"/>
              <a:gd name="adj2" fmla="val 10026"/>
            </a:avLst>
          </a:prstGeom>
          <a:solidFill>
            <a:srgbClr val="0000FF"/>
          </a:solidFill>
          <a:ln w="38100" cap="flat" cmpd="sng" algn="ctr">
            <a:noFill/>
            <a:prstDash val="solid"/>
            <a:round/>
            <a:headEnd type="none" w="med" len="med"/>
            <a:tailEnd type="none" w="med" len="med"/>
          </a:ln>
          <a:effectLst/>
        </p:spPr>
        <p:txBody>
          <a:bodyPr wrap="none" anchor="ctr"/>
          <a:lstStyle/>
          <a:p>
            <a:pPr algn="ctr" fontAlgn="base">
              <a:spcBef>
                <a:spcPct val="50000"/>
              </a:spcBef>
              <a:spcAft>
                <a:spcPct val="0"/>
              </a:spcAft>
              <a:defRPr/>
            </a:pPr>
            <a:r>
              <a:rPr lang="en-US" sz="2100" b="1" dirty="0">
                <a:solidFill>
                  <a:srgbClr val="FFFFFF"/>
                </a:solidFill>
              </a:rPr>
              <a:t>Limitations</a:t>
            </a:r>
          </a:p>
        </p:txBody>
      </p:sp>
      <p:sp>
        <p:nvSpPr>
          <p:cNvPr id="50" name="Round Same Side Corner Rectangle 49"/>
          <p:cNvSpPr/>
          <p:nvPr/>
        </p:nvSpPr>
        <p:spPr bwMode="auto">
          <a:xfrm>
            <a:off x="2667000" y="4543426"/>
            <a:ext cx="3200400" cy="365125"/>
          </a:xfrm>
          <a:prstGeom prst="round2SameRect">
            <a:avLst>
              <a:gd name="adj1" fmla="val 36738"/>
              <a:gd name="adj2" fmla="val 10026"/>
            </a:avLst>
          </a:prstGeom>
          <a:solidFill>
            <a:srgbClr val="0000FF"/>
          </a:solidFill>
          <a:ln w="38100" cap="flat" cmpd="sng" algn="ctr">
            <a:noFill/>
            <a:prstDash val="solid"/>
            <a:round/>
            <a:headEnd type="none" w="med" len="med"/>
            <a:tailEnd type="none" w="med" len="med"/>
          </a:ln>
          <a:effectLst/>
        </p:spPr>
        <p:txBody>
          <a:bodyPr wrap="none" anchor="ctr"/>
          <a:lstStyle/>
          <a:p>
            <a:pPr algn="ctr" fontAlgn="base">
              <a:spcBef>
                <a:spcPct val="50000"/>
              </a:spcBef>
              <a:spcAft>
                <a:spcPct val="0"/>
              </a:spcAft>
              <a:defRPr/>
            </a:pPr>
            <a:r>
              <a:rPr lang="en-US" sz="2100" b="1" dirty="0">
                <a:solidFill>
                  <a:srgbClr val="FFFFFF"/>
                </a:solidFill>
              </a:rPr>
              <a:t>Strengths</a:t>
            </a:r>
          </a:p>
        </p:txBody>
      </p:sp>
      <p:sp>
        <p:nvSpPr>
          <p:cNvPr id="14362" name="Text Box 23"/>
          <p:cNvSpPr txBox="1">
            <a:spLocks noChangeArrowheads="1"/>
          </p:cNvSpPr>
          <p:nvPr/>
        </p:nvSpPr>
        <p:spPr bwMode="auto">
          <a:xfrm>
            <a:off x="2722563" y="5049839"/>
            <a:ext cx="2857500" cy="1144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algn="ctr" eaLnBrk="1" fontAlgn="base" hangingPunct="1">
              <a:lnSpc>
                <a:spcPct val="105000"/>
              </a:lnSpc>
              <a:spcBef>
                <a:spcPct val="50000"/>
              </a:spcBef>
              <a:spcAft>
                <a:spcPct val="0"/>
              </a:spcAft>
            </a:pPr>
            <a:r>
              <a:rPr lang="en-US" sz="1200" b="0" dirty="0" smtClean="0">
                <a:solidFill>
                  <a:srgbClr val="000000"/>
                </a:solidFill>
              </a:rPr>
              <a:t>Focused on others, less on self</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smtClean="0">
                <a:solidFill>
                  <a:srgbClr val="000000"/>
                </a:solidFill>
              </a:rPr>
              <a:t>Sensitive to others</a:t>
            </a:r>
          </a:p>
          <a:p>
            <a:pPr algn="ctr" eaLnBrk="1" fontAlgn="base" hangingPunct="1">
              <a:lnSpc>
                <a:spcPct val="105000"/>
              </a:lnSpc>
              <a:spcBef>
                <a:spcPct val="50000"/>
              </a:spcBef>
              <a:spcAft>
                <a:spcPct val="0"/>
              </a:spcAft>
            </a:pPr>
            <a:r>
              <a:rPr lang="en-US" sz="1200" b="0" dirty="0" smtClean="0">
                <a:solidFill>
                  <a:srgbClr val="000000"/>
                </a:solidFill>
              </a:rPr>
              <a:t>Values personal contribution over gain</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smtClean="0">
                <a:solidFill>
                  <a:srgbClr val="000000"/>
                </a:solidFill>
              </a:rPr>
              <a:t>Quality-oriented</a:t>
            </a:r>
            <a:endParaRPr lang="en-US" sz="1200" b="0" dirty="0">
              <a:solidFill>
                <a:srgbClr val="000000"/>
              </a:solidFill>
            </a:endParaRPr>
          </a:p>
        </p:txBody>
      </p:sp>
      <p:sp>
        <p:nvSpPr>
          <p:cNvPr id="52" name="Text Box 24"/>
          <p:cNvSpPr txBox="1">
            <a:spLocks noChangeArrowheads="1"/>
          </p:cNvSpPr>
          <p:nvPr/>
        </p:nvSpPr>
        <p:spPr bwMode="auto">
          <a:xfrm>
            <a:off x="6288088" y="5049839"/>
            <a:ext cx="3246437" cy="1144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algn="ctr" eaLnBrk="1" fontAlgn="base" hangingPunct="1">
              <a:lnSpc>
                <a:spcPct val="105000"/>
              </a:lnSpc>
              <a:spcBef>
                <a:spcPct val="50000"/>
              </a:spcBef>
              <a:spcAft>
                <a:spcPct val="0"/>
              </a:spcAft>
            </a:pPr>
            <a:r>
              <a:rPr lang="en-US" sz="1200" b="0" dirty="0" smtClean="0">
                <a:solidFill>
                  <a:srgbClr val="000000"/>
                </a:solidFill>
              </a:rPr>
              <a:t>Avoids conflict</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smtClean="0">
                <a:solidFill>
                  <a:srgbClr val="000000"/>
                </a:solidFill>
              </a:rPr>
              <a:t>High concern for others, overlooks self</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smtClean="0">
                <a:solidFill>
                  <a:srgbClr val="000000"/>
                </a:solidFill>
              </a:rPr>
              <a:t>Undervalues self </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smtClean="0">
                <a:solidFill>
                  <a:srgbClr val="000000"/>
                </a:solidFill>
              </a:rPr>
              <a:t>Tends to overcommit</a:t>
            </a:r>
            <a:endParaRPr lang="en-US" sz="1200" b="0" dirty="0">
              <a:solidFill>
                <a:srgbClr val="000000"/>
              </a:solidFill>
            </a:endParaRPr>
          </a:p>
        </p:txBody>
      </p:sp>
      <p:sp>
        <p:nvSpPr>
          <p:cNvPr id="14364" name="Rounded Rectangle 144"/>
          <p:cNvSpPr>
            <a:spLocks noChangeArrowheads="1"/>
          </p:cNvSpPr>
          <p:nvPr/>
        </p:nvSpPr>
        <p:spPr bwMode="auto">
          <a:xfrm>
            <a:off x="2667000" y="4533900"/>
            <a:ext cx="3200400" cy="1828800"/>
          </a:xfrm>
          <a:prstGeom prst="roundRect">
            <a:avLst>
              <a:gd name="adj" fmla="val 7588"/>
            </a:avLst>
          </a:prstGeom>
          <a:noFill/>
          <a:ln w="381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fontAlgn="base">
              <a:spcBef>
                <a:spcPct val="50000"/>
              </a:spcBef>
              <a:spcAft>
                <a:spcPct val="0"/>
              </a:spcAft>
            </a:pPr>
            <a:endParaRPr lang="en-US" sz="2800" b="1">
              <a:solidFill>
                <a:srgbClr val="000000"/>
              </a:solidFill>
            </a:endParaRPr>
          </a:p>
        </p:txBody>
      </p:sp>
      <p:sp>
        <p:nvSpPr>
          <p:cNvPr id="14365" name="Rounded Rectangle 144"/>
          <p:cNvSpPr>
            <a:spLocks noChangeArrowheads="1"/>
          </p:cNvSpPr>
          <p:nvPr/>
        </p:nvSpPr>
        <p:spPr bwMode="auto">
          <a:xfrm>
            <a:off x="6334125" y="4533900"/>
            <a:ext cx="3200400" cy="1828800"/>
          </a:xfrm>
          <a:prstGeom prst="roundRect">
            <a:avLst>
              <a:gd name="adj" fmla="val 7588"/>
            </a:avLst>
          </a:prstGeom>
          <a:noFill/>
          <a:ln w="381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fontAlgn="base">
              <a:spcBef>
                <a:spcPct val="50000"/>
              </a:spcBef>
              <a:spcAft>
                <a:spcPct val="0"/>
              </a:spcAft>
            </a:pPr>
            <a:endParaRPr lang="en-US" sz="2800" b="1">
              <a:solidFill>
                <a:srgbClr val="000000"/>
              </a:solidFill>
            </a:endParaRPr>
          </a:p>
        </p:txBody>
      </p:sp>
      <p:cxnSp>
        <p:nvCxnSpPr>
          <p:cNvPr id="14366" name="Straight Connector 48"/>
          <p:cNvCxnSpPr>
            <a:cxnSpLocks noChangeShapeType="1"/>
          </p:cNvCxnSpPr>
          <p:nvPr/>
        </p:nvCxnSpPr>
        <p:spPr bwMode="auto">
          <a:xfrm>
            <a:off x="2676525" y="4924425"/>
            <a:ext cx="3200400" cy="0"/>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cxnSp>
      <p:cxnSp>
        <p:nvCxnSpPr>
          <p:cNvPr id="14367" name="Straight Connector 49"/>
          <p:cNvCxnSpPr>
            <a:cxnSpLocks noChangeShapeType="1"/>
          </p:cNvCxnSpPr>
          <p:nvPr/>
        </p:nvCxnSpPr>
        <p:spPr bwMode="auto">
          <a:xfrm>
            <a:off x="6334125" y="4924425"/>
            <a:ext cx="3200400" cy="0"/>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8101014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36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36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36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36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3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48" grpId="0"/>
      <p:bldP spid="49" grpId="0" animBg="1"/>
      <p:bldP spid="50" grpId="0" animBg="1"/>
      <p:bldP spid="14362" grpId="0"/>
      <p:bldP spid="52" grpId="0"/>
      <p:bldP spid="14364" grpId="0" animBg="1"/>
      <p:bldP spid="1436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6"/>
          <p:cNvSpPr txBox="1">
            <a:spLocks noChangeArrowheads="1"/>
          </p:cNvSpPr>
          <p:nvPr/>
        </p:nvSpPr>
        <p:spPr bwMode="auto">
          <a:xfrm>
            <a:off x="2703513" y="1447801"/>
            <a:ext cx="194151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eaLnBrk="1" fontAlgn="base" hangingPunct="1">
              <a:spcBef>
                <a:spcPct val="0"/>
              </a:spcBef>
              <a:spcAft>
                <a:spcPct val="10000"/>
              </a:spcAft>
              <a:buSzPct val="125000"/>
              <a:buFont typeface="Wingdings" pitchFamily="2" charset="2"/>
              <a:buNone/>
            </a:pPr>
            <a:endParaRPr lang="en-US" sz="1600">
              <a:solidFill>
                <a:srgbClr val="CC0000"/>
              </a:solidFill>
            </a:endParaRPr>
          </a:p>
        </p:txBody>
      </p:sp>
      <p:sp>
        <p:nvSpPr>
          <p:cNvPr id="10243" name="Text Box 10"/>
          <p:cNvSpPr txBox="1">
            <a:spLocks noChangeArrowheads="1"/>
          </p:cNvSpPr>
          <p:nvPr/>
        </p:nvSpPr>
        <p:spPr bwMode="auto">
          <a:xfrm>
            <a:off x="6427788" y="1447801"/>
            <a:ext cx="194151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eaLnBrk="1" fontAlgn="base" hangingPunct="1">
              <a:spcBef>
                <a:spcPct val="0"/>
              </a:spcBef>
              <a:spcAft>
                <a:spcPct val="10000"/>
              </a:spcAft>
              <a:buSzPct val="125000"/>
              <a:buFont typeface="Wingdings" pitchFamily="2" charset="2"/>
              <a:buNone/>
            </a:pPr>
            <a:endParaRPr lang="en-US" sz="1600">
              <a:solidFill>
                <a:srgbClr val="CC0000"/>
              </a:solidFill>
            </a:endParaRPr>
          </a:p>
        </p:txBody>
      </p:sp>
      <p:sp>
        <p:nvSpPr>
          <p:cNvPr id="10244" name="Text Box 31"/>
          <p:cNvSpPr txBox="1">
            <a:spLocks noChangeArrowheads="1"/>
          </p:cNvSpPr>
          <p:nvPr/>
        </p:nvSpPr>
        <p:spPr bwMode="auto">
          <a:xfrm>
            <a:off x="2168526" y="114301"/>
            <a:ext cx="48863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eaLnBrk="1" fontAlgn="base" hangingPunct="1">
              <a:spcBef>
                <a:spcPct val="50000"/>
              </a:spcBef>
              <a:spcAft>
                <a:spcPct val="0"/>
              </a:spcAft>
            </a:pPr>
            <a:r>
              <a:rPr lang="en-US" sz="3000">
                <a:solidFill>
                  <a:srgbClr val="808080"/>
                </a:solidFill>
              </a:rPr>
              <a:t>Strengths and Limitations</a:t>
            </a:r>
          </a:p>
        </p:txBody>
      </p:sp>
      <p:sp>
        <p:nvSpPr>
          <p:cNvPr id="31" name="Rectangle 3"/>
          <p:cNvSpPr>
            <a:spLocks noChangeArrowheads="1"/>
          </p:cNvSpPr>
          <p:nvPr/>
        </p:nvSpPr>
        <p:spPr bwMode="auto">
          <a:xfrm>
            <a:off x="2228850" y="742950"/>
            <a:ext cx="7715250" cy="2857500"/>
          </a:xfrm>
          <a:prstGeom prst="roundRect">
            <a:avLst>
              <a:gd name="adj" fmla="val 7955"/>
            </a:avLst>
          </a:prstGeom>
          <a:noFill/>
          <a:ln>
            <a:solidFill>
              <a:schemeClr val="bg2"/>
            </a:solidFill>
            <a:headEnd/>
            <a:tailEnd/>
          </a:ln>
        </p:spPr>
        <p:style>
          <a:lnRef idx="2">
            <a:schemeClr val="accent3">
              <a:shade val="50000"/>
            </a:schemeClr>
          </a:lnRef>
          <a:fillRef idx="1">
            <a:schemeClr val="accent3"/>
          </a:fillRef>
          <a:effectRef idx="0">
            <a:schemeClr val="accent3"/>
          </a:effectRef>
          <a:fontRef idx="minor">
            <a:schemeClr val="lt1"/>
          </a:fontRef>
        </p:style>
        <p:txBody>
          <a:bodyPr wrap="none" anchor="ctr"/>
          <a:lstStyle/>
          <a:p>
            <a:pPr algn="ctr" fontAlgn="base">
              <a:spcBef>
                <a:spcPct val="50000"/>
              </a:spcBef>
              <a:spcAft>
                <a:spcPct val="0"/>
              </a:spcAft>
              <a:defRPr/>
            </a:pPr>
            <a:endParaRPr lang="en-US" sz="2800" b="1" dirty="0">
              <a:solidFill>
                <a:srgbClr val="FFFFFF"/>
              </a:solidFill>
            </a:endParaRPr>
          </a:p>
        </p:txBody>
      </p:sp>
      <p:sp>
        <p:nvSpPr>
          <p:cNvPr id="32" name="Rectangle 3"/>
          <p:cNvSpPr>
            <a:spLocks noChangeArrowheads="1"/>
          </p:cNvSpPr>
          <p:nvPr/>
        </p:nvSpPr>
        <p:spPr bwMode="auto">
          <a:xfrm>
            <a:off x="2228850" y="3741738"/>
            <a:ext cx="7715250" cy="2857500"/>
          </a:xfrm>
          <a:prstGeom prst="roundRect">
            <a:avLst>
              <a:gd name="adj" fmla="val 7955"/>
            </a:avLst>
          </a:prstGeom>
          <a:noFill/>
          <a:ln>
            <a:solidFill>
              <a:schemeClr val="bg2"/>
            </a:solidFill>
            <a:headEnd/>
            <a:tailEnd/>
          </a:ln>
        </p:spPr>
        <p:style>
          <a:lnRef idx="2">
            <a:schemeClr val="accent3">
              <a:shade val="50000"/>
            </a:schemeClr>
          </a:lnRef>
          <a:fillRef idx="1">
            <a:schemeClr val="accent3"/>
          </a:fillRef>
          <a:effectRef idx="0">
            <a:schemeClr val="accent3"/>
          </a:effectRef>
          <a:fontRef idx="minor">
            <a:schemeClr val="lt1"/>
          </a:fontRef>
        </p:style>
        <p:txBody>
          <a:bodyPr wrap="none" anchor="ctr"/>
          <a:lstStyle/>
          <a:p>
            <a:pPr algn="ctr" fontAlgn="base">
              <a:spcBef>
                <a:spcPct val="50000"/>
              </a:spcBef>
              <a:spcAft>
                <a:spcPct val="0"/>
              </a:spcAft>
              <a:defRPr/>
            </a:pPr>
            <a:endParaRPr lang="en-US" sz="2800" b="1" dirty="0">
              <a:solidFill>
                <a:srgbClr val="FFFFFF"/>
              </a:solidFill>
            </a:endParaRPr>
          </a:p>
        </p:txBody>
      </p:sp>
      <p:sp>
        <p:nvSpPr>
          <p:cNvPr id="37" name="Text Box 4"/>
          <p:cNvSpPr txBox="1">
            <a:spLocks noChangeArrowheads="1"/>
          </p:cNvSpPr>
          <p:nvPr/>
        </p:nvSpPr>
        <p:spPr bwMode="auto">
          <a:xfrm>
            <a:off x="4556126" y="846138"/>
            <a:ext cx="3052763" cy="488950"/>
          </a:xfrm>
          <a:prstGeom prst="rect">
            <a:avLst/>
          </a:prstGeom>
          <a:noFill/>
          <a:ln w="38100" algn="ctr">
            <a:noFill/>
            <a:miter lim="800000"/>
            <a:headEnd/>
            <a:tailEnd/>
          </a:ln>
          <a:effectLst/>
        </p:spPr>
        <p:txBody>
          <a:bodyPr>
            <a:spAutoFit/>
          </a:bodyPr>
          <a:lstStyle/>
          <a:p>
            <a:pPr algn="ctr" fontAlgn="base">
              <a:spcBef>
                <a:spcPct val="50000"/>
              </a:spcBef>
              <a:spcAft>
                <a:spcPct val="0"/>
              </a:spcAft>
              <a:defRPr/>
            </a:pPr>
            <a:r>
              <a:rPr lang="en-US" sz="2600" b="1" dirty="0" smtClean="0">
                <a:solidFill>
                  <a:schemeClr val="accent2"/>
                </a:solidFill>
                <a:effectLst>
                  <a:outerShdw blurRad="38100" dist="38100" dir="2700000" algn="tl">
                    <a:srgbClr val="C0C0C0"/>
                  </a:outerShdw>
                </a:effectLst>
              </a:rPr>
              <a:t>Individualistic - High</a:t>
            </a:r>
            <a:endParaRPr lang="en-US" sz="2600" b="1" dirty="0">
              <a:solidFill>
                <a:schemeClr val="accent2"/>
              </a:solidFill>
              <a:effectLst>
                <a:outerShdw blurRad="38100" dist="38100" dir="2700000" algn="tl">
                  <a:srgbClr val="C0C0C0"/>
                </a:outerShdw>
              </a:effectLst>
            </a:endParaRPr>
          </a:p>
        </p:txBody>
      </p:sp>
      <p:sp>
        <p:nvSpPr>
          <p:cNvPr id="10248" name="Text Box 6"/>
          <p:cNvSpPr txBox="1">
            <a:spLocks noChangeArrowheads="1"/>
          </p:cNvSpPr>
          <p:nvPr/>
        </p:nvSpPr>
        <p:spPr bwMode="auto">
          <a:xfrm>
            <a:off x="2711451" y="1314451"/>
            <a:ext cx="19415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eaLnBrk="1" fontAlgn="base" hangingPunct="1">
              <a:spcBef>
                <a:spcPct val="0"/>
              </a:spcBef>
              <a:spcAft>
                <a:spcPct val="10000"/>
              </a:spcAft>
              <a:buSzPct val="125000"/>
              <a:buFont typeface="Wingdings" pitchFamily="2" charset="2"/>
              <a:buNone/>
            </a:pPr>
            <a:endParaRPr lang="en-US" sz="1600">
              <a:solidFill>
                <a:srgbClr val="CC0000"/>
              </a:solidFill>
            </a:endParaRPr>
          </a:p>
        </p:txBody>
      </p:sp>
      <p:sp>
        <p:nvSpPr>
          <p:cNvPr id="10249" name="Text Box 10"/>
          <p:cNvSpPr txBox="1">
            <a:spLocks noChangeArrowheads="1"/>
          </p:cNvSpPr>
          <p:nvPr/>
        </p:nvSpPr>
        <p:spPr bwMode="auto">
          <a:xfrm>
            <a:off x="6435726" y="1314451"/>
            <a:ext cx="19415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eaLnBrk="1" fontAlgn="base" hangingPunct="1">
              <a:spcBef>
                <a:spcPct val="0"/>
              </a:spcBef>
              <a:spcAft>
                <a:spcPct val="10000"/>
              </a:spcAft>
              <a:buSzPct val="125000"/>
              <a:buFont typeface="Wingdings" pitchFamily="2" charset="2"/>
              <a:buNone/>
            </a:pPr>
            <a:endParaRPr lang="en-US" sz="1600">
              <a:solidFill>
                <a:srgbClr val="CC0000"/>
              </a:solidFill>
            </a:endParaRPr>
          </a:p>
        </p:txBody>
      </p:sp>
      <p:sp>
        <p:nvSpPr>
          <p:cNvPr id="10250" name="Text Box 21"/>
          <p:cNvSpPr txBox="1">
            <a:spLocks noChangeArrowheads="1"/>
          </p:cNvSpPr>
          <p:nvPr/>
        </p:nvSpPr>
        <p:spPr bwMode="auto">
          <a:xfrm>
            <a:off x="2478392" y="2028070"/>
            <a:ext cx="3571875" cy="1144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algn="ctr" eaLnBrk="1" fontAlgn="base" hangingPunct="1">
              <a:lnSpc>
                <a:spcPct val="105000"/>
              </a:lnSpc>
              <a:spcBef>
                <a:spcPct val="50000"/>
              </a:spcBef>
              <a:spcAft>
                <a:spcPct val="0"/>
              </a:spcAft>
            </a:pPr>
            <a:r>
              <a:rPr lang="en-US" sz="1200" b="0" dirty="0" smtClean="0">
                <a:solidFill>
                  <a:srgbClr val="000000"/>
                </a:solidFill>
              </a:rPr>
              <a:t>Independent, Unique</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a:solidFill>
                  <a:srgbClr val="000000"/>
                </a:solidFill>
              </a:rPr>
              <a:t>Tolerant of others’</a:t>
            </a:r>
            <a:r>
              <a:rPr lang="en-US" altLang="ja-JP" sz="1200" b="0" dirty="0">
                <a:solidFill>
                  <a:srgbClr val="000000"/>
                </a:solidFill>
              </a:rPr>
              <a:t> differences</a:t>
            </a:r>
          </a:p>
          <a:p>
            <a:pPr algn="ctr" eaLnBrk="1" fontAlgn="base" hangingPunct="1">
              <a:lnSpc>
                <a:spcPct val="105000"/>
              </a:lnSpc>
              <a:spcBef>
                <a:spcPct val="50000"/>
              </a:spcBef>
              <a:spcAft>
                <a:spcPct val="0"/>
              </a:spcAft>
            </a:pPr>
            <a:r>
              <a:rPr lang="en-US" sz="1200" b="0" dirty="0">
                <a:solidFill>
                  <a:srgbClr val="000000"/>
                </a:solidFill>
              </a:rPr>
              <a:t>Autonomous</a:t>
            </a:r>
          </a:p>
          <a:p>
            <a:pPr algn="ctr" eaLnBrk="1" fontAlgn="base" hangingPunct="1">
              <a:lnSpc>
                <a:spcPct val="105000"/>
              </a:lnSpc>
              <a:spcBef>
                <a:spcPct val="50000"/>
              </a:spcBef>
              <a:spcAft>
                <a:spcPct val="0"/>
              </a:spcAft>
            </a:pPr>
            <a:r>
              <a:rPr lang="en-US" sz="1200" b="0" dirty="0" smtClean="0">
                <a:solidFill>
                  <a:srgbClr val="000000"/>
                </a:solidFill>
              </a:rPr>
              <a:t>Variety of outstanding ideas</a:t>
            </a:r>
            <a:endParaRPr lang="en-US" sz="1200" b="0" dirty="0">
              <a:solidFill>
                <a:srgbClr val="000000"/>
              </a:solidFill>
            </a:endParaRPr>
          </a:p>
        </p:txBody>
      </p:sp>
      <p:sp>
        <p:nvSpPr>
          <p:cNvPr id="10251" name="Text Box 22"/>
          <p:cNvSpPr txBox="1">
            <a:spLocks noChangeArrowheads="1"/>
          </p:cNvSpPr>
          <p:nvPr/>
        </p:nvSpPr>
        <p:spPr bwMode="auto">
          <a:xfrm>
            <a:off x="6151563" y="2072323"/>
            <a:ext cx="3543300" cy="1144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algn="ctr" eaLnBrk="1" fontAlgn="base" hangingPunct="1">
              <a:lnSpc>
                <a:spcPct val="105000"/>
              </a:lnSpc>
              <a:spcBef>
                <a:spcPct val="50000"/>
              </a:spcBef>
              <a:spcAft>
                <a:spcPct val="0"/>
              </a:spcAft>
            </a:pPr>
            <a:r>
              <a:rPr lang="en-US" sz="1200" b="0" dirty="0">
                <a:solidFill>
                  <a:srgbClr val="000000"/>
                </a:solidFill>
              </a:rPr>
              <a:t>Resists authority</a:t>
            </a:r>
          </a:p>
          <a:p>
            <a:pPr algn="ctr" eaLnBrk="1" fontAlgn="base" hangingPunct="1">
              <a:lnSpc>
                <a:spcPct val="105000"/>
              </a:lnSpc>
              <a:spcBef>
                <a:spcPct val="50000"/>
              </a:spcBef>
              <a:spcAft>
                <a:spcPct val="0"/>
              </a:spcAft>
            </a:pPr>
            <a:r>
              <a:rPr lang="en-US" sz="1200" b="0" dirty="0">
                <a:solidFill>
                  <a:srgbClr val="000000"/>
                </a:solidFill>
              </a:rPr>
              <a:t>Dislikes structure and uniformity</a:t>
            </a:r>
          </a:p>
          <a:p>
            <a:pPr algn="ctr" eaLnBrk="1" fontAlgn="base" hangingPunct="1">
              <a:lnSpc>
                <a:spcPct val="105000"/>
              </a:lnSpc>
              <a:spcBef>
                <a:spcPct val="50000"/>
              </a:spcBef>
              <a:spcAft>
                <a:spcPct val="0"/>
              </a:spcAft>
            </a:pPr>
            <a:r>
              <a:rPr lang="en-US" sz="1200" b="0" dirty="0">
                <a:solidFill>
                  <a:srgbClr val="000000"/>
                </a:solidFill>
              </a:rPr>
              <a:t>Likely to do things </a:t>
            </a:r>
            <a:r>
              <a:rPr lang="en-US" sz="1200" b="0" i="1" dirty="0">
                <a:solidFill>
                  <a:srgbClr val="000000"/>
                </a:solidFill>
              </a:rPr>
              <a:t>their</a:t>
            </a:r>
            <a:r>
              <a:rPr lang="en-US" sz="1200" b="0" dirty="0">
                <a:solidFill>
                  <a:srgbClr val="000000"/>
                </a:solidFill>
              </a:rPr>
              <a:t> way</a:t>
            </a:r>
          </a:p>
          <a:p>
            <a:pPr algn="ctr" eaLnBrk="1" fontAlgn="base" hangingPunct="1">
              <a:lnSpc>
                <a:spcPct val="105000"/>
              </a:lnSpc>
              <a:spcBef>
                <a:spcPct val="50000"/>
              </a:spcBef>
              <a:spcAft>
                <a:spcPct val="0"/>
              </a:spcAft>
            </a:pPr>
            <a:r>
              <a:rPr lang="en-US" sz="1200" b="0" dirty="0" smtClean="0">
                <a:solidFill>
                  <a:srgbClr val="000000"/>
                </a:solidFill>
              </a:rPr>
              <a:t>May be inefficient or ineffective</a:t>
            </a:r>
            <a:endParaRPr lang="en-US" sz="1200" b="0" dirty="0">
              <a:solidFill>
                <a:srgbClr val="000000"/>
              </a:solidFill>
            </a:endParaRPr>
          </a:p>
        </p:txBody>
      </p:sp>
      <p:sp>
        <p:nvSpPr>
          <p:cNvPr id="42" name="Round Same Side Corner Rectangle 41"/>
          <p:cNvSpPr/>
          <p:nvPr/>
        </p:nvSpPr>
        <p:spPr bwMode="auto">
          <a:xfrm>
            <a:off x="2655888" y="1533526"/>
            <a:ext cx="3200400" cy="365125"/>
          </a:xfrm>
          <a:prstGeom prst="round2SameRect">
            <a:avLst>
              <a:gd name="adj1" fmla="val 36738"/>
              <a:gd name="adj2" fmla="val 10026"/>
            </a:avLst>
          </a:prstGeom>
          <a:solidFill>
            <a:schemeClr val="accent2"/>
          </a:solidFill>
          <a:ln w="38100" cap="flat" cmpd="sng" algn="ctr">
            <a:noFill/>
            <a:prstDash val="solid"/>
            <a:round/>
            <a:headEnd type="none" w="med" len="med"/>
            <a:tailEnd type="none" w="med" len="med"/>
          </a:ln>
          <a:effectLst/>
        </p:spPr>
        <p:txBody>
          <a:bodyPr wrap="none" anchor="ctr"/>
          <a:lstStyle/>
          <a:p>
            <a:pPr algn="ctr" fontAlgn="base">
              <a:spcBef>
                <a:spcPct val="50000"/>
              </a:spcBef>
              <a:spcAft>
                <a:spcPct val="0"/>
              </a:spcAft>
              <a:defRPr/>
            </a:pPr>
            <a:r>
              <a:rPr lang="en-US" sz="2100" b="1" dirty="0">
                <a:solidFill>
                  <a:srgbClr val="FFFFFF"/>
                </a:solidFill>
              </a:rPr>
              <a:t>Strengths</a:t>
            </a:r>
          </a:p>
        </p:txBody>
      </p:sp>
      <p:sp>
        <p:nvSpPr>
          <p:cNvPr id="43" name="Round Same Side Corner Rectangle 42"/>
          <p:cNvSpPr/>
          <p:nvPr/>
        </p:nvSpPr>
        <p:spPr bwMode="auto">
          <a:xfrm>
            <a:off x="6323013" y="1533526"/>
            <a:ext cx="3200400" cy="365125"/>
          </a:xfrm>
          <a:prstGeom prst="round2SameRect">
            <a:avLst>
              <a:gd name="adj1" fmla="val 36738"/>
              <a:gd name="adj2" fmla="val 10026"/>
            </a:avLst>
          </a:prstGeom>
          <a:solidFill>
            <a:schemeClr val="accent2"/>
          </a:solidFill>
          <a:ln w="38100" cap="flat" cmpd="sng" algn="ctr">
            <a:noFill/>
            <a:prstDash val="solid"/>
            <a:round/>
            <a:headEnd type="none" w="med" len="med"/>
            <a:tailEnd type="none" w="med" len="med"/>
          </a:ln>
          <a:effectLst/>
        </p:spPr>
        <p:txBody>
          <a:bodyPr wrap="none" anchor="ctr"/>
          <a:lstStyle/>
          <a:p>
            <a:pPr algn="ctr" fontAlgn="base">
              <a:spcBef>
                <a:spcPct val="50000"/>
              </a:spcBef>
              <a:spcAft>
                <a:spcPct val="0"/>
              </a:spcAft>
              <a:defRPr/>
            </a:pPr>
            <a:r>
              <a:rPr lang="en-US" sz="2100" b="1" dirty="0">
                <a:solidFill>
                  <a:srgbClr val="FFFFFF"/>
                </a:solidFill>
              </a:rPr>
              <a:t>Limitations</a:t>
            </a:r>
          </a:p>
        </p:txBody>
      </p:sp>
      <p:sp>
        <p:nvSpPr>
          <p:cNvPr id="10254" name="Rounded Rectangle 144"/>
          <p:cNvSpPr>
            <a:spLocks noChangeArrowheads="1"/>
          </p:cNvSpPr>
          <p:nvPr/>
        </p:nvSpPr>
        <p:spPr bwMode="auto">
          <a:xfrm>
            <a:off x="2655888" y="1524000"/>
            <a:ext cx="3200400" cy="1828800"/>
          </a:xfrm>
          <a:prstGeom prst="roundRect">
            <a:avLst>
              <a:gd name="adj" fmla="val 7588"/>
            </a:avLst>
          </a:prstGeom>
          <a:noFill/>
          <a:ln w="381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fontAlgn="base">
              <a:spcBef>
                <a:spcPct val="50000"/>
              </a:spcBef>
              <a:spcAft>
                <a:spcPct val="0"/>
              </a:spcAft>
            </a:pPr>
            <a:endParaRPr lang="en-US" sz="2800" b="1">
              <a:solidFill>
                <a:srgbClr val="000000"/>
              </a:solidFill>
            </a:endParaRPr>
          </a:p>
        </p:txBody>
      </p:sp>
      <p:sp>
        <p:nvSpPr>
          <p:cNvPr id="10255" name="Rounded Rectangle 144"/>
          <p:cNvSpPr>
            <a:spLocks noChangeArrowheads="1"/>
          </p:cNvSpPr>
          <p:nvPr/>
        </p:nvSpPr>
        <p:spPr bwMode="auto">
          <a:xfrm>
            <a:off x="6323013" y="1524000"/>
            <a:ext cx="3200400" cy="1828800"/>
          </a:xfrm>
          <a:prstGeom prst="roundRect">
            <a:avLst>
              <a:gd name="adj" fmla="val 7588"/>
            </a:avLst>
          </a:prstGeom>
          <a:noFill/>
          <a:ln w="381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fontAlgn="base">
              <a:spcBef>
                <a:spcPct val="50000"/>
              </a:spcBef>
              <a:spcAft>
                <a:spcPct val="0"/>
              </a:spcAft>
            </a:pPr>
            <a:endParaRPr lang="en-US" sz="2800" b="1">
              <a:solidFill>
                <a:srgbClr val="000000"/>
              </a:solidFill>
            </a:endParaRPr>
          </a:p>
        </p:txBody>
      </p:sp>
      <p:sp>
        <p:nvSpPr>
          <p:cNvPr id="46" name="Text Box 4"/>
          <p:cNvSpPr txBox="1">
            <a:spLocks noChangeArrowheads="1"/>
          </p:cNvSpPr>
          <p:nvPr/>
        </p:nvSpPr>
        <p:spPr bwMode="auto">
          <a:xfrm>
            <a:off x="4502151" y="3857625"/>
            <a:ext cx="3052763" cy="488950"/>
          </a:xfrm>
          <a:prstGeom prst="rect">
            <a:avLst/>
          </a:prstGeom>
          <a:noFill/>
          <a:ln w="38100" algn="ctr">
            <a:noFill/>
            <a:miter lim="800000"/>
            <a:headEnd/>
            <a:tailEnd/>
          </a:ln>
          <a:effectLst/>
        </p:spPr>
        <p:txBody>
          <a:bodyPr>
            <a:spAutoFit/>
          </a:bodyPr>
          <a:lstStyle/>
          <a:p>
            <a:pPr algn="ctr" fontAlgn="base">
              <a:spcBef>
                <a:spcPct val="50000"/>
              </a:spcBef>
              <a:spcAft>
                <a:spcPct val="0"/>
              </a:spcAft>
              <a:defRPr/>
            </a:pPr>
            <a:r>
              <a:rPr lang="en-US" sz="2600" b="1" dirty="0" smtClean="0">
                <a:solidFill>
                  <a:schemeClr val="accent2"/>
                </a:solidFill>
                <a:effectLst>
                  <a:outerShdw blurRad="38100" dist="38100" dir="2700000" algn="tl">
                    <a:srgbClr val="C0C0C0"/>
                  </a:outerShdw>
                </a:effectLst>
              </a:rPr>
              <a:t>Individualistic - Low</a:t>
            </a:r>
            <a:endParaRPr lang="en-US" sz="2600" b="1" dirty="0">
              <a:solidFill>
                <a:schemeClr val="accent2"/>
              </a:solidFill>
              <a:effectLst>
                <a:outerShdw blurRad="38100" dist="38100" dir="2700000" algn="tl">
                  <a:srgbClr val="C0C0C0"/>
                </a:outerShdw>
              </a:effectLst>
            </a:endParaRPr>
          </a:p>
        </p:txBody>
      </p:sp>
      <p:sp>
        <p:nvSpPr>
          <p:cNvPr id="15383" name="Text Box 6"/>
          <p:cNvSpPr txBox="1">
            <a:spLocks noChangeArrowheads="1"/>
          </p:cNvSpPr>
          <p:nvPr/>
        </p:nvSpPr>
        <p:spPr bwMode="auto">
          <a:xfrm>
            <a:off x="2713038" y="4325939"/>
            <a:ext cx="194151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eaLnBrk="1" fontAlgn="base" hangingPunct="1">
              <a:spcBef>
                <a:spcPct val="0"/>
              </a:spcBef>
              <a:spcAft>
                <a:spcPct val="10000"/>
              </a:spcAft>
              <a:buSzPct val="125000"/>
              <a:buFont typeface="Wingdings" pitchFamily="2" charset="2"/>
              <a:buNone/>
            </a:pPr>
            <a:endParaRPr lang="en-US" sz="1600">
              <a:solidFill>
                <a:srgbClr val="CC0000"/>
              </a:solidFill>
            </a:endParaRPr>
          </a:p>
        </p:txBody>
      </p:sp>
      <p:sp>
        <p:nvSpPr>
          <p:cNvPr id="15384" name="Text Box 10"/>
          <p:cNvSpPr txBox="1">
            <a:spLocks noChangeArrowheads="1"/>
          </p:cNvSpPr>
          <p:nvPr/>
        </p:nvSpPr>
        <p:spPr bwMode="auto">
          <a:xfrm>
            <a:off x="6437313" y="4325939"/>
            <a:ext cx="194151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eaLnBrk="1" fontAlgn="base" hangingPunct="1">
              <a:spcBef>
                <a:spcPct val="0"/>
              </a:spcBef>
              <a:spcAft>
                <a:spcPct val="10000"/>
              </a:spcAft>
              <a:buSzPct val="125000"/>
              <a:buFont typeface="Wingdings" pitchFamily="2" charset="2"/>
              <a:buNone/>
            </a:pPr>
            <a:endParaRPr lang="en-US" sz="1600">
              <a:solidFill>
                <a:srgbClr val="CC0000"/>
              </a:solidFill>
            </a:endParaRPr>
          </a:p>
        </p:txBody>
      </p:sp>
      <p:sp>
        <p:nvSpPr>
          <p:cNvPr id="15385" name="Text Box 21"/>
          <p:cNvSpPr txBox="1">
            <a:spLocks noChangeArrowheads="1"/>
          </p:cNvSpPr>
          <p:nvPr/>
        </p:nvSpPr>
        <p:spPr bwMode="auto">
          <a:xfrm>
            <a:off x="2409825" y="5019421"/>
            <a:ext cx="3571875" cy="1144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algn="ctr" eaLnBrk="1" fontAlgn="base" hangingPunct="1">
              <a:lnSpc>
                <a:spcPct val="105000"/>
              </a:lnSpc>
              <a:spcBef>
                <a:spcPct val="50000"/>
              </a:spcBef>
              <a:spcAft>
                <a:spcPct val="0"/>
              </a:spcAft>
            </a:pPr>
            <a:r>
              <a:rPr lang="en-US" sz="1200" b="0" dirty="0" smtClean="0">
                <a:solidFill>
                  <a:srgbClr val="000000"/>
                </a:solidFill>
              </a:rPr>
              <a:t>Don’t need credit for work</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smtClean="0">
                <a:solidFill>
                  <a:srgbClr val="000000"/>
                </a:solidFill>
              </a:rPr>
              <a:t>Value servant leadership</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a:solidFill>
                  <a:srgbClr val="000000"/>
                </a:solidFill>
              </a:rPr>
              <a:t>Good at </a:t>
            </a:r>
            <a:r>
              <a:rPr lang="en-US" sz="1200" b="0" dirty="0" smtClean="0">
                <a:solidFill>
                  <a:srgbClr val="000000"/>
                </a:solidFill>
              </a:rPr>
              <a:t>helping </a:t>
            </a:r>
            <a:r>
              <a:rPr lang="en-US" sz="1200" b="0" dirty="0">
                <a:solidFill>
                  <a:srgbClr val="000000"/>
                </a:solidFill>
              </a:rPr>
              <a:t>others</a:t>
            </a:r>
          </a:p>
          <a:p>
            <a:pPr algn="ctr" eaLnBrk="1" fontAlgn="base" hangingPunct="1">
              <a:lnSpc>
                <a:spcPct val="105000"/>
              </a:lnSpc>
              <a:spcBef>
                <a:spcPct val="50000"/>
              </a:spcBef>
              <a:spcAft>
                <a:spcPct val="0"/>
              </a:spcAft>
            </a:pPr>
            <a:r>
              <a:rPr lang="en-US" sz="1200" b="0" dirty="0" smtClean="0">
                <a:solidFill>
                  <a:srgbClr val="000000"/>
                </a:solidFill>
              </a:rPr>
              <a:t>Sees value in others easily</a:t>
            </a:r>
            <a:endParaRPr lang="en-US" sz="1200" b="0" dirty="0">
              <a:solidFill>
                <a:srgbClr val="000000"/>
              </a:solidFill>
            </a:endParaRPr>
          </a:p>
        </p:txBody>
      </p:sp>
      <p:sp>
        <p:nvSpPr>
          <p:cNvPr id="50" name="Text Box 22"/>
          <p:cNvSpPr txBox="1">
            <a:spLocks noChangeArrowheads="1"/>
          </p:cNvSpPr>
          <p:nvPr/>
        </p:nvSpPr>
        <p:spPr bwMode="auto">
          <a:xfrm>
            <a:off x="6229350" y="5022484"/>
            <a:ext cx="3543300" cy="1144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algn="ctr" eaLnBrk="1" fontAlgn="base" hangingPunct="1">
              <a:lnSpc>
                <a:spcPct val="105000"/>
              </a:lnSpc>
              <a:spcBef>
                <a:spcPct val="50000"/>
              </a:spcBef>
              <a:spcAft>
                <a:spcPct val="0"/>
              </a:spcAft>
            </a:pPr>
            <a:r>
              <a:rPr lang="en-US" sz="1200" b="0" dirty="0" smtClean="0">
                <a:solidFill>
                  <a:srgbClr val="000000"/>
                </a:solidFill>
              </a:rPr>
              <a:t>May not speak up, share opinions openly </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smtClean="0">
                <a:solidFill>
                  <a:srgbClr val="000000"/>
                </a:solidFill>
              </a:rPr>
              <a:t>May settle for less</a:t>
            </a:r>
          </a:p>
          <a:p>
            <a:pPr algn="ctr" eaLnBrk="1" fontAlgn="base" hangingPunct="1">
              <a:lnSpc>
                <a:spcPct val="105000"/>
              </a:lnSpc>
              <a:spcBef>
                <a:spcPct val="50000"/>
              </a:spcBef>
              <a:spcAft>
                <a:spcPct val="0"/>
              </a:spcAft>
            </a:pPr>
            <a:r>
              <a:rPr lang="en-US" sz="1200" b="0" dirty="0" smtClean="0">
                <a:solidFill>
                  <a:srgbClr val="000000"/>
                </a:solidFill>
              </a:rPr>
              <a:t>May not desire being directive leader</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smtClean="0">
                <a:solidFill>
                  <a:srgbClr val="000000"/>
                </a:solidFill>
              </a:rPr>
              <a:t>May be less innovative, more disciplined</a:t>
            </a:r>
            <a:endParaRPr lang="en-US" sz="1200" b="0" dirty="0">
              <a:solidFill>
                <a:srgbClr val="000000"/>
              </a:solidFill>
            </a:endParaRPr>
          </a:p>
        </p:txBody>
      </p:sp>
      <p:sp>
        <p:nvSpPr>
          <p:cNvPr id="51" name="Round Same Side Corner Rectangle 50"/>
          <p:cNvSpPr/>
          <p:nvPr/>
        </p:nvSpPr>
        <p:spPr bwMode="auto">
          <a:xfrm>
            <a:off x="2657475" y="4545014"/>
            <a:ext cx="3200400" cy="365125"/>
          </a:xfrm>
          <a:prstGeom prst="round2SameRect">
            <a:avLst>
              <a:gd name="adj1" fmla="val 36738"/>
              <a:gd name="adj2" fmla="val 10026"/>
            </a:avLst>
          </a:prstGeom>
          <a:solidFill>
            <a:schemeClr val="accent2"/>
          </a:solidFill>
          <a:ln w="38100" cap="flat" cmpd="sng" algn="ctr">
            <a:noFill/>
            <a:prstDash val="solid"/>
            <a:round/>
            <a:headEnd type="none" w="med" len="med"/>
            <a:tailEnd type="none" w="med" len="med"/>
          </a:ln>
          <a:effectLst/>
        </p:spPr>
        <p:txBody>
          <a:bodyPr wrap="none" anchor="ctr"/>
          <a:lstStyle/>
          <a:p>
            <a:pPr algn="ctr" fontAlgn="base">
              <a:spcBef>
                <a:spcPct val="50000"/>
              </a:spcBef>
              <a:spcAft>
                <a:spcPct val="0"/>
              </a:spcAft>
              <a:defRPr/>
            </a:pPr>
            <a:r>
              <a:rPr lang="en-US" sz="2100" b="1" dirty="0">
                <a:solidFill>
                  <a:srgbClr val="FFFFFF"/>
                </a:solidFill>
              </a:rPr>
              <a:t>Strengths</a:t>
            </a:r>
          </a:p>
        </p:txBody>
      </p:sp>
      <p:sp>
        <p:nvSpPr>
          <p:cNvPr id="52" name="Round Same Side Corner Rectangle 51"/>
          <p:cNvSpPr/>
          <p:nvPr/>
        </p:nvSpPr>
        <p:spPr bwMode="auto">
          <a:xfrm>
            <a:off x="6324600" y="4545014"/>
            <a:ext cx="3200400" cy="365125"/>
          </a:xfrm>
          <a:prstGeom prst="round2SameRect">
            <a:avLst>
              <a:gd name="adj1" fmla="val 36738"/>
              <a:gd name="adj2" fmla="val 10026"/>
            </a:avLst>
          </a:prstGeom>
          <a:solidFill>
            <a:schemeClr val="accent2"/>
          </a:solidFill>
          <a:ln w="38100" cap="flat" cmpd="sng" algn="ctr">
            <a:noFill/>
            <a:prstDash val="solid"/>
            <a:round/>
            <a:headEnd type="none" w="med" len="med"/>
            <a:tailEnd type="none" w="med" len="med"/>
          </a:ln>
          <a:effectLst/>
        </p:spPr>
        <p:txBody>
          <a:bodyPr wrap="none" anchor="ctr"/>
          <a:lstStyle/>
          <a:p>
            <a:pPr algn="ctr" fontAlgn="base">
              <a:spcBef>
                <a:spcPct val="50000"/>
              </a:spcBef>
              <a:spcAft>
                <a:spcPct val="0"/>
              </a:spcAft>
              <a:defRPr/>
            </a:pPr>
            <a:r>
              <a:rPr lang="en-US" sz="2100" b="1" dirty="0">
                <a:solidFill>
                  <a:srgbClr val="FFFFFF"/>
                </a:solidFill>
              </a:rPr>
              <a:t>Limitations</a:t>
            </a:r>
          </a:p>
        </p:txBody>
      </p:sp>
      <p:sp>
        <p:nvSpPr>
          <p:cNvPr id="15389" name="Rounded Rectangle 144"/>
          <p:cNvSpPr>
            <a:spLocks noChangeArrowheads="1"/>
          </p:cNvSpPr>
          <p:nvPr/>
        </p:nvSpPr>
        <p:spPr bwMode="auto">
          <a:xfrm>
            <a:off x="2657475" y="4535488"/>
            <a:ext cx="3200400" cy="1828800"/>
          </a:xfrm>
          <a:prstGeom prst="roundRect">
            <a:avLst>
              <a:gd name="adj" fmla="val 7588"/>
            </a:avLst>
          </a:prstGeom>
          <a:noFill/>
          <a:ln w="381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fontAlgn="base">
              <a:spcBef>
                <a:spcPct val="50000"/>
              </a:spcBef>
              <a:spcAft>
                <a:spcPct val="0"/>
              </a:spcAft>
            </a:pPr>
            <a:endParaRPr lang="en-US" sz="2800" b="1">
              <a:solidFill>
                <a:srgbClr val="000000"/>
              </a:solidFill>
            </a:endParaRPr>
          </a:p>
        </p:txBody>
      </p:sp>
      <p:sp>
        <p:nvSpPr>
          <p:cNvPr id="15390" name="Rounded Rectangle 144"/>
          <p:cNvSpPr>
            <a:spLocks noChangeArrowheads="1"/>
          </p:cNvSpPr>
          <p:nvPr/>
        </p:nvSpPr>
        <p:spPr bwMode="auto">
          <a:xfrm>
            <a:off x="6324600" y="4535488"/>
            <a:ext cx="3200400" cy="1828800"/>
          </a:xfrm>
          <a:prstGeom prst="roundRect">
            <a:avLst>
              <a:gd name="adj" fmla="val 7588"/>
            </a:avLst>
          </a:prstGeom>
          <a:noFill/>
          <a:ln w="381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fontAlgn="base">
              <a:spcBef>
                <a:spcPct val="50000"/>
              </a:spcBef>
              <a:spcAft>
                <a:spcPct val="0"/>
              </a:spcAft>
            </a:pPr>
            <a:endParaRPr lang="en-US" sz="2800" b="1">
              <a:solidFill>
                <a:srgbClr val="000000"/>
              </a:solidFill>
            </a:endParaRPr>
          </a:p>
        </p:txBody>
      </p:sp>
    </p:spTree>
    <p:extLst>
      <p:ext uri="{BB962C8B-B14F-4D97-AF65-F5344CB8AC3E}">
        <p14:creationId xmlns:p14="http://schemas.microsoft.com/office/powerpoint/2010/main" val="41304951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6"/>
                                        </p:tgtEl>
                                        <p:attrNameLst>
                                          <p:attrName>style.visibility</p:attrName>
                                        </p:attrNameLst>
                                      </p:cBhvr>
                                      <p:to>
                                        <p:strVal val="visible"/>
                                      </p:to>
                                    </p:set>
                                  </p:childTnLst>
                                </p:cTn>
                              </p:par>
                              <p:par>
                                <p:cTn id="9" presetID="1" presetClass="entr" presetSubtype="0" fill="hold" grpId="0" nodeType="withEffect" nodePh="1">
                                  <p:stCondLst>
                                    <p:cond delay="0"/>
                                  </p:stCondLst>
                                  <p:endCondLst>
                                    <p:cond evt="begin" delay="0">
                                      <p:tn val="9"/>
                                    </p:cond>
                                  </p:endCondLst>
                                  <p:childTnLst>
                                    <p:set>
                                      <p:cBhvr>
                                        <p:cTn id="10" dur="1" fill="hold">
                                          <p:stCondLst>
                                            <p:cond delay="0"/>
                                          </p:stCondLst>
                                        </p:cTn>
                                        <p:tgtEl>
                                          <p:spTgt spid="15383"/>
                                        </p:tgtEl>
                                        <p:attrNameLst>
                                          <p:attrName>style.visibility</p:attrName>
                                        </p:attrNameLst>
                                      </p:cBhvr>
                                      <p:to>
                                        <p:strVal val="visible"/>
                                      </p:to>
                                    </p:set>
                                  </p:childTnLst>
                                </p:cTn>
                              </p:par>
                              <p:par>
                                <p:cTn id="11" presetID="1" presetClass="entr" presetSubtype="0" fill="hold" grpId="0" nodeType="withEffect" nodePh="1">
                                  <p:stCondLst>
                                    <p:cond delay="0"/>
                                  </p:stCondLst>
                                  <p:endCondLst>
                                    <p:cond evt="begin" delay="0">
                                      <p:tn val="11"/>
                                    </p:cond>
                                  </p:endCondLst>
                                  <p:childTnLst>
                                    <p:set>
                                      <p:cBhvr>
                                        <p:cTn id="12" dur="1" fill="hold">
                                          <p:stCondLst>
                                            <p:cond delay="0"/>
                                          </p:stCondLst>
                                        </p:cTn>
                                        <p:tgtEl>
                                          <p:spTgt spid="1538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38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38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3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46" grpId="0"/>
      <p:bldP spid="15383" grpId="0"/>
      <p:bldP spid="15384" grpId="0"/>
      <p:bldP spid="15385" grpId="0"/>
      <p:bldP spid="50" grpId="0"/>
      <p:bldP spid="51" grpId="0" animBg="1"/>
      <p:bldP spid="52" grpId="0" animBg="1"/>
      <p:bldP spid="15389" grpId="0" animBg="1"/>
      <p:bldP spid="1539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6"/>
          <p:cNvSpPr txBox="1">
            <a:spLocks noChangeArrowheads="1"/>
          </p:cNvSpPr>
          <p:nvPr/>
        </p:nvSpPr>
        <p:spPr bwMode="auto">
          <a:xfrm>
            <a:off x="2703513" y="1447801"/>
            <a:ext cx="194151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eaLnBrk="1" fontAlgn="base" hangingPunct="1">
              <a:spcBef>
                <a:spcPct val="0"/>
              </a:spcBef>
              <a:spcAft>
                <a:spcPct val="10000"/>
              </a:spcAft>
              <a:buSzPct val="125000"/>
              <a:buFont typeface="Wingdings" pitchFamily="2" charset="2"/>
              <a:buNone/>
            </a:pPr>
            <a:endParaRPr lang="en-US" sz="1600">
              <a:solidFill>
                <a:srgbClr val="CC0000"/>
              </a:solidFill>
            </a:endParaRPr>
          </a:p>
        </p:txBody>
      </p:sp>
      <p:sp>
        <p:nvSpPr>
          <p:cNvPr id="10243" name="Text Box 10"/>
          <p:cNvSpPr txBox="1">
            <a:spLocks noChangeArrowheads="1"/>
          </p:cNvSpPr>
          <p:nvPr/>
        </p:nvSpPr>
        <p:spPr bwMode="auto">
          <a:xfrm>
            <a:off x="6427788" y="1447801"/>
            <a:ext cx="194151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eaLnBrk="1" fontAlgn="base" hangingPunct="1">
              <a:spcBef>
                <a:spcPct val="0"/>
              </a:spcBef>
              <a:spcAft>
                <a:spcPct val="10000"/>
              </a:spcAft>
              <a:buSzPct val="125000"/>
              <a:buFont typeface="Wingdings" pitchFamily="2" charset="2"/>
              <a:buNone/>
            </a:pPr>
            <a:endParaRPr lang="en-US" sz="1600">
              <a:solidFill>
                <a:srgbClr val="CC0000"/>
              </a:solidFill>
            </a:endParaRPr>
          </a:p>
        </p:txBody>
      </p:sp>
      <p:sp>
        <p:nvSpPr>
          <p:cNvPr id="10244" name="Text Box 31"/>
          <p:cNvSpPr txBox="1">
            <a:spLocks noChangeArrowheads="1"/>
          </p:cNvSpPr>
          <p:nvPr/>
        </p:nvSpPr>
        <p:spPr bwMode="auto">
          <a:xfrm>
            <a:off x="2168526" y="114301"/>
            <a:ext cx="48863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eaLnBrk="1" fontAlgn="base" hangingPunct="1">
              <a:spcBef>
                <a:spcPct val="50000"/>
              </a:spcBef>
              <a:spcAft>
                <a:spcPct val="0"/>
              </a:spcAft>
            </a:pPr>
            <a:r>
              <a:rPr lang="en-US" sz="3000">
                <a:solidFill>
                  <a:srgbClr val="808080"/>
                </a:solidFill>
              </a:rPr>
              <a:t>Strengths and Limitations</a:t>
            </a:r>
          </a:p>
        </p:txBody>
      </p:sp>
      <p:sp>
        <p:nvSpPr>
          <p:cNvPr id="31" name="Rectangle 3"/>
          <p:cNvSpPr>
            <a:spLocks noChangeArrowheads="1"/>
          </p:cNvSpPr>
          <p:nvPr/>
        </p:nvSpPr>
        <p:spPr bwMode="auto">
          <a:xfrm>
            <a:off x="2228850" y="742950"/>
            <a:ext cx="7715250" cy="2857500"/>
          </a:xfrm>
          <a:prstGeom prst="roundRect">
            <a:avLst>
              <a:gd name="adj" fmla="val 7955"/>
            </a:avLst>
          </a:prstGeom>
          <a:noFill/>
          <a:ln>
            <a:solidFill>
              <a:schemeClr val="bg2"/>
            </a:solidFill>
            <a:headEnd/>
            <a:tailEnd/>
          </a:ln>
        </p:spPr>
        <p:style>
          <a:lnRef idx="2">
            <a:schemeClr val="accent3">
              <a:shade val="50000"/>
            </a:schemeClr>
          </a:lnRef>
          <a:fillRef idx="1">
            <a:schemeClr val="accent3"/>
          </a:fillRef>
          <a:effectRef idx="0">
            <a:schemeClr val="accent3"/>
          </a:effectRef>
          <a:fontRef idx="minor">
            <a:schemeClr val="lt1"/>
          </a:fontRef>
        </p:style>
        <p:txBody>
          <a:bodyPr wrap="none" anchor="ctr"/>
          <a:lstStyle/>
          <a:p>
            <a:pPr algn="ctr" fontAlgn="base">
              <a:spcBef>
                <a:spcPct val="50000"/>
              </a:spcBef>
              <a:spcAft>
                <a:spcPct val="0"/>
              </a:spcAft>
              <a:defRPr/>
            </a:pPr>
            <a:endParaRPr lang="en-US" sz="2800" b="1" dirty="0">
              <a:solidFill>
                <a:srgbClr val="FFFFFF"/>
              </a:solidFill>
            </a:endParaRPr>
          </a:p>
        </p:txBody>
      </p:sp>
      <p:sp>
        <p:nvSpPr>
          <p:cNvPr id="32" name="Rectangle 3"/>
          <p:cNvSpPr>
            <a:spLocks noChangeArrowheads="1"/>
          </p:cNvSpPr>
          <p:nvPr/>
        </p:nvSpPr>
        <p:spPr bwMode="auto">
          <a:xfrm>
            <a:off x="2228850" y="3741738"/>
            <a:ext cx="7715250" cy="2857500"/>
          </a:xfrm>
          <a:prstGeom prst="roundRect">
            <a:avLst>
              <a:gd name="adj" fmla="val 7955"/>
            </a:avLst>
          </a:prstGeom>
          <a:noFill/>
          <a:ln>
            <a:solidFill>
              <a:schemeClr val="bg2"/>
            </a:solidFill>
            <a:headEnd/>
            <a:tailEnd/>
          </a:ln>
        </p:spPr>
        <p:style>
          <a:lnRef idx="2">
            <a:schemeClr val="accent3">
              <a:shade val="50000"/>
            </a:schemeClr>
          </a:lnRef>
          <a:fillRef idx="1">
            <a:schemeClr val="accent3"/>
          </a:fillRef>
          <a:effectRef idx="0">
            <a:schemeClr val="accent3"/>
          </a:effectRef>
          <a:fontRef idx="minor">
            <a:schemeClr val="lt1"/>
          </a:fontRef>
        </p:style>
        <p:txBody>
          <a:bodyPr wrap="none" anchor="ctr"/>
          <a:lstStyle/>
          <a:p>
            <a:pPr algn="ctr" fontAlgn="base">
              <a:spcBef>
                <a:spcPct val="50000"/>
              </a:spcBef>
              <a:spcAft>
                <a:spcPct val="0"/>
              </a:spcAft>
              <a:defRPr/>
            </a:pPr>
            <a:endParaRPr lang="en-US" sz="2800" b="1" dirty="0">
              <a:solidFill>
                <a:srgbClr val="FFFFFF"/>
              </a:solidFill>
            </a:endParaRPr>
          </a:p>
        </p:txBody>
      </p:sp>
      <p:sp>
        <p:nvSpPr>
          <p:cNvPr id="37" name="Text Box 4"/>
          <p:cNvSpPr txBox="1">
            <a:spLocks noChangeArrowheads="1"/>
          </p:cNvSpPr>
          <p:nvPr/>
        </p:nvSpPr>
        <p:spPr bwMode="auto">
          <a:xfrm>
            <a:off x="4556126" y="846138"/>
            <a:ext cx="3052763" cy="488950"/>
          </a:xfrm>
          <a:prstGeom prst="rect">
            <a:avLst/>
          </a:prstGeom>
          <a:noFill/>
          <a:ln w="38100" algn="ctr">
            <a:noFill/>
            <a:miter lim="800000"/>
            <a:headEnd/>
            <a:tailEnd/>
          </a:ln>
          <a:effectLst/>
        </p:spPr>
        <p:txBody>
          <a:bodyPr>
            <a:spAutoFit/>
          </a:bodyPr>
          <a:lstStyle/>
          <a:p>
            <a:pPr algn="ctr" fontAlgn="base">
              <a:spcBef>
                <a:spcPct val="50000"/>
              </a:spcBef>
              <a:spcAft>
                <a:spcPct val="0"/>
              </a:spcAft>
              <a:defRPr/>
            </a:pPr>
            <a:r>
              <a:rPr lang="en-US" sz="2600" b="1" dirty="0" smtClean="0">
                <a:solidFill>
                  <a:srgbClr val="FF0000"/>
                </a:solidFill>
                <a:effectLst>
                  <a:outerShdw blurRad="38100" dist="38100" dir="2700000" algn="tl">
                    <a:srgbClr val="C0C0C0"/>
                  </a:outerShdw>
                </a:effectLst>
              </a:rPr>
              <a:t>Political - High</a:t>
            </a:r>
            <a:endParaRPr lang="en-US" sz="2600" b="1" dirty="0">
              <a:solidFill>
                <a:srgbClr val="FF0000"/>
              </a:solidFill>
              <a:effectLst>
                <a:outerShdw blurRad="38100" dist="38100" dir="2700000" algn="tl">
                  <a:srgbClr val="C0C0C0"/>
                </a:outerShdw>
              </a:effectLst>
            </a:endParaRPr>
          </a:p>
        </p:txBody>
      </p:sp>
      <p:sp>
        <p:nvSpPr>
          <p:cNvPr id="10248" name="Text Box 6"/>
          <p:cNvSpPr txBox="1">
            <a:spLocks noChangeArrowheads="1"/>
          </p:cNvSpPr>
          <p:nvPr/>
        </p:nvSpPr>
        <p:spPr bwMode="auto">
          <a:xfrm>
            <a:off x="2711451" y="1314451"/>
            <a:ext cx="19415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eaLnBrk="1" fontAlgn="base" hangingPunct="1">
              <a:spcBef>
                <a:spcPct val="0"/>
              </a:spcBef>
              <a:spcAft>
                <a:spcPct val="10000"/>
              </a:spcAft>
              <a:buSzPct val="125000"/>
              <a:buFont typeface="Wingdings" pitchFamily="2" charset="2"/>
              <a:buNone/>
            </a:pPr>
            <a:endParaRPr lang="en-US" sz="1600">
              <a:solidFill>
                <a:srgbClr val="CC0000"/>
              </a:solidFill>
            </a:endParaRPr>
          </a:p>
        </p:txBody>
      </p:sp>
      <p:sp>
        <p:nvSpPr>
          <p:cNvPr id="10249" name="Text Box 10"/>
          <p:cNvSpPr txBox="1">
            <a:spLocks noChangeArrowheads="1"/>
          </p:cNvSpPr>
          <p:nvPr/>
        </p:nvSpPr>
        <p:spPr bwMode="auto">
          <a:xfrm>
            <a:off x="6435726" y="1314451"/>
            <a:ext cx="19415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eaLnBrk="1" fontAlgn="base" hangingPunct="1">
              <a:spcBef>
                <a:spcPct val="0"/>
              </a:spcBef>
              <a:spcAft>
                <a:spcPct val="10000"/>
              </a:spcAft>
              <a:buSzPct val="125000"/>
              <a:buFont typeface="Wingdings" pitchFamily="2" charset="2"/>
              <a:buNone/>
            </a:pPr>
            <a:endParaRPr lang="en-US" sz="1600">
              <a:solidFill>
                <a:srgbClr val="CC0000"/>
              </a:solidFill>
            </a:endParaRPr>
          </a:p>
        </p:txBody>
      </p:sp>
      <p:sp>
        <p:nvSpPr>
          <p:cNvPr id="10250" name="Text Box 21"/>
          <p:cNvSpPr txBox="1">
            <a:spLocks noChangeArrowheads="1"/>
          </p:cNvSpPr>
          <p:nvPr/>
        </p:nvSpPr>
        <p:spPr bwMode="auto">
          <a:xfrm>
            <a:off x="2474914" y="1912938"/>
            <a:ext cx="3571875" cy="1144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algn="ctr" eaLnBrk="1" fontAlgn="base" hangingPunct="1">
              <a:lnSpc>
                <a:spcPct val="105000"/>
              </a:lnSpc>
              <a:spcBef>
                <a:spcPct val="50000"/>
              </a:spcBef>
              <a:spcAft>
                <a:spcPct val="0"/>
              </a:spcAft>
            </a:pPr>
            <a:r>
              <a:rPr lang="en-US" sz="1200" b="0" dirty="0">
                <a:solidFill>
                  <a:srgbClr val="000000"/>
                </a:solidFill>
              </a:rPr>
              <a:t>Determined and competitive</a:t>
            </a:r>
          </a:p>
          <a:p>
            <a:pPr algn="ctr" eaLnBrk="1" fontAlgn="base" hangingPunct="1">
              <a:lnSpc>
                <a:spcPct val="105000"/>
              </a:lnSpc>
              <a:spcBef>
                <a:spcPct val="50000"/>
              </a:spcBef>
              <a:spcAft>
                <a:spcPct val="0"/>
              </a:spcAft>
            </a:pPr>
            <a:r>
              <a:rPr lang="en-US" sz="1200" b="0" dirty="0">
                <a:solidFill>
                  <a:srgbClr val="000000"/>
                </a:solidFill>
              </a:rPr>
              <a:t>Driven toward success</a:t>
            </a:r>
          </a:p>
          <a:p>
            <a:pPr algn="ctr" eaLnBrk="1" fontAlgn="base" hangingPunct="1">
              <a:lnSpc>
                <a:spcPct val="105000"/>
              </a:lnSpc>
              <a:spcBef>
                <a:spcPct val="50000"/>
              </a:spcBef>
              <a:spcAft>
                <a:spcPct val="0"/>
              </a:spcAft>
            </a:pPr>
            <a:r>
              <a:rPr lang="en-US" sz="1200" b="0" dirty="0">
                <a:solidFill>
                  <a:srgbClr val="000000"/>
                </a:solidFill>
              </a:rPr>
              <a:t>Good at leading others</a:t>
            </a:r>
          </a:p>
          <a:p>
            <a:pPr algn="ctr" eaLnBrk="1" fontAlgn="base" hangingPunct="1">
              <a:lnSpc>
                <a:spcPct val="105000"/>
              </a:lnSpc>
              <a:spcBef>
                <a:spcPct val="50000"/>
              </a:spcBef>
              <a:spcAft>
                <a:spcPct val="0"/>
              </a:spcAft>
            </a:pPr>
            <a:r>
              <a:rPr lang="en-US" sz="1200" b="0" dirty="0">
                <a:solidFill>
                  <a:srgbClr val="000000"/>
                </a:solidFill>
              </a:rPr>
              <a:t>Implement projects and plans</a:t>
            </a:r>
          </a:p>
        </p:txBody>
      </p:sp>
      <p:sp>
        <p:nvSpPr>
          <p:cNvPr id="10251" name="Text Box 22"/>
          <p:cNvSpPr txBox="1">
            <a:spLocks noChangeArrowheads="1"/>
          </p:cNvSpPr>
          <p:nvPr/>
        </p:nvSpPr>
        <p:spPr bwMode="auto">
          <a:xfrm>
            <a:off x="6161088" y="1909763"/>
            <a:ext cx="3543300" cy="1144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algn="ctr" eaLnBrk="1" fontAlgn="base" hangingPunct="1">
              <a:lnSpc>
                <a:spcPct val="105000"/>
              </a:lnSpc>
              <a:spcBef>
                <a:spcPct val="50000"/>
              </a:spcBef>
              <a:spcAft>
                <a:spcPct val="0"/>
              </a:spcAft>
            </a:pPr>
            <a:r>
              <a:rPr lang="en-US" sz="1200" b="0" dirty="0">
                <a:solidFill>
                  <a:srgbClr val="000000"/>
                </a:solidFill>
              </a:rPr>
              <a:t>Controlling</a:t>
            </a:r>
          </a:p>
          <a:p>
            <a:pPr algn="ctr" eaLnBrk="1" fontAlgn="base" hangingPunct="1">
              <a:lnSpc>
                <a:spcPct val="105000"/>
              </a:lnSpc>
              <a:spcBef>
                <a:spcPct val="50000"/>
              </a:spcBef>
              <a:spcAft>
                <a:spcPct val="0"/>
              </a:spcAft>
            </a:pPr>
            <a:r>
              <a:rPr lang="en-US" sz="1200" b="0" dirty="0">
                <a:solidFill>
                  <a:srgbClr val="000000"/>
                </a:solidFill>
              </a:rPr>
              <a:t>Use relationships to advance position</a:t>
            </a:r>
          </a:p>
          <a:p>
            <a:pPr algn="ctr" eaLnBrk="1" fontAlgn="base" hangingPunct="1">
              <a:lnSpc>
                <a:spcPct val="105000"/>
              </a:lnSpc>
              <a:spcBef>
                <a:spcPct val="50000"/>
              </a:spcBef>
              <a:spcAft>
                <a:spcPct val="0"/>
              </a:spcAft>
            </a:pPr>
            <a:r>
              <a:rPr lang="en-US" sz="1200" b="0" dirty="0" smtClean="0">
                <a:solidFill>
                  <a:srgbClr val="000000"/>
                </a:solidFill>
              </a:rPr>
              <a:t>Appears selfish</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a:solidFill>
                  <a:srgbClr val="000000"/>
                </a:solidFill>
              </a:rPr>
              <a:t>Values self over others</a:t>
            </a:r>
          </a:p>
        </p:txBody>
      </p:sp>
      <p:sp>
        <p:nvSpPr>
          <p:cNvPr id="42" name="Round Same Side Corner Rectangle 41"/>
          <p:cNvSpPr/>
          <p:nvPr/>
        </p:nvSpPr>
        <p:spPr bwMode="auto">
          <a:xfrm>
            <a:off x="2655888" y="1533526"/>
            <a:ext cx="3200400" cy="365125"/>
          </a:xfrm>
          <a:prstGeom prst="round2SameRect">
            <a:avLst>
              <a:gd name="adj1" fmla="val 36738"/>
              <a:gd name="adj2" fmla="val 10026"/>
            </a:avLst>
          </a:prstGeom>
          <a:solidFill>
            <a:srgbClr val="FF0000"/>
          </a:solidFill>
          <a:ln w="38100" cap="flat" cmpd="sng" algn="ctr">
            <a:noFill/>
            <a:prstDash val="solid"/>
            <a:round/>
            <a:headEnd type="none" w="med" len="med"/>
            <a:tailEnd type="none" w="med" len="med"/>
          </a:ln>
          <a:effectLst/>
        </p:spPr>
        <p:txBody>
          <a:bodyPr wrap="none" anchor="ctr"/>
          <a:lstStyle/>
          <a:p>
            <a:pPr algn="ctr" fontAlgn="base">
              <a:spcBef>
                <a:spcPct val="50000"/>
              </a:spcBef>
              <a:spcAft>
                <a:spcPct val="0"/>
              </a:spcAft>
              <a:defRPr/>
            </a:pPr>
            <a:r>
              <a:rPr lang="en-US" sz="2100" b="1" dirty="0">
                <a:solidFill>
                  <a:srgbClr val="FFFFFF"/>
                </a:solidFill>
              </a:rPr>
              <a:t>Strengths</a:t>
            </a:r>
          </a:p>
        </p:txBody>
      </p:sp>
      <p:sp>
        <p:nvSpPr>
          <p:cNvPr id="43" name="Round Same Side Corner Rectangle 42"/>
          <p:cNvSpPr/>
          <p:nvPr/>
        </p:nvSpPr>
        <p:spPr bwMode="auto">
          <a:xfrm>
            <a:off x="6323013" y="1533526"/>
            <a:ext cx="3200400" cy="365125"/>
          </a:xfrm>
          <a:prstGeom prst="round2SameRect">
            <a:avLst>
              <a:gd name="adj1" fmla="val 36738"/>
              <a:gd name="adj2" fmla="val 10026"/>
            </a:avLst>
          </a:prstGeom>
          <a:solidFill>
            <a:srgbClr val="FF0000"/>
          </a:solidFill>
          <a:ln w="38100" cap="flat" cmpd="sng" algn="ctr">
            <a:noFill/>
            <a:prstDash val="solid"/>
            <a:round/>
            <a:headEnd type="none" w="med" len="med"/>
            <a:tailEnd type="none" w="med" len="med"/>
          </a:ln>
          <a:effectLst/>
        </p:spPr>
        <p:txBody>
          <a:bodyPr wrap="none" anchor="ctr"/>
          <a:lstStyle/>
          <a:p>
            <a:pPr algn="ctr" fontAlgn="base">
              <a:spcBef>
                <a:spcPct val="50000"/>
              </a:spcBef>
              <a:spcAft>
                <a:spcPct val="0"/>
              </a:spcAft>
              <a:defRPr/>
            </a:pPr>
            <a:r>
              <a:rPr lang="en-US" sz="2100" b="1" dirty="0">
                <a:solidFill>
                  <a:srgbClr val="FFFFFF"/>
                </a:solidFill>
              </a:rPr>
              <a:t>Limitations</a:t>
            </a:r>
          </a:p>
        </p:txBody>
      </p:sp>
      <p:sp>
        <p:nvSpPr>
          <p:cNvPr id="10254" name="Rounded Rectangle 144"/>
          <p:cNvSpPr>
            <a:spLocks noChangeArrowheads="1"/>
          </p:cNvSpPr>
          <p:nvPr/>
        </p:nvSpPr>
        <p:spPr bwMode="auto">
          <a:xfrm>
            <a:off x="2655888" y="1524000"/>
            <a:ext cx="3200400" cy="1828800"/>
          </a:xfrm>
          <a:prstGeom prst="roundRect">
            <a:avLst>
              <a:gd name="adj" fmla="val 7588"/>
            </a:avLst>
          </a:prstGeom>
          <a:noFill/>
          <a:ln w="381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fontAlgn="base">
              <a:spcBef>
                <a:spcPct val="50000"/>
              </a:spcBef>
              <a:spcAft>
                <a:spcPct val="0"/>
              </a:spcAft>
            </a:pPr>
            <a:endParaRPr lang="en-US" sz="2800" b="1">
              <a:solidFill>
                <a:srgbClr val="000000"/>
              </a:solidFill>
            </a:endParaRPr>
          </a:p>
        </p:txBody>
      </p:sp>
      <p:sp>
        <p:nvSpPr>
          <p:cNvPr id="10255" name="Rounded Rectangle 144"/>
          <p:cNvSpPr>
            <a:spLocks noChangeArrowheads="1"/>
          </p:cNvSpPr>
          <p:nvPr/>
        </p:nvSpPr>
        <p:spPr bwMode="auto">
          <a:xfrm>
            <a:off x="6323013" y="1524000"/>
            <a:ext cx="3200400" cy="1828800"/>
          </a:xfrm>
          <a:prstGeom prst="roundRect">
            <a:avLst>
              <a:gd name="adj" fmla="val 7588"/>
            </a:avLst>
          </a:prstGeom>
          <a:noFill/>
          <a:ln w="381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fontAlgn="base">
              <a:spcBef>
                <a:spcPct val="50000"/>
              </a:spcBef>
              <a:spcAft>
                <a:spcPct val="0"/>
              </a:spcAft>
            </a:pPr>
            <a:endParaRPr lang="en-US" sz="2800" b="1">
              <a:solidFill>
                <a:srgbClr val="000000"/>
              </a:solidFill>
            </a:endParaRPr>
          </a:p>
        </p:txBody>
      </p:sp>
      <p:sp>
        <p:nvSpPr>
          <p:cNvPr id="46" name="Text Box 4"/>
          <p:cNvSpPr txBox="1">
            <a:spLocks noChangeArrowheads="1"/>
          </p:cNvSpPr>
          <p:nvPr/>
        </p:nvSpPr>
        <p:spPr bwMode="auto">
          <a:xfrm>
            <a:off x="4502151" y="3857625"/>
            <a:ext cx="3052763" cy="488950"/>
          </a:xfrm>
          <a:prstGeom prst="rect">
            <a:avLst/>
          </a:prstGeom>
          <a:noFill/>
          <a:ln w="38100" algn="ctr">
            <a:noFill/>
            <a:miter lim="800000"/>
            <a:headEnd/>
            <a:tailEnd/>
          </a:ln>
          <a:effectLst/>
        </p:spPr>
        <p:txBody>
          <a:bodyPr>
            <a:spAutoFit/>
          </a:bodyPr>
          <a:lstStyle/>
          <a:p>
            <a:pPr algn="ctr" fontAlgn="base">
              <a:spcBef>
                <a:spcPct val="50000"/>
              </a:spcBef>
              <a:spcAft>
                <a:spcPct val="0"/>
              </a:spcAft>
              <a:defRPr/>
            </a:pPr>
            <a:r>
              <a:rPr lang="en-US" sz="2600" b="1" dirty="0" smtClean="0">
                <a:solidFill>
                  <a:srgbClr val="FF0000"/>
                </a:solidFill>
                <a:effectLst>
                  <a:outerShdw blurRad="38100" dist="38100" dir="2700000" algn="tl">
                    <a:srgbClr val="C0C0C0"/>
                  </a:outerShdw>
                </a:effectLst>
              </a:rPr>
              <a:t>Political - Low</a:t>
            </a:r>
            <a:endParaRPr lang="en-US" sz="2600" b="1" dirty="0">
              <a:solidFill>
                <a:srgbClr val="FF0000"/>
              </a:solidFill>
              <a:effectLst>
                <a:outerShdw blurRad="38100" dist="38100" dir="2700000" algn="tl">
                  <a:srgbClr val="C0C0C0"/>
                </a:outerShdw>
              </a:effectLst>
            </a:endParaRPr>
          </a:p>
        </p:txBody>
      </p:sp>
      <p:sp>
        <p:nvSpPr>
          <p:cNvPr id="15383" name="Text Box 6"/>
          <p:cNvSpPr txBox="1">
            <a:spLocks noChangeArrowheads="1"/>
          </p:cNvSpPr>
          <p:nvPr/>
        </p:nvSpPr>
        <p:spPr bwMode="auto">
          <a:xfrm>
            <a:off x="2713038" y="4325939"/>
            <a:ext cx="194151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eaLnBrk="1" fontAlgn="base" hangingPunct="1">
              <a:spcBef>
                <a:spcPct val="0"/>
              </a:spcBef>
              <a:spcAft>
                <a:spcPct val="10000"/>
              </a:spcAft>
              <a:buSzPct val="125000"/>
              <a:buFont typeface="Wingdings" pitchFamily="2" charset="2"/>
              <a:buNone/>
            </a:pPr>
            <a:endParaRPr lang="en-US" sz="1600">
              <a:solidFill>
                <a:srgbClr val="CC0000"/>
              </a:solidFill>
            </a:endParaRPr>
          </a:p>
        </p:txBody>
      </p:sp>
      <p:sp>
        <p:nvSpPr>
          <p:cNvPr id="15384" name="Text Box 10"/>
          <p:cNvSpPr txBox="1">
            <a:spLocks noChangeArrowheads="1"/>
          </p:cNvSpPr>
          <p:nvPr/>
        </p:nvSpPr>
        <p:spPr bwMode="auto">
          <a:xfrm>
            <a:off x="6437313" y="4325939"/>
            <a:ext cx="194151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eaLnBrk="1" fontAlgn="base" hangingPunct="1">
              <a:spcBef>
                <a:spcPct val="0"/>
              </a:spcBef>
              <a:spcAft>
                <a:spcPct val="10000"/>
              </a:spcAft>
              <a:buSzPct val="125000"/>
              <a:buFont typeface="Wingdings" pitchFamily="2" charset="2"/>
              <a:buNone/>
            </a:pPr>
            <a:endParaRPr lang="en-US" sz="1600">
              <a:solidFill>
                <a:srgbClr val="CC0000"/>
              </a:solidFill>
            </a:endParaRPr>
          </a:p>
        </p:txBody>
      </p:sp>
      <p:sp>
        <p:nvSpPr>
          <p:cNvPr id="15385" name="Text Box 21"/>
          <p:cNvSpPr txBox="1">
            <a:spLocks noChangeArrowheads="1"/>
          </p:cNvSpPr>
          <p:nvPr/>
        </p:nvSpPr>
        <p:spPr bwMode="auto">
          <a:xfrm>
            <a:off x="2476501" y="4924426"/>
            <a:ext cx="3571875" cy="1144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algn="ctr" eaLnBrk="1" fontAlgn="base" hangingPunct="1">
              <a:lnSpc>
                <a:spcPct val="105000"/>
              </a:lnSpc>
              <a:spcBef>
                <a:spcPct val="50000"/>
              </a:spcBef>
              <a:spcAft>
                <a:spcPct val="0"/>
              </a:spcAft>
            </a:pPr>
            <a:r>
              <a:rPr lang="en-US" sz="1200" b="0" dirty="0" smtClean="0">
                <a:solidFill>
                  <a:srgbClr val="000000"/>
                </a:solidFill>
              </a:rPr>
              <a:t>Mission-driven</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smtClean="0">
                <a:solidFill>
                  <a:srgbClr val="000000"/>
                </a:solidFill>
              </a:rPr>
              <a:t>Helper, doesn’t expect credit</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smtClean="0">
                <a:solidFill>
                  <a:srgbClr val="000000"/>
                </a:solidFill>
              </a:rPr>
              <a:t>Will notice/point out other’s efforts</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smtClean="0">
                <a:solidFill>
                  <a:srgbClr val="000000"/>
                </a:solidFill>
              </a:rPr>
              <a:t>Don’t need recognition and power</a:t>
            </a:r>
            <a:endParaRPr lang="en-US" sz="1200" b="0" dirty="0">
              <a:solidFill>
                <a:srgbClr val="000000"/>
              </a:solidFill>
            </a:endParaRPr>
          </a:p>
        </p:txBody>
      </p:sp>
      <p:sp>
        <p:nvSpPr>
          <p:cNvPr id="50" name="Text Box 22"/>
          <p:cNvSpPr txBox="1">
            <a:spLocks noChangeArrowheads="1"/>
          </p:cNvSpPr>
          <p:nvPr/>
        </p:nvSpPr>
        <p:spPr bwMode="auto">
          <a:xfrm>
            <a:off x="6162675" y="4921251"/>
            <a:ext cx="3543300" cy="1144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algn="ctr" eaLnBrk="1" fontAlgn="base" hangingPunct="1">
              <a:lnSpc>
                <a:spcPct val="105000"/>
              </a:lnSpc>
              <a:spcBef>
                <a:spcPct val="50000"/>
              </a:spcBef>
              <a:spcAft>
                <a:spcPct val="0"/>
              </a:spcAft>
            </a:pPr>
            <a:r>
              <a:rPr lang="en-US" sz="1200" b="0" dirty="0" smtClean="0">
                <a:solidFill>
                  <a:srgbClr val="000000"/>
                </a:solidFill>
              </a:rPr>
              <a:t>Want to avoid conflict, problems</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smtClean="0">
                <a:solidFill>
                  <a:srgbClr val="000000"/>
                </a:solidFill>
              </a:rPr>
              <a:t>May settle for less, not fight for wants</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smtClean="0">
                <a:solidFill>
                  <a:srgbClr val="000000"/>
                </a:solidFill>
              </a:rPr>
              <a:t>May not feel confident in own ideas/self</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smtClean="0">
                <a:solidFill>
                  <a:srgbClr val="000000"/>
                </a:solidFill>
              </a:rPr>
              <a:t>May wait for opportunity, rather than seek it</a:t>
            </a:r>
            <a:endParaRPr lang="en-US" sz="1200" b="0" dirty="0">
              <a:solidFill>
                <a:srgbClr val="000000"/>
              </a:solidFill>
            </a:endParaRPr>
          </a:p>
        </p:txBody>
      </p:sp>
      <p:sp>
        <p:nvSpPr>
          <p:cNvPr id="51" name="Round Same Side Corner Rectangle 50"/>
          <p:cNvSpPr/>
          <p:nvPr/>
        </p:nvSpPr>
        <p:spPr bwMode="auto">
          <a:xfrm>
            <a:off x="2657475" y="4545014"/>
            <a:ext cx="3200400" cy="365125"/>
          </a:xfrm>
          <a:prstGeom prst="round2SameRect">
            <a:avLst>
              <a:gd name="adj1" fmla="val 36738"/>
              <a:gd name="adj2" fmla="val 10026"/>
            </a:avLst>
          </a:prstGeom>
          <a:solidFill>
            <a:srgbClr val="FF0000"/>
          </a:solidFill>
          <a:ln w="38100" cap="flat" cmpd="sng" algn="ctr">
            <a:noFill/>
            <a:prstDash val="solid"/>
            <a:round/>
            <a:headEnd type="none" w="med" len="med"/>
            <a:tailEnd type="none" w="med" len="med"/>
          </a:ln>
          <a:effectLst/>
        </p:spPr>
        <p:txBody>
          <a:bodyPr wrap="none" anchor="ctr"/>
          <a:lstStyle/>
          <a:p>
            <a:pPr algn="ctr" fontAlgn="base">
              <a:spcBef>
                <a:spcPct val="50000"/>
              </a:spcBef>
              <a:spcAft>
                <a:spcPct val="0"/>
              </a:spcAft>
              <a:defRPr/>
            </a:pPr>
            <a:r>
              <a:rPr lang="en-US" sz="2100" b="1" dirty="0">
                <a:solidFill>
                  <a:srgbClr val="FFFFFF"/>
                </a:solidFill>
              </a:rPr>
              <a:t>Strengths</a:t>
            </a:r>
          </a:p>
        </p:txBody>
      </p:sp>
      <p:sp>
        <p:nvSpPr>
          <p:cNvPr id="52" name="Round Same Side Corner Rectangle 51"/>
          <p:cNvSpPr/>
          <p:nvPr/>
        </p:nvSpPr>
        <p:spPr bwMode="auto">
          <a:xfrm>
            <a:off x="6324600" y="4545014"/>
            <a:ext cx="3200400" cy="365125"/>
          </a:xfrm>
          <a:prstGeom prst="round2SameRect">
            <a:avLst>
              <a:gd name="adj1" fmla="val 36738"/>
              <a:gd name="adj2" fmla="val 10026"/>
            </a:avLst>
          </a:prstGeom>
          <a:solidFill>
            <a:srgbClr val="FF0000"/>
          </a:solidFill>
          <a:ln w="38100" cap="flat" cmpd="sng" algn="ctr">
            <a:noFill/>
            <a:prstDash val="solid"/>
            <a:round/>
            <a:headEnd type="none" w="med" len="med"/>
            <a:tailEnd type="none" w="med" len="med"/>
          </a:ln>
          <a:effectLst/>
        </p:spPr>
        <p:txBody>
          <a:bodyPr wrap="none" anchor="ctr"/>
          <a:lstStyle/>
          <a:p>
            <a:pPr algn="ctr" fontAlgn="base">
              <a:spcBef>
                <a:spcPct val="50000"/>
              </a:spcBef>
              <a:spcAft>
                <a:spcPct val="0"/>
              </a:spcAft>
              <a:defRPr/>
            </a:pPr>
            <a:r>
              <a:rPr lang="en-US" sz="2100" b="1" dirty="0">
                <a:solidFill>
                  <a:srgbClr val="FFFFFF"/>
                </a:solidFill>
              </a:rPr>
              <a:t>Limitations</a:t>
            </a:r>
          </a:p>
        </p:txBody>
      </p:sp>
      <p:sp>
        <p:nvSpPr>
          <p:cNvPr id="15389" name="Rounded Rectangle 144"/>
          <p:cNvSpPr>
            <a:spLocks noChangeArrowheads="1"/>
          </p:cNvSpPr>
          <p:nvPr/>
        </p:nvSpPr>
        <p:spPr bwMode="auto">
          <a:xfrm>
            <a:off x="2657475" y="4535488"/>
            <a:ext cx="3200400" cy="1828800"/>
          </a:xfrm>
          <a:prstGeom prst="roundRect">
            <a:avLst>
              <a:gd name="adj" fmla="val 7588"/>
            </a:avLst>
          </a:prstGeom>
          <a:noFill/>
          <a:ln w="381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fontAlgn="base">
              <a:spcBef>
                <a:spcPct val="50000"/>
              </a:spcBef>
              <a:spcAft>
                <a:spcPct val="0"/>
              </a:spcAft>
            </a:pPr>
            <a:endParaRPr lang="en-US" sz="2800" b="1">
              <a:solidFill>
                <a:srgbClr val="000000"/>
              </a:solidFill>
            </a:endParaRPr>
          </a:p>
        </p:txBody>
      </p:sp>
      <p:sp>
        <p:nvSpPr>
          <p:cNvPr id="15390" name="Rounded Rectangle 144"/>
          <p:cNvSpPr>
            <a:spLocks noChangeArrowheads="1"/>
          </p:cNvSpPr>
          <p:nvPr/>
        </p:nvSpPr>
        <p:spPr bwMode="auto">
          <a:xfrm>
            <a:off x="6324600" y="4535488"/>
            <a:ext cx="3200400" cy="1828800"/>
          </a:xfrm>
          <a:prstGeom prst="roundRect">
            <a:avLst>
              <a:gd name="adj" fmla="val 7588"/>
            </a:avLst>
          </a:prstGeom>
          <a:noFill/>
          <a:ln w="381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fontAlgn="base">
              <a:spcBef>
                <a:spcPct val="50000"/>
              </a:spcBef>
              <a:spcAft>
                <a:spcPct val="0"/>
              </a:spcAft>
            </a:pPr>
            <a:endParaRPr lang="en-US" sz="2800" b="1">
              <a:solidFill>
                <a:srgbClr val="000000"/>
              </a:solidFill>
            </a:endParaRPr>
          </a:p>
        </p:txBody>
      </p:sp>
    </p:spTree>
    <p:extLst>
      <p:ext uri="{BB962C8B-B14F-4D97-AF65-F5344CB8AC3E}">
        <p14:creationId xmlns:p14="http://schemas.microsoft.com/office/powerpoint/2010/main" val="9146854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6"/>
                                        </p:tgtEl>
                                        <p:attrNameLst>
                                          <p:attrName>style.visibility</p:attrName>
                                        </p:attrNameLst>
                                      </p:cBhvr>
                                      <p:to>
                                        <p:strVal val="visible"/>
                                      </p:to>
                                    </p:set>
                                  </p:childTnLst>
                                </p:cTn>
                              </p:par>
                              <p:par>
                                <p:cTn id="9" presetID="1" presetClass="entr" presetSubtype="0" fill="hold" grpId="0" nodeType="withEffect" nodePh="1">
                                  <p:stCondLst>
                                    <p:cond delay="0"/>
                                  </p:stCondLst>
                                  <p:endCondLst>
                                    <p:cond evt="begin" delay="0">
                                      <p:tn val="9"/>
                                    </p:cond>
                                  </p:endCondLst>
                                  <p:childTnLst>
                                    <p:set>
                                      <p:cBhvr>
                                        <p:cTn id="10" dur="1" fill="hold">
                                          <p:stCondLst>
                                            <p:cond delay="0"/>
                                          </p:stCondLst>
                                        </p:cTn>
                                        <p:tgtEl>
                                          <p:spTgt spid="15383"/>
                                        </p:tgtEl>
                                        <p:attrNameLst>
                                          <p:attrName>style.visibility</p:attrName>
                                        </p:attrNameLst>
                                      </p:cBhvr>
                                      <p:to>
                                        <p:strVal val="visible"/>
                                      </p:to>
                                    </p:set>
                                  </p:childTnLst>
                                </p:cTn>
                              </p:par>
                              <p:par>
                                <p:cTn id="11" presetID="1" presetClass="entr" presetSubtype="0" fill="hold" grpId="0" nodeType="withEffect" nodePh="1">
                                  <p:stCondLst>
                                    <p:cond delay="0"/>
                                  </p:stCondLst>
                                  <p:endCondLst>
                                    <p:cond evt="begin" delay="0">
                                      <p:tn val="11"/>
                                    </p:cond>
                                  </p:endCondLst>
                                  <p:childTnLst>
                                    <p:set>
                                      <p:cBhvr>
                                        <p:cTn id="12" dur="1" fill="hold">
                                          <p:stCondLst>
                                            <p:cond delay="0"/>
                                          </p:stCondLst>
                                        </p:cTn>
                                        <p:tgtEl>
                                          <p:spTgt spid="1538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38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38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3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46" grpId="0"/>
      <p:bldP spid="15383" grpId="0"/>
      <p:bldP spid="15384" grpId="0"/>
      <p:bldP spid="15385" grpId="0"/>
      <p:bldP spid="50" grpId="0"/>
      <p:bldP spid="51" grpId="0" animBg="1"/>
      <p:bldP spid="52" grpId="0" animBg="1"/>
      <p:bldP spid="15389" grpId="0" animBg="1"/>
      <p:bldP spid="1539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31"/>
          <p:cNvSpPr txBox="1">
            <a:spLocks noChangeArrowheads="1"/>
          </p:cNvSpPr>
          <p:nvPr/>
        </p:nvSpPr>
        <p:spPr bwMode="auto">
          <a:xfrm>
            <a:off x="2168526" y="114301"/>
            <a:ext cx="48863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eaLnBrk="1" fontAlgn="base" hangingPunct="1">
              <a:spcBef>
                <a:spcPct val="50000"/>
              </a:spcBef>
              <a:spcAft>
                <a:spcPct val="0"/>
              </a:spcAft>
            </a:pPr>
            <a:r>
              <a:rPr lang="en-US" sz="3000">
                <a:solidFill>
                  <a:srgbClr val="808080"/>
                </a:solidFill>
              </a:rPr>
              <a:t>Strengths and Limitations</a:t>
            </a:r>
          </a:p>
        </p:txBody>
      </p:sp>
      <p:sp>
        <p:nvSpPr>
          <p:cNvPr id="31" name="Rectangle 3"/>
          <p:cNvSpPr>
            <a:spLocks noChangeArrowheads="1"/>
          </p:cNvSpPr>
          <p:nvPr/>
        </p:nvSpPr>
        <p:spPr bwMode="auto">
          <a:xfrm>
            <a:off x="2228850" y="742950"/>
            <a:ext cx="7715250" cy="2857500"/>
          </a:xfrm>
          <a:prstGeom prst="roundRect">
            <a:avLst>
              <a:gd name="adj" fmla="val 7955"/>
            </a:avLst>
          </a:prstGeom>
          <a:noFill/>
          <a:ln>
            <a:solidFill>
              <a:schemeClr val="bg2"/>
            </a:solidFill>
            <a:headEnd/>
            <a:tailEnd/>
          </a:ln>
        </p:spPr>
        <p:style>
          <a:lnRef idx="2">
            <a:schemeClr val="accent3">
              <a:shade val="50000"/>
            </a:schemeClr>
          </a:lnRef>
          <a:fillRef idx="1">
            <a:schemeClr val="accent3"/>
          </a:fillRef>
          <a:effectRef idx="0">
            <a:schemeClr val="accent3"/>
          </a:effectRef>
          <a:fontRef idx="minor">
            <a:schemeClr val="lt1"/>
          </a:fontRef>
        </p:style>
        <p:txBody>
          <a:bodyPr wrap="none" anchor="ctr"/>
          <a:lstStyle/>
          <a:p>
            <a:pPr algn="ctr" fontAlgn="base">
              <a:spcBef>
                <a:spcPct val="50000"/>
              </a:spcBef>
              <a:spcAft>
                <a:spcPct val="0"/>
              </a:spcAft>
              <a:defRPr/>
            </a:pPr>
            <a:endParaRPr lang="en-US" sz="2800" b="1" dirty="0">
              <a:solidFill>
                <a:srgbClr val="FFFFFF"/>
              </a:solidFill>
            </a:endParaRPr>
          </a:p>
        </p:txBody>
      </p:sp>
      <p:sp>
        <p:nvSpPr>
          <p:cNvPr id="32" name="Rectangle 3"/>
          <p:cNvSpPr>
            <a:spLocks noChangeArrowheads="1"/>
          </p:cNvSpPr>
          <p:nvPr/>
        </p:nvSpPr>
        <p:spPr bwMode="auto">
          <a:xfrm>
            <a:off x="2228850" y="3741738"/>
            <a:ext cx="7715250" cy="2857500"/>
          </a:xfrm>
          <a:prstGeom prst="roundRect">
            <a:avLst>
              <a:gd name="adj" fmla="val 7955"/>
            </a:avLst>
          </a:prstGeom>
          <a:noFill/>
          <a:ln>
            <a:solidFill>
              <a:schemeClr val="bg2"/>
            </a:solidFill>
            <a:headEnd/>
            <a:tailEnd/>
          </a:ln>
        </p:spPr>
        <p:style>
          <a:lnRef idx="2">
            <a:schemeClr val="accent3">
              <a:shade val="50000"/>
            </a:schemeClr>
          </a:lnRef>
          <a:fillRef idx="1">
            <a:schemeClr val="accent3"/>
          </a:fillRef>
          <a:effectRef idx="0">
            <a:schemeClr val="accent3"/>
          </a:effectRef>
          <a:fontRef idx="minor">
            <a:schemeClr val="lt1"/>
          </a:fontRef>
        </p:style>
        <p:txBody>
          <a:bodyPr wrap="none" anchor="ctr"/>
          <a:lstStyle/>
          <a:p>
            <a:pPr algn="ctr" fontAlgn="base">
              <a:spcBef>
                <a:spcPct val="50000"/>
              </a:spcBef>
              <a:spcAft>
                <a:spcPct val="0"/>
              </a:spcAft>
              <a:defRPr/>
            </a:pPr>
            <a:endParaRPr lang="en-US" sz="2800" b="1" dirty="0">
              <a:solidFill>
                <a:srgbClr val="FFFFFF"/>
              </a:solidFill>
            </a:endParaRPr>
          </a:p>
        </p:txBody>
      </p:sp>
      <p:sp>
        <p:nvSpPr>
          <p:cNvPr id="29" name="Text Box 4"/>
          <p:cNvSpPr txBox="1">
            <a:spLocks noChangeArrowheads="1"/>
          </p:cNvSpPr>
          <p:nvPr/>
        </p:nvSpPr>
        <p:spPr bwMode="auto">
          <a:xfrm>
            <a:off x="4529138" y="846138"/>
            <a:ext cx="3052762" cy="488950"/>
          </a:xfrm>
          <a:prstGeom prst="rect">
            <a:avLst/>
          </a:prstGeom>
          <a:noFill/>
          <a:ln w="38100" algn="ctr">
            <a:noFill/>
            <a:miter lim="800000"/>
            <a:headEnd/>
            <a:tailEnd/>
          </a:ln>
          <a:effectLst/>
        </p:spPr>
        <p:txBody>
          <a:bodyPr>
            <a:spAutoFit/>
          </a:bodyPr>
          <a:lstStyle/>
          <a:p>
            <a:pPr algn="ctr" fontAlgn="base">
              <a:spcBef>
                <a:spcPct val="50000"/>
              </a:spcBef>
              <a:spcAft>
                <a:spcPct val="0"/>
              </a:spcAft>
              <a:defRPr/>
            </a:pPr>
            <a:r>
              <a:rPr lang="en-US" sz="2600" b="1" dirty="0" smtClean="0">
                <a:ln>
                  <a:solidFill>
                    <a:srgbClr val="FFC000"/>
                  </a:solidFill>
                </a:ln>
                <a:solidFill>
                  <a:srgbClr val="FFFF00"/>
                </a:solidFill>
                <a:effectLst>
                  <a:outerShdw blurRad="38100" dist="38100" dir="2700000" algn="tl">
                    <a:srgbClr val="C0C0C0"/>
                  </a:outerShdw>
                </a:effectLst>
              </a:rPr>
              <a:t>Altruistic - High</a:t>
            </a:r>
            <a:endParaRPr lang="en-US" sz="2600" b="1" dirty="0">
              <a:ln>
                <a:solidFill>
                  <a:srgbClr val="FFC000"/>
                </a:solidFill>
              </a:ln>
              <a:solidFill>
                <a:srgbClr val="FFFF00"/>
              </a:solidFill>
              <a:effectLst>
                <a:outerShdw blurRad="38100" dist="38100" dir="2700000" algn="tl">
                  <a:srgbClr val="C0C0C0"/>
                </a:outerShdw>
              </a:effectLst>
            </a:endParaRPr>
          </a:p>
        </p:txBody>
      </p:sp>
      <p:sp>
        <p:nvSpPr>
          <p:cNvPr id="11270" name="Text Box 23"/>
          <p:cNvSpPr txBox="1">
            <a:spLocks noChangeArrowheads="1"/>
          </p:cNvSpPr>
          <p:nvPr/>
        </p:nvSpPr>
        <p:spPr bwMode="auto">
          <a:xfrm>
            <a:off x="2459037" y="2008097"/>
            <a:ext cx="3571875" cy="1131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algn="ctr" eaLnBrk="1" fontAlgn="base" hangingPunct="1">
              <a:lnSpc>
                <a:spcPct val="105000"/>
              </a:lnSpc>
              <a:spcBef>
                <a:spcPct val="50000"/>
              </a:spcBef>
              <a:spcAft>
                <a:spcPct val="0"/>
              </a:spcAft>
            </a:pPr>
            <a:r>
              <a:rPr lang="en-US" sz="1200" b="0" dirty="0">
                <a:solidFill>
                  <a:srgbClr val="000000"/>
                </a:solidFill>
              </a:rPr>
              <a:t>Generous with time and resources</a:t>
            </a:r>
          </a:p>
          <a:p>
            <a:pPr algn="ctr" eaLnBrk="1" fontAlgn="base" hangingPunct="1">
              <a:lnSpc>
                <a:spcPct val="105000"/>
              </a:lnSpc>
              <a:spcBef>
                <a:spcPct val="50000"/>
              </a:spcBef>
              <a:spcAft>
                <a:spcPct val="0"/>
              </a:spcAft>
            </a:pPr>
            <a:r>
              <a:rPr lang="en-US" sz="1200" b="0" dirty="0">
                <a:solidFill>
                  <a:srgbClr val="000000"/>
                </a:solidFill>
              </a:rPr>
              <a:t>Focusing on others</a:t>
            </a:r>
          </a:p>
          <a:p>
            <a:pPr algn="ctr" eaLnBrk="1" fontAlgn="base" hangingPunct="1">
              <a:lnSpc>
                <a:spcPct val="105000"/>
              </a:lnSpc>
              <a:spcBef>
                <a:spcPct val="50000"/>
              </a:spcBef>
              <a:spcAft>
                <a:spcPct val="0"/>
              </a:spcAft>
            </a:pPr>
            <a:r>
              <a:rPr lang="en-US" sz="1200" b="0" dirty="0" smtClean="0">
                <a:solidFill>
                  <a:srgbClr val="000000"/>
                </a:solidFill>
              </a:rPr>
              <a:t>Selfless </a:t>
            </a:r>
            <a:r>
              <a:rPr lang="en-US" sz="1200" b="0" dirty="0">
                <a:solidFill>
                  <a:srgbClr val="000000"/>
                </a:solidFill>
              </a:rPr>
              <a:t>support of causes</a:t>
            </a:r>
          </a:p>
          <a:p>
            <a:pPr algn="ctr" eaLnBrk="1" fontAlgn="base" hangingPunct="1">
              <a:lnSpc>
                <a:spcPct val="105000"/>
              </a:lnSpc>
              <a:spcBef>
                <a:spcPct val="50000"/>
              </a:spcBef>
              <a:spcAft>
                <a:spcPct val="0"/>
              </a:spcAft>
            </a:pPr>
            <a:r>
              <a:rPr lang="en-US" sz="1200" b="0" dirty="0">
                <a:solidFill>
                  <a:srgbClr val="000000"/>
                </a:solidFill>
              </a:rPr>
              <a:t>Genuine concern for others</a:t>
            </a:r>
          </a:p>
        </p:txBody>
      </p:sp>
      <p:sp>
        <p:nvSpPr>
          <p:cNvPr id="11271" name="Text Box 24"/>
          <p:cNvSpPr txBox="1">
            <a:spLocks noChangeArrowheads="1"/>
          </p:cNvSpPr>
          <p:nvPr/>
        </p:nvSpPr>
        <p:spPr bwMode="auto">
          <a:xfrm>
            <a:off x="6030912" y="2058138"/>
            <a:ext cx="3733800" cy="1131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algn="ctr" eaLnBrk="1" fontAlgn="base" hangingPunct="1">
              <a:lnSpc>
                <a:spcPct val="105000"/>
              </a:lnSpc>
              <a:spcBef>
                <a:spcPct val="50000"/>
              </a:spcBef>
              <a:spcAft>
                <a:spcPct val="0"/>
              </a:spcAft>
            </a:pPr>
            <a:r>
              <a:rPr lang="en-US" sz="1200" b="0" dirty="0">
                <a:solidFill>
                  <a:srgbClr val="000000"/>
                </a:solidFill>
              </a:rPr>
              <a:t>Values others over self</a:t>
            </a:r>
          </a:p>
          <a:p>
            <a:pPr algn="ctr" eaLnBrk="1" fontAlgn="base" hangingPunct="1">
              <a:lnSpc>
                <a:spcPct val="105000"/>
              </a:lnSpc>
              <a:spcBef>
                <a:spcPct val="50000"/>
              </a:spcBef>
              <a:spcAft>
                <a:spcPct val="0"/>
              </a:spcAft>
            </a:pPr>
            <a:r>
              <a:rPr lang="en-US" sz="1200" b="0" dirty="0">
                <a:solidFill>
                  <a:srgbClr val="000000"/>
                </a:solidFill>
              </a:rPr>
              <a:t>Impractical with own resources</a:t>
            </a:r>
          </a:p>
          <a:p>
            <a:pPr algn="ctr" eaLnBrk="1" fontAlgn="base" hangingPunct="1">
              <a:lnSpc>
                <a:spcPct val="105000"/>
              </a:lnSpc>
              <a:spcBef>
                <a:spcPct val="50000"/>
              </a:spcBef>
              <a:spcAft>
                <a:spcPct val="0"/>
              </a:spcAft>
            </a:pPr>
            <a:r>
              <a:rPr lang="en-US" sz="1200" b="0" dirty="0" smtClean="0">
                <a:solidFill>
                  <a:srgbClr val="000000"/>
                </a:solidFill>
              </a:rPr>
              <a:t>Hard </a:t>
            </a:r>
            <a:r>
              <a:rPr lang="en-US" sz="1200" b="0" dirty="0">
                <a:solidFill>
                  <a:srgbClr val="000000"/>
                </a:solidFill>
              </a:rPr>
              <a:t>to say no</a:t>
            </a:r>
          </a:p>
          <a:p>
            <a:pPr algn="ctr" eaLnBrk="1" fontAlgn="base" hangingPunct="1">
              <a:lnSpc>
                <a:spcPct val="105000"/>
              </a:lnSpc>
              <a:spcBef>
                <a:spcPct val="50000"/>
              </a:spcBef>
              <a:spcAft>
                <a:spcPct val="0"/>
              </a:spcAft>
            </a:pPr>
            <a:r>
              <a:rPr lang="en-US" sz="1200" b="0" dirty="0">
                <a:solidFill>
                  <a:srgbClr val="000000"/>
                </a:solidFill>
              </a:rPr>
              <a:t>May be taken advantage of</a:t>
            </a:r>
          </a:p>
        </p:txBody>
      </p:sp>
      <p:sp>
        <p:nvSpPr>
          <p:cNvPr id="34" name="Round Same Side Corner Rectangle 33"/>
          <p:cNvSpPr/>
          <p:nvPr/>
        </p:nvSpPr>
        <p:spPr bwMode="auto">
          <a:xfrm>
            <a:off x="6316663" y="1533526"/>
            <a:ext cx="3200400" cy="365125"/>
          </a:xfrm>
          <a:prstGeom prst="round2SameRect">
            <a:avLst>
              <a:gd name="adj1" fmla="val 36738"/>
              <a:gd name="adj2" fmla="val 10026"/>
            </a:avLst>
          </a:prstGeom>
          <a:solidFill>
            <a:srgbClr val="FFFF00"/>
          </a:solidFill>
          <a:ln w="38100" cap="flat" cmpd="sng" algn="ctr">
            <a:noFill/>
            <a:prstDash val="solid"/>
            <a:round/>
            <a:headEnd type="none" w="med" len="med"/>
            <a:tailEnd type="none" w="med" len="med"/>
          </a:ln>
          <a:effectLst/>
        </p:spPr>
        <p:txBody>
          <a:bodyPr wrap="none" anchor="ctr"/>
          <a:lstStyle/>
          <a:p>
            <a:pPr algn="ctr" fontAlgn="base">
              <a:spcBef>
                <a:spcPct val="50000"/>
              </a:spcBef>
              <a:spcAft>
                <a:spcPct val="0"/>
              </a:spcAft>
              <a:defRPr/>
            </a:pPr>
            <a:r>
              <a:rPr lang="en-US" sz="2100" b="1" dirty="0"/>
              <a:t>Limitations</a:t>
            </a:r>
          </a:p>
        </p:txBody>
      </p:sp>
      <p:sp>
        <p:nvSpPr>
          <p:cNvPr id="35" name="Round Same Side Corner Rectangle 34"/>
          <p:cNvSpPr/>
          <p:nvPr/>
        </p:nvSpPr>
        <p:spPr bwMode="auto">
          <a:xfrm>
            <a:off x="2649538" y="1533526"/>
            <a:ext cx="3200400" cy="365125"/>
          </a:xfrm>
          <a:prstGeom prst="round2SameRect">
            <a:avLst>
              <a:gd name="adj1" fmla="val 36738"/>
              <a:gd name="adj2" fmla="val 10026"/>
            </a:avLst>
          </a:prstGeom>
          <a:solidFill>
            <a:srgbClr val="FFFF00"/>
          </a:solidFill>
          <a:ln w="38100" cap="flat" cmpd="sng" algn="ctr">
            <a:noFill/>
            <a:prstDash val="solid"/>
            <a:round/>
            <a:headEnd type="none" w="med" len="med"/>
            <a:tailEnd type="none" w="med" len="med"/>
          </a:ln>
          <a:effectLst/>
        </p:spPr>
        <p:txBody>
          <a:bodyPr wrap="none" anchor="ctr"/>
          <a:lstStyle/>
          <a:p>
            <a:pPr algn="ctr" fontAlgn="base">
              <a:spcBef>
                <a:spcPct val="50000"/>
              </a:spcBef>
              <a:spcAft>
                <a:spcPct val="0"/>
              </a:spcAft>
              <a:defRPr/>
            </a:pPr>
            <a:r>
              <a:rPr lang="en-US" sz="2100" b="1" dirty="0"/>
              <a:t>Strengths</a:t>
            </a:r>
          </a:p>
        </p:txBody>
      </p:sp>
      <p:sp>
        <p:nvSpPr>
          <p:cNvPr id="11274" name="Rounded Rectangle 144"/>
          <p:cNvSpPr>
            <a:spLocks noChangeArrowheads="1"/>
          </p:cNvSpPr>
          <p:nvPr/>
        </p:nvSpPr>
        <p:spPr bwMode="auto">
          <a:xfrm>
            <a:off x="2649538" y="1524000"/>
            <a:ext cx="3200400" cy="1828800"/>
          </a:xfrm>
          <a:prstGeom prst="roundRect">
            <a:avLst>
              <a:gd name="adj" fmla="val 7588"/>
            </a:avLst>
          </a:prstGeom>
          <a:noFill/>
          <a:ln w="381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fontAlgn="base">
              <a:spcBef>
                <a:spcPct val="50000"/>
              </a:spcBef>
              <a:spcAft>
                <a:spcPct val="0"/>
              </a:spcAft>
            </a:pPr>
            <a:endParaRPr lang="en-US" sz="2800" b="1">
              <a:solidFill>
                <a:srgbClr val="000000"/>
              </a:solidFill>
            </a:endParaRPr>
          </a:p>
        </p:txBody>
      </p:sp>
      <p:sp>
        <p:nvSpPr>
          <p:cNvPr id="11275" name="Rounded Rectangle 144"/>
          <p:cNvSpPr>
            <a:spLocks noChangeArrowheads="1"/>
          </p:cNvSpPr>
          <p:nvPr/>
        </p:nvSpPr>
        <p:spPr bwMode="auto">
          <a:xfrm>
            <a:off x="6316663" y="1524000"/>
            <a:ext cx="3200400" cy="1828800"/>
          </a:xfrm>
          <a:prstGeom prst="roundRect">
            <a:avLst>
              <a:gd name="adj" fmla="val 7588"/>
            </a:avLst>
          </a:prstGeom>
          <a:noFill/>
          <a:ln w="381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fontAlgn="base">
              <a:spcBef>
                <a:spcPct val="50000"/>
              </a:spcBef>
              <a:spcAft>
                <a:spcPct val="0"/>
              </a:spcAft>
            </a:pPr>
            <a:endParaRPr lang="en-US" sz="2800" b="1">
              <a:solidFill>
                <a:srgbClr val="000000"/>
              </a:solidFill>
            </a:endParaRPr>
          </a:p>
        </p:txBody>
      </p:sp>
      <p:cxnSp>
        <p:nvCxnSpPr>
          <p:cNvPr id="11276" name="Straight Connector 43"/>
          <p:cNvCxnSpPr>
            <a:cxnSpLocks noChangeShapeType="1"/>
          </p:cNvCxnSpPr>
          <p:nvPr/>
        </p:nvCxnSpPr>
        <p:spPr bwMode="auto">
          <a:xfrm>
            <a:off x="2659063" y="1914525"/>
            <a:ext cx="3200400" cy="0"/>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cxnSp>
      <p:cxnSp>
        <p:nvCxnSpPr>
          <p:cNvPr id="11277" name="Straight Connector 44"/>
          <p:cNvCxnSpPr>
            <a:cxnSpLocks noChangeShapeType="1"/>
          </p:cNvCxnSpPr>
          <p:nvPr/>
        </p:nvCxnSpPr>
        <p:spPr bwMode="auto">
          <a:xfrm>
            <a:off x="6316663" y="1914525"/>
            <a:ext cx="3200400" cy="0"/>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cxnSp>
      <p:sp>
        <p:nvSpPr>
          <p:cNvPr id="44" name="Text Box 4"/>
          <p:cNvSpPr txBox="1">
            <a:spLocks noChangeArrowheads="1"/>
          </p:cNvSpPr>
          <p:nvPr/>
        </p:nvSpPr>
        <p:spPr bwMode="auto">
          <a:xfrm>
            <a:off x="4532313" y="3827463"/>
            <a:ext cx="3052762" cy="488950"/>
          </a:xfrm>
          <a:prstGeom prst="rect">
            <a:avLst/>
          </a:prstGeom>
          <a:noFill/>
          <a:ln w="38100" algn="ctr">
            <a:noFill/>
            <a:miter lim="800000"/>
            <a:headEnd/>
            <a:tailEnd/>
          </a:ln>
          <a:effectLst/>
        </p:spPr>
        <p:txBody>
          <a:bodyPr>
            <a:spAutoFit/>
          </a:bodyPr>
          <a:lstStyle/>
          <a:p>
            <a:pPr algn="ctr" fontAlgn="base">
              <a:spcBef>
                <a:spcPct val="50000"/>
              </a:spcBef>
              <a:spcAft>
                <a:spcPct val="0"/>
              </a:spcAft>
              <a:defRPr/>
            </a:pPr>
            <a:r>
              <a:rPr lang="en-US" sz="2600" b="1" dirty="0" smtClean="0">
                <a:ln>
                  <a:solidFill>
                    <a:srgbClr val="FFC000"/>
                  </a:solidFill>
                </a:ln>
                <a:solidFill>
                  <a:srgbClr val="FFFF00"/>
                </a:solidFill>
                <a:effectLst>
                  <a:outerShdw blurRad="38100" dist="38100" dir="2700000" algn="tl">
                    <a:srgbClr val="C0C0C0"/>
                  </a:outerShdw>
                </a:effectLst>
              </a:rPr>
              <a:t>Altruistic- Low</a:t>
            </a:r>
            <a:endParaRPr lang="en-US" sz="2600" b="1" dirty="0">
              <a:ln>
                <a:solidFill>
                  <a:srgbClr val="FFC000"/>
                </a:solidFill>
              </a:ln>
              <a:solidFill>
                <a:srgbClr val="FFFF00"/>
              </a:solidFill>
              <a:effectLst>
                <a:outerShdw blurRad="38100" dist="38100" dir="2700000" algn="tl">
                  <a:srgbClr val="C0C0C0"/>
                </a:outerShdw>
              </a:effectLst>
            </a:endParaRPr>
          </a:p>
        </p:txBody>
      </p:sp>
      <p:sp>
        <p:nvSpPr>
          <p:cNvPr id="16405" name="Text Box 23"/>
          <p:cNvSpPr txBox="1">
            <a:spLocks noChangeArrowheads="1"/>
          </p:cNvSpPr>
          <p:nvPr/>
        </p:nvSpPr>
        <p:spPr bwMode="auto">
          <a:xfrm>
            <a:off x="2459038" y="4976301"/>
            <a:ext cx="3571875" cy="1144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algn="ctr" eaLnBrk="1" fontAlgn="base" hangingPunct="1">
              <a:lnSpc>
                <a:spcPct val="105000"/>
              </a:lnSpc>
              <a:spcBef>
                <a:spcPct val="50000"/>
              </a:spcBef>
              <a:spcAft>
                <a:spcPct val="0"/>
              </a:spcAft>
            </a:pPr>
            <a:r>
              <a:rPr lang="en-US" sz="1200" b="0" dirty="0" smtClean="0">
                <a:solidFill>
                  <a:srgbClr val="000000"/>
                </a:solidFill>
              </a:rPr>
              <a:t>Can make hard people decisions</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smtClean="0">
                <a:solidFill>
                  <a:srgbClr val="000000"/>
                </a:solidFill>
              </a:rPr>
              <a:t>Can separate emotions from actions</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smtClean="0">
                <a:solidFill>
                  <a:srgbClr val="000000"/>
                </a:solidFill>
              </a:rPr>
              <a:t>Face difficult decisions head on</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smtClean="0">
                <a:solidFill>
                  <a:srgbClr val="000000"/>
                </a:solidFill>
              </a:rPr>
              <a:t>Difficult to take advantage of </a:t>
            </a:r>
            <a:endParaRPr lang="en-US" sz="1200" b="0" dirty="0">
              <a:solidFill>
                <a:srgbClr val="000000"/>
              </a:solidFill>
            </a:endParaRPr>
          </a:p>
        </p:txBody>
      </p:sp>
      <p:sp>
        <p:nvSpPr>
          <p:cNvPr id="46" name="Text Box 24"/>
          <p:cNvSpPr txBox="1">
            <a:spLocks noChangeArrowheads="1"/>
          </p:cNvSpPr>
          <p:nvPr/>
        </p:nvSpPr>
        <p:spPr bwMode="auto">
          <a:xfrm>
            <a:off x="6316663" y="4976300"/>
            <a:ext cx="3168650" cy="1144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algn="ctr" eaLnBrk="1" fontAlgn="base" hangingPunct="1">
              <a:lnSpc>
                <a:spcPct val="105000"/>
              </a:lnSpc>
              <a:spcBef>
                <a:spcPct val="50000"/>
              </a:spcBef>
              <a:spcAft>
                <a:spcPct val="0"/>
              </a:spcAft>
            </a:pPr>
            <a:r>
              <a:rPr lang="en-US" sz="1200" b="0" dirty="0" smtClean="0">
                <a:solidFill>
                  <a:srgbClr val="000000"/>
                </a:solidFill>
              </a:rPr>
              <a:t>May forget that helping others helps self</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smtClean="0">
                <a:solidFill>
                  <a:srgbClr val="000000"/>
                </a:solidFill>
              </a:rPr>
              <a:t>May appear selfish and self-absorbed</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smtClean="0">
                <a:solidFill>
                  <a:srgbClr val="000000"/>
                </a:solidFill>
              </a:rPr>
              <a:t>May seem closed off and reserved</a:t>
            </a:r>
          </a:p>
          <a:p>
            <a:pPr algn="ctr" eaLnBrk="1" fontAlgn="base" hangingPunct="1">
              <a:lnSpc>
                <a:spcPct val="105000"/>
              </a:lnSpc>
              <a:spcBef>
                <a:spcPct val="50000"/>
              </a:spcBef>
              <a:spcAft>
                <a:spcPct val="0"/>
              </a:spcAft>
            </a:pPr>
            <a:r>
              <a:rPr lang="en-US" sz="1200" b="0" dirty="0" smtClean="0">
                <a:solidFill>
                  <a:srgbClr val="000000"/>
                </a:solidFill>
              </a:rPr>
              <a:t>May have little patience</a:t>
            </a:r>
            <a:endParaRPr lang="en-US" sz="1200" b="0" dirty="0">
              <a:solidFill>
                <a:srgbClr val="000000"/>
              </a:solidFill>
            </a:endParaRPr>
          </a:p>
        </p:txBody>
      </p:sp>
      <p:sp>
        <p:nvSpPr>
          <p:cNvPr id="47" name="Round Same Side Corner Rectangle 46"/>
          <p:cNvSpPr/>
          <p:nvPr/>
        </p:nvSpPr>
        <p:spPr bwMode="auto">
          <a:xfrm>
            <a:off x="6316663" y="4514851"/>
            <a:ext cx="3200400" cy="365125"/>
          </a:xfrm>
          <a:prstGeom prst="round2SameRect">
            <a:avLst>
              <a:gd name="adj1" fmla="val 36738"/>
              <a:gd name="adj2" fmla="val 10026"/>
            </a:avLst>
          </a:prstGeom>
          <a:solidFill>
            <a:srgbClr val="FFFF00"/>
          </a:solidFill>
          <a:ln w="38100" cap="flat" cmpd="sng" algn="ctr">
            <a:noFill/>
            <a:prstDash val="solid"/>
            <a:round/>
            <a:headEnd type="none" w="med" len="med"/>
            <a:tailEnd type="none" w="med" len="med"/>
          </a:ln>
          <a:effectLst/>
        </p:spPr>
        <p:txBody>
          <a:bodyPr wrap="none" anchor="ctr"/>
          <a:lstStyle/>
          <a:p>
            <a:pPr algn="ctr" fontAlgn="base">
              <a:spcBef>
                <a:spcPct val="50000"/>
              </a:spcBef>
              <a:spcAft>
                <a:spcPct val="0"/>
              </a:spcAft>
              <a:defRPr/>
            </a:pPr>
            <a:r>
              <a:rPr lang="en-US" sz="2100" b="1" dirty="0"/>
              <a:t>Limitations</a:t>
            </a:r>
          </a:p>
        </p:txBody>
      </p:sp>
      <p:sp>
        <p:nvSpPr>
          <p:cNvPr id="48" name="Round Same Side Corner Rectangle 47"/>
          <p:cNvSpPr/>
          <p:nvPr/>
        </p:nvSpPr>
        <p:spPr bwMode="auto">
          <a:xfrm>
            <a:off x="2649538" y="4514851"/>
            <a:ext cx="3200400" cy="365125"/>
          </a:xfrm>
          <a:prstGeom prst="round2SameRect">
            <a:avLst>
              <a:gd name="adj1" fmla="val 36738"/>
              <a:gd name="adj2" fmla="val 10026"/>
            </a:avLst>
          </a:prstGeom>
          <a:solidFill>
            <a:srgbClr val="FFFF00"/>
          </a:solidFill>
          <a:ln w="38100" cap="flat" cmpd="sng" algn="ctr">
            <a:noFill/>
            <a:prstDash val="solid"/>
            <a:round/>
            <a:headEnd type="none" w="med" len="med"/>
            <a:tailEnd type="none" w="med" len="med"/>
          </a:ln>
          <a:effectLst/>
        </p:spPr>
        <p:txBody>
          <a:bodyPr wrap="none" anchor="ctr"/>
          <a:lstStyle/>
          <a:p>
            <a:pPr algn="ctr" fontAlgn="base">
              <a:spcBef>
                <a:spcPct val="50000"/>
              </a:spcBef>
              <a:spcAft>
                <a:spcPct val="0"/>
              </a:spcAft>
              <a:defRPr/>
            </a:pPr>
            <a:r>
              <a:rPr lang="en-US" sz="2100" b="1" dirty="0"/>
              <a:t>Strengths</a:t>
            </a:r>
          </a:p>
        </p:txBody>
      </p:sp>
      <p:sp>
        <p:nvSpPr>
          <p:cNvPr id="16409" name="Rounded Rectangle 144"/>
          <p:cNvSpPr>
            <a:spLocks noChangeArrowheads="1"/>
          </p:cNvSpPr>
          <p:nvPr/>
        </p:nvSpPr>
        <p:spPr bwMode="auto">
          <a:xfrm>
            <a:off x="2649538" y="4505325"/>
            <a:ext cx="3200400" cy="1828800"/>
          </a:xfrm>
          <a:prstGeom prst="roundRect">
            <a:avLst>
              <a:gd name="adj" fmla="val 7588"/>
            </a:avLst>
          </a:prstGeom>
          <a:noFill/>
          <a:ln w="381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fontAlgn="base">
              <a:spcBef>
                <a:spcPct val="50000"/>
              </a:spcBef>
              <a:spcAft>
                <a:spcPct val="0"/>
              </a:spcAft>
            </a:pPr>
            <a:endParaRPr lang="en-US" sz="2800" b="1">
              <a:solidFill>
                <a:srgbClr val="000000"/>
              </a:solidFill>
            </a:endParaRPr>
          </a:p>
        </p:txBody>
      </p:sp>
      <p:sp>
        <p:nvSpPr>
          <p:cNvPr id="16410" name="Rounded Rectangle 144"/>
          <p:cNvSpPr>
            <a:spLocks noChangeArrowheads="1"/>
          </p:cNvSpPr>
          <p:nvPr/>
        </p:nvSpPr>
        <p:spPr bwMode="auto">
          <a:xfrm>
            <a:off x="6316663" y="4505325"/>
            <a:ext cx="3200400" cy="1828800"/>
          </a:xfrm>
          <a:prstGeom prst="roundRect">
            <a:avLst>
              <a:gd name="adj" fmla="val 7588"/>
            </a:avLst>
          </a:prstGeom>
          <a:noFill/>
          <a:ln w="381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fontAlgn="base">
              <a:spcBef>
                <a:spcPct val="50000"/>
              </a:spcBef>
              <a:spcAft>
                <a:spcPct val="0"/>
              </a:spcAft>
            </a:pPr>
            <a:endParaRPr lang="en-US" sz="2800" b="1">
              <a:solidFill>
                <a:srgbClr val="000000"/>
              </a:solidFill>
            </a:endParaRPr>
          </a:p>
        </p:txBody>
      </p:sp>
    </p:spTree>
    <p:extLst>
      <p:ext uri="{BB962C8B-B14F-4D97-AF65-F5344CB8AC3E}">
        <p14:creationId xmlns:p14="http://schemas.microsoft.com/office/powerpoint/2010/main" val="16839225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40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40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4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44" grpId="0"/>
      <p:bldP spid="16405" grpId="0"/>
      <p:bldP spid="46" grpId="0"/>
      <p:bldP spid="47" grpId="0" animBg="1"/>
      <p:bldP spid="48" grpId="0" animBg="1"/>
      <p:bldP spid="16409" grpId="0" animBg="1"/>
      <p:bldP spid="164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31"/>
          <p:cNvSpPr txBox="1">
            <a:spLocks noChangeArrowheads="1"/>
          </p:cNvSpPr>
          <p:nvPr/>
        </p:nvSpPr>
        <p:spPr bwMode="auto">
          <a:xfrm>
            <a:off x="2168526" y="114301"/>
            <a:ext cx="48863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eaLnBrk="1" fontAlgn="base" hangingPunct="1">
              <a:spcBef>
                <a:spcPct val="50000"/>
              </a:spcBef>
              <a:spcAft>
                <a:spcPct val="0"/>
              </a:spcAft>
            </a:pPr>
            <a:r>
              <a:rPr lang="en-US" sz="3000">
                <a:solidFill>
                  <a:srgbClr val="808080"/>
                </a:solidFill>
              </a:rPr>
              <a:t>Strengths and Limitations</a:t>
            </a:r>
          </a:p>
        </p:txBody>
      </p:sp>
      <p:sp>
        <p:nvSpPr>
          <p:cNvPr id="31" name="Rectangle 3"/>
          <p:cNvSpPr>
            <a:spLocks noChangeArrowheads="1"/>
          </p:cNvSpPr>
          <p:nvPr/>
        </p:nvSpPr>
        <p:spPr bwMode="auto">
          <a:xfrm>
            <a:off x="2228850" y="742950"/>
            <a:ext cx="7715250" cy="2857500"/>
          </a:xfrm>
          <a:prstGeom prst="roundRect">
            <a:avLst>
              <a:gd name="adj" fmla="val 7955"/>
            </a:avLst>
          </a:prstGeom>
          <a:noFill/>
          <a:ln>
            <a:solidFill>
              <a:schemeClr val="bg2"/>
            </a:solidFill>
            <a:headEnd/>
            <a:tailEnd/>
          </a:ln>
        </p:spPr>
        <p:style>
          <a:lnRef idx="2">
            <a:schemeClr val="accent3">
              <a:shade val="50000"/>
            </a:schemeClr>
          </a:lnRef>
          <a:fillRef idx="1">
            <a:schemeClr val="accent3"/>
          </a:fillRef>
          <a:effectRef idx="0">
            <a:schemeClr val="accent3"/>
          </a:effectRef>
          <a:fontRef idx="minor">
            <a:schemeClr val="lt1"/>
          </a:fontRef>
        </p:style>
        <p:txBody>
          <a:bodyPr wrap="none" anchor="ctr"/>
          <a:lstStyle/>
          <a:p>
            <a:pPr algn="ctr" fontAlgn="base">
              <a:spcBef>
                <a:spcPct val="50000"/>
              </a:spcBef>
              <a:spcAft>
                <a:spcPct val="0"/>
              </a:spcAft>
              <a:defRPr/>
            </a:pPr>
            <a:endParaRPr lang="en-US" sz="2800" b="1" dirty="0">
              <a:solidFill>
                <a:srgbClr val="FFFFFF"/>
              </a:solidFill>
            </a:endParaRPr>
          </a:p>
        </p:txBody>
      </p:sp>
      <p:sp>
        <p:nvSpPr>
          <p:cNvPr id="32" name="Rectangle 3"/>
          <p:cNvSpPr>
            <a:spLocks noChangeArrowheads="1"/>
          </p:cNvSpPr>
          <p:nvPr/>
        </p:nvSpPr>
        <p:spPr bwMode="auto">
          <a:xfrm>
            <a:off x="2228850" y="3741738"/>
            <a:ext cx="7715250" cy="2857500"/>
          </a:xfrm>
          <a:prstGeom prst="roundRect">
            <a:avLst>
              <a:gd name="adj" fmla="val 7955"/>
            </a:avLst>
          </a:prstGeom>
          <a:noFill/>
          <a:ln>
            <a:solidFill>
              <a:schemeClr val="bg2"/>
            </a:solidFill>
            <a:headEnd/>
            <a:tailEnd/>
          </a:ln>
        </p:spPr>
        <p:style>
          <a:lnRef idx="2">
            <a:schemeClr val="accent3">
              <a:shade val="50000"/>
            </a:schemeClr>
          </a:lnRef>
          <a:fillRef idx="1">
            <a:schemeClr val="accent3"/>
          </a:fillRef>
          <a:effectRef idx="0">
            <a:schemeClr val="accent3"/>
          </a:effectRef>
          <a:fontRef idx="minor">
            <a:schemeClr val="lt1"/>
          </a:fontRef>
        </p:style>
        <p:txBody>
          <a:bodyPr wrap="none" anchor="ctr"/>
          <a:lstStyle/>
          <a:p>
            <a:pPr algn="ctr" fontAlgn="base">
              <a:spcBef>
                <a:spcPct val="50000"/>
              </a:spcBef>
              <a:spcAft>
                <a:spcPct val="0"/>
              </a:spcAft>
              <a:defRPr/>
            </a:pPr>
            <a:endParaRPr lang="en-US" sz="2800" b="1" dirty="0">
              <a:solidFill>
                <a:srgbClr val="FFFFFF"/>
              </a:solidFill>
            </a:endParaRPr>
          </a:p>
        </p:txBody>
      </p:sp>
      <p:sp>
        <p:nvSpPr>
          <p:cNvPr id="29" name="Text Box 4"/>
          <p:cNvSpPr txBox="1">
            <a:spLocks noChangeArrowheads="1"/>
          </p:cNvSpPr>
          <p:nvPr/>
        </p:nvSpPr>
        <p:spPr bwMode="auto">
          <a:xfrm>
            <a:off x="4529138" y="846138"/>
            <a:ext cx="3052762" cy="488950"/>
          </a:xfrm>
          <a:prstGeom prst="rect">
            <a:avLst/>
          </a:prstGeom>
          <a:noFill/>
          <a:ln w="38100" algn="ctr">
            <a:noFill/>
            <a:miter lim="800000"/>
            <a:headEnd/>
            <a:tailEnd/>
          </a:ln>
          <a:effectLst/>
        </p:spPr>
        <p:txBody>
          <a:bodyPr>
            <a:spAutoFit/>
          </a:bodyPr>
          <a:lstStyle/>
          <a:p>
            <a:pPr algn="ctr" fontAlgn="base">
              <a:spcBef>
                <a:spcPct val="50000"/>
              </a:spcBef>
              <a:spcAft>
                <a:spcPct val="0"/>
              </a:spcAft>
              <a:defRPr/>
            </a:pPr>
            <a:r>
              <a:rPr lang="en-US" sz="2600" b="1" dirty="0" smtClean="0">
                <a:effectLst>
                  <a:outerShdw blurRad="38100" dist="38100" dir="2700000" algn="tl">
                    <a:srgbClr val="C0C0C0"/>
                  </a:outerShdw>
                </a:effectLst>
              </a:rPr>
              <a:t>Regulatory - High</a:t>
            </a:r>
            <a:endParaRPr lang="en-US" sz="2600" b="1" dirty="0">
              <a:effectLst>
                <a:outerShdw blurRad="38100" dist="38100" dir="2700000" algn="tl">
                  <a:srgbClr val="C0C0C0"/>
                </a:outerShdw>
              </a:effectLst>
            </a:endParaRPr>
          </a:p>
        </p:txBody>
      </p:sp>
      <p:sp>
        <p:nvSpPr>
          <p:cNvPr id="11270" name="Text Box 23"/>
          <p:cNvSpPr txBox="1">
            <a:spLocks noChangeArrowheads="1"/>
          </p:cNvSpPr>
          <p:nvPr/>
        </p:nvSpPr>
        <p:spPr bwMode="auto">
          <a:xfrm>
            <a:off x="2459039" y="2041176"/>
            <a:ext cx="3571875" cy="1144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algn="ctr" eaLnBrk="1" fontAlgn="base" hangingPunct="1">
              <a:lnSpc>
                <a:spcPct val="105000"/>
              </a:lnSpc>
              <a:spcBef>
                <a:spcPct val="50000"/>
              </a:spcBef>
              <a:spcAft>
                <a:spcPct val="0"/>
              </a:spcAft>
            </a:pPr>
            <a:r>
              <a:rPr lang="en-US" sz="1200" b="0" dirty="0">
                <a:solidFill>
                  <a:srgbClr val="000000"/>
                </a:solidFill>
              </a:rPr>
              <a:t>Structured</a:t>
            </a:r>
          </a:p>
          <a:p>
            <a:pPr algn="ctr" eaLnBrk="1" fontAlgn="base" hangingPunct="1">
              <a:lnSpc>
                <a:spcPct val="105000"/>
              </a:lnSpc>
              <a:spcBef>
                <a:spcPct val="50000"/>
              </a:spcBef>
              <a:spcAft>
                <a:spcPct val="0"/>
              </a:spcAft>
            </a:pPr>
            <a:r>
              <a:rPr lang="en-US" sz="1200" b="0" dirty="0">
                <a:solidFill>
                  <a:srgbClr val="000000"/>
                </a:solidFill>
              </a:rPr>
              <a:t>Follows rules</a:t>
            </a:r>
          </a:p>
          <a:p>
            <a:pPr algn="ctr" eaLnBrk="1" fontAlgn="base" hangingPunct="1">
              <a:lnSpc>
                <a:spcPct val="105000"/>
              </a:lnSpc>
              <a:spcBef>
                <a:spcPct val="50000"/>
              </a:spcBef>
              <a:spcAft>
                <a:spcPct val="0"/>
              </a:spcAft>
            </a:pPr>
            <a:r>
              <a:rPr lang="en-US" sz="1200" b="0" dirty="0">
                <a:solidFill>
                  <a:srgbClr val="000000"/>
                </a:solidFill>
              </a:rPr>
              <a:t>Lives by set of principles</a:t>
            </a:r>
          </a:p>
          <a:p>
            <a:pPr algn="ctr" eaLnBrk="1" fontAlgn="base" hangingPunct="1">
              <a:lnSpc>
                <a:spcPct val="105000"/>
              </a:lnSpc>
              <a:spcBef>
                <a:spcPct val="50000"/>
              </a:spcBef>
              <a:spcAft>
                <a:spcPct val="0"/>
              </a:spcAft>
            </a:pPr>
            <a:r>
              <a:rPr lang="en-US" sz="1200" b="0" dirty="0">
                <a:solidFill>
                  <a:srgbClr val="000000"/>
                </a:solidFill>
              </a:rPr>
              <a:t>Works for a </a:t>
            </a:r>
            <a:r>
              <a:rPr lang="en-US" sz="1200" b="0" dirty="0" smtClean="0">
                <a:solidFill>
                  <a:srgbClr val="000000"/>
                </a:solidFill>
              </a:rPr>
              <a:t>cause</a:t>
            </a:r>
            <a:endParaRPr lang="en-US" sz="1200" b="0" dirty="0">
              <a:solidFill>
                <a:srgbClr val="000000"/>
              </a:solidFill>
            </a:endParaRPr>
          </a:p>
        </p:txBody>
      </p:sp>
      <p:sp>
        <p:nvSpPr>
          <p:cNvPr id="11271" name="Text Box 24"/>
          <p:cNvSpPr txBox="1">
            <a:spLocks noChangeArrowheads="1"/>
          </p:cNvSpPr>
          <p:nvPr/>
        </p:nvSpPr>
        <p:spPr bwMode="auto">
          <a:xfrm>
            <a:off x="6040438" y="2041176"/>
            <a:ext cx="3733800" cy="1131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algn="ctr" eaLnBrk="1" fontAlgn="base" hangingPunct="1">
              <a:lnSpc>
                <a:spcPct val="105000"/>
              </a:lnSpc>
              <a:spcBef>
                <a:spcPct val="50000"/>
              </a:spcBef>
              <a:spcAft>
                <a:spcPct val="0"/>
              </a:spcAft>
            </a:pPr>
            <a:r>
              <a:rPr lang="en-US" sz="1200" b="0" dirty="0">
                <a:solidFill>
                  <a:srgbClr val="000000"/>
                </a:solidFill>
              </a:rPr>
              <a:t>May be unreceptive to new  ideas</a:t>
            </a:r>
          </a:p>
          <a:p>
            <a:pPr algn="ctr" eaLnBrk="1" fontAlgn="base" hangingPunct="1">
              <a:lnSpc>
                <a:spcPct val="105000"/>
              </a:lnSpc>
              <a:spcBef>
                <a:spcPct val="50000"/>
              </a:spcBef>
              <a:spcAft>
                <a:spcPct val="0"/>
              </a:spcAft>
            </a:pPr>
            <a:r>
              <a:rPr lang="en-US" sz="1200" b="0" dirty="0">
                <a:solidFill>
                  <a:srgbClr val="000000"/>
                </a:solidFill>
              </a:rPr>
              <a:t>Sacrifices self for beliefs or cause</a:t>
            </a:r>
          </a:p>
          <a:p>
            <a:pPr algn="ctr" eaLnBrk="1" fontAlgn="base" hangingPunct="1">
              <a:lnSpc>
                <a:spcPct val="105000"/>
              </a:lnSpc>
              <a:spcBef>
                <a:spcPct val="50000"/>
              </a:spcBef>
              <a:spcAft>
                <a:spcPct val="0"/>
              </a:spcAft>
            </a:pPr>
            <a:r>
              <a:rPr lang="en-US" sz="1200" b="0" dirty="0">
                <a:solidFill>
                  <a:srgbClr val="000000"/>
                </a:solidFill>
              </a:rPr>
              <a:t>May break rules and justify it</a:t>
            </a:r>
          </a:p>
          <a:p>
            <a:pPr algn="ctr" eaLnBrk="1" fontAlgn="base" hangingPunct="1">
              <a:lnSpc>
                <a:spcPct val="105000"/>
              </a:lnSpc>
              <a:spcBef>
                <a:spcPct val="50000"/>
              </a:spcBef>
              <a:spcAft>
                <a:spcPct val="0"/>
              </a:spcAft>
            </a:pPr>
            <a:r>
              <a:rPr lang="en-US" sz="1200" b="0" dirty="0">
                <a:solidFill>
                  <a:srgbClr val="000000"/>
                </a:solidFill>
              </a:rPr>
              <a:t>Judgmental towards other viewpoints</a:t>
            </a:r>
          </a:p>
        </p:txBody>
      </p:sp>
      <p:sp>
        <p:nvSpPr>
          <p:cNvPr id="34" name="Round Same Side Corner Rectangle 33"/>
          <p:cNvSpPr/>
          <p:nvPr/>
        </p:nvSpPr>
        <p:spPr bwMode="auto">
          <a:xfrm>
            <a:off x="6316663" y="1533526"/>
            <a:ext cx="3200400" cy="365125"/>
          </a:xfrm>
          <a:prstGeom prst="round2SameRect">
            <a:avLst>
              <a:gd name="adj1" fmla="val 36738"/>
              <a:gd name="adj2" fmla="val 10026"/>
            </a:avLst>
          </a:prstGeom>
          <a:solidFill>
            <a:schemeClr val="tx1"/>
          </a:solidFill>
          <a:ln w="38100" cap="flat" cmpd="sng" algn="ctr">
            <a:noFill/>
            <a:prstDash val="solid"/>
            <a:round/>
            <a:headEnd type="none" w="med" len="med"/>
            <a:tailEnd type="none" w="med" len="med"/>
          </a:ln>
          <a:effectLst/>
        </p:spPr>
        <p:txBody>
          <a:bodyPr wrap="none" anchor="ctr"/>
          <a:lstStyle/>
          <a:p>
            <a:pPr algn="ctr" fontAlgn="base">
              <a:spcBef>
                <a:spcPct val="50000"/>
              </a:spcBef>
              <a:spcAft>
                <a:spcPct val="0"/>
              </a:spcAft>
              <a:defRPr/>
            </a:pPr>
            <a:r>
              <a:rPr lang="en-US" sz="2100" b="1" dirty="0">
                <a:solidFill>
                  <a:srgbClr val="FFFFFF"/>
                </a:solidFill>
              </a:rPr>
              <a:t>Limitations</a:t>
            </a:r>
          </a:p>
        </p:txBody>
      </p:sp>
      <p:sp>
        <p:nvSpPr>
          <p:cNvPr id="35" name="Round Same Side Corner Rectangle 34"/>
          <p:cNvSpPr/>
          <p:nvPr/>
        </p:nvSpPr>
        <p:spPr bwMode="auto">
          <a:xfrm>
            <a:off x="2649538" y="1533526"/>
            <a:ext cx="3200400" cy="365125"/>
          </a:xfrm>
          <a:prstGeom prst="round2SameRect">
            <a:avLst>
              <a:gd name="adj1" fmla="val 36738"/>
              <a:gd name="adj2" fmla="val 10026"/>
            </a:avLst>
          </a:prstGeom>
          <a:solidFill>
            <a:schemeClr val="tx1"/>
          </a:solidFill>
          <a:ln w="38100" cap="flat" cmpd="sng" algn="ctr">
            <a:noFill/>
            <a:prstDash val="solid"/>
            <a:round/>
            <a:headEnd type="none" w="med" len="med"/>
            <a:tailEnd type="none" w="med" len="med"/>
          </a:ln>
          <a:effectLst/>
        </p:spPr>
        <p:txBody>
          <a:bodyPr wrap="none" anchor="ctr"/>
          <a:lstStyle/>
          <a:p>
            <a:pPr algn="ctr" fontAlgn="base">
              <a:spcBef>
                <a:spcPct val="50000"/>
              </a:spcBef>
              <a:spcAft>
                <a:spcPct val="0"/>
              </a:spcAft>
              <a:defRPr/>
            </a:pPr>
            <a:r>
              <a:rPr lang="en-US" sz="2100" b="1" dirty="0">
                <a:solidFill>
                  <a:srgbClr val="FFFFFF"/>
                </a:solidFill>
              </a:rPr>
              <a:t>Strengths</a:t>
            </a:r>
          </a:p>
        </p:txBody>
      </p:sp>
      <p:sp>
        <p:nvSpPr>
          <p:cNvPr id="11274" name="Rounded Rectangle 144"/>
          <p:cNvSpPr>
            <a:spLocks noChangeArrowheads="1"/>
          </p:cNvSpPr>
          <p:nvPr/>
        </p:nvSpPr>
        <p:spPr bwMode="auto">
          <a:xfrm>
            <a:off x="2649538" y="1524000"/>
            <a:ext cx="3200400" cy="1828800"/>
          </a:xfrm>
          <a:prstGeom prst="roundRect">
            <a:avLst>
              <a:gd name="adj" fmla="val 7588"/>
            </a:avLst>
          </a:prstGeom>
          <a:noFill/>
          <a:ln w="381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fontAlgn="base">
              <a:spcBef>
                <a:spcPct val="50000"/>
              </a:spcBef>
              <a:spcAft>
                <a:spcPct val="0"/>
              </a:spcAft>
            </a:pPr>
            <a:endParaRPr lang="en-US" sz="2800" b="1">
              <a:solidFill>
                <a:srgbClr val="000000"/>
              </a:solidFill>
            </a:endParaRPr>
          </a:p>
        </p:txBody>
      </p:sp>
      <p:sp>
        <p:nvSpPr>
          <p:cNvPr id="11275" name="Rounded Rectangle 144"/>
          <p:cNvSpPr>
            <a:spLocks noChangeArrowheads="1"/>
          </p:cNvSpPr>
          <p:nvPr/>
        </p:nvSpPr>
        <p:spPr bwMode="auto">
          <a:xfrm>
            <a:off x="6316663" y="1524000"/>
            <a:ext cx="3200400" cy="1828800"/>
          </a:xfrm>
          <a:prstGeom prst="roundRect">
            <a:avLst>
              <a:gd name="adj" fmla="val 7588"/>
            </a:avLst>
          </a:prstGeom>
          <a:noFill/>
          <a:ln w="381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fontAlgn="base">
              <a:spcBef>
                <a:spcPct val="50000"/>
              </a:spcBef>
              <a:spcAft>
                <a:spcPct val="0"/>
              </a:spcAft>
            </a:pPr>
            <a:endParaRPr lang="en-US" sz="2800" b="1">
              <a:solidFill>
                <a:srgbClr val="000000"/>
              </a:solidFill>
            </a:endParaRPr>
          </a:p>
        </p:txBody>
      </p:sp>
      <p:cxnSp>
        <p:nvCxnSpPr>
          <p:cNvPr id="11276" name="Straight Connector 43"/>
          <p:cNvCxnSpPr>
            <a:cxnSpLocks noChangeShapeType="1"/>
          </p:cNvCxnSpPr>
          <p:nvPr/>
        </p:nvCxnSpPr>
        <p:spPr bwMode="auto">
          <a:xfrm>
            <a:off x="2659063" y="1914525"/>
            <a:ext cx="3200400" cy="0"/>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cxnSp>
      <p:cxnSp>
        <p:nvCxnSpPr>
          <p:cNvPr id="11277" name="Straight Connector 44"/>
          <p:cNvCxnSpPr>
            <a:cxnSpLocks noChangeShapeType="1"/>
          </p:cNvCxnSpPr>
          <p:nvPr/>
        </p:nvCxnSpPr>
        <p:spPr bwMode="auto">
          <a:xfrm>
            <a:off x="6316663" y="1914525"/>
            <a:ext cx="3200400" cy="0"/>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cxnSp>
      <p:sp>
        <p:nvSpPr>
          <p:cNvPr id="44" name="Text Box 4"/>
          <p:cNvSpPr txBox="1">
            <a:spLocks noChangeArrowheads="1"/>
          </p:cNvSpPr>
          <p:nvPr/>
        </p:nvSpPr>
        <p:spPr bwMode="auto">
          <a:xfrm>
            <a:off x="4532313" y="3827463"/>
            <a:ext cx="3052762" cy="488950"/>
          </a:xfrm>
          <a:prstGeom prst="rect">
            <a:avLst/>
          </a:prstGeom>
          <a:noFill/>
          <a:ln w="38100" algn="ctr">
            <a:noFill/>
            <a:miter lim="800000"/>
            <a:headEnd/>
            <a:tailEnd/>
          </a:ln>
          <a:effectLst/>
        </p:spPr>
        <p:txBody>
          <a:bodyPr>
            <a:spAutoFit/>
          </a:bodyPr>
          <a:lstStyle/>
          <a:p>
            <a:pPr algn="ctr" fontAlgn="base">
              <a:spcBef>
                <a:spcPct val="50000"/>
              </a:spcBef>
              <a:spcAft>
                <a:spcPct val="0"/>
              </a:spcAft>
              <a:defRPr/>
            </a:pPr>
            <a:r>
              <a:rPr lang="en-US" sz="2600" b="1" dirty="0" smtClean="0">
                <a:effectLst>
                  <a:outerShdw blurRad="38100" dist="38100" dir="2700000" algn="tl">
                    <a:srgbClr val="C0C0C0"/>
                  </a:outerShdw>
                </a:effectLst>
              </a:rPr>
              <a:t>Regulatory - Low</a:t>
            </a:r>
            <a:endParaRPr lang="en-US" sz="2600" b="1" dirty="0">
              <a:effectLst>
                <a:outerShdw blurRad="38100" dist="38100" dir="2700000" algn="tl">
                  <a:srgbClr val="C0C0C0"/>
                </a:outerShdw>
              </a:effectLst>
            </a:endParaRPr>
          </a:p>
        </p:txBody>
      </p:sp>
      <p:sp>
        <p:nvSpPr>
          <p:cNvPr id="16405" name="Text Box 23"/>
          <p:cNvSpPr txBox="1">
            <a:spLocks noChangeArrowheads="1"/>
          </p:cNvSpPr>
          <p:nvPr/>
        </p:nvSpPr>
        <p:spPr bwMode="auto">
          <a:xfrm>
            <a:off x="2447926" y="5022501"/>
            <a:ext cx="3571875" cy="1144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algn="ctr" eaLnBrk="1" fontAlgn="base" hangingPunct="1">
              <a:lnSpc>
                <a:spcPct val="105000"/>
              </a:lnSpc>
              <a:spcBef>
                <a:spcPct val="50000"/>
              </a:spcBef>
              <a:spcAft>
                <a:spcPct val="0"/>
              </a:spcAft>
            </a:pPr>
            <a:r>
              <a:rPr lang="en-US" sz="1200" b="0" dirty="0" smtClean="0">
                <a:solidFill>
                  <a:srgbClr val="000000"/>
                </a:solidFill>
              </a:rPr>
              <a:t>Many ways to get the job done</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smtClean="0">
                <a:solidFill>
                  <a:srgbClr val="000000"/>
                </a:solidFill>
              </a:rPr>
              <a:t>Will always have an opinion and like to share</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smtClean="0">
                <a:solidFill>
                  <a:srgbClr val="000000"/>
                </a:solidFill>
              </a:rPr>
              <a:t>Mistakes are part of learning and normal</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smtClean="0">
                <a:solidFill>
                  <a:srgbClr val="000000"/>
                </a:solidFill>
              </a:rPr>
              <a:t>Very adaptable, open to change</a:t>
            </a:r>
            <a:endParaRPr lang="en-US" sz="1200" b="0" dirty="0">
              <a:solidFill>
                <a:srgbClr val="000000"/>
              </a:solidFill>
            </a:endParaRPr>
          </a:p>
        </p:txBody>
      </p:sp>
      <p:sp>
        <p:nvSpPr>
          <p:cNvPr id="46" name="Text Box 24"/>
          <p:cNvSpPr txBox="1">
            <a:spLocks noChangeArrowheads="1"/>
          </p:cNvSpPr>
          <p:nvPr/>
        </p:nvSpPr>
        <p:spPr bwMode="auto">
          <a:xfrm>
            <a:off x="6318250" y="5057425"/>
            <a:ext cx="3168650" cy="1144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algn="ctr" eaLnBrk="1" fontAlgn="base" hangingPunct="1">
              <a:lnSpc>
                <a:spcPct val="105000"/>
              </a:lnSpc>
              <a:spcBef>
                <a:spcPct val="50000"/>
              </a:spcBef>
              <a:spcAft>
                <a:spcPct val="0"/>
              </a:spcAft>
            </a:pPr>
            <a:r>
              <a:rPr lang="en-US" sz="1200" b="0" dirty="0" smtClean="0">
                <a:solidFill>
                  <a:srgbClr val="000000"/>
                </a:solidFill>
              </a:rPr>
              <a:t>May not be patient or respect differences</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smtClean="0">
                <a:solidFill>
                  <a:srgbClr val="000000"/>
                </a:solidFill>
              </a:rPr>
              <a:t>May be risky and innovative</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a:solidFill>
                  <a:srgbClr val="000000"/>
                </a:solidFill>
              </a:rPr>
              <a:t>May break rules </a:t>
            </a:r>
            <a:r>
              <a:rPr lang="en-US" sz="1200" b="0" dirty="0" smtClean="0">
                <a:solidFill>
                  <a:srgbClr val="000000"/>
                </a:solidFill>
              </a:rPr>
              <a:t>and justify it</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smtClean="0">
                <a:solidFill>
                  <a:srgbClr val="000000"/>
                </a:solidFill>
              </a:rPr>
              <a:t>May disregard procedures and systems</a:t>
            </a:r>
            <a:endParaRPr lang="en-US" sz="1200" b="0" dirty="0">
              <a:solidFill>
                <a:srgbClr val="000000"/>
              </a:solidFill>
            </a:endParaRPr>
          </a:p>
        </p:txBody>
      </p:sp>
      <p:sp>
        <p:nvSpPr>
          <p:cNvPr id="47" name="Round Same Side Corner Rectangle 46"/>
          <p:cNvSpPr/>
          <p:nvPr/>
        </p:nvSpPr>
        <p:spPr bwMode="auto">
          <a:xfrm>
            <a:off x="6316663" y="4514851"/>
            <a:ext cx="3200400" cy="365125"/>
          </a:xfrm>
          <a:prstGeom prst="round2SameRect">
            <a:avLst>
              <a:gd name="adj1" fmla="val 36738"/>
              <a:gd name="adj2" fmla="val 10026"/>
            </a:avLst>
          </a:prstGeom>
          <a:solidFill>
            <a:schemeClr val="tx1"/>
          </a:solidFill>
          <a:ln w="38100" cap="flat" cmpd="sng" algn="ctr">
            <a:noFill/>
            <a:prstDash val="solid"/>
            <a:round/>
            <a:headEnd type="none" w="med" len="med"/>
            <a:tailEnd type="none" w="med" len="med"/>
          </a:ln>
          <a:effectLst/>
        </p:spPr>
        <p:txBody>
          <a:bodyPr wrap="none" anchor="ctr"/>
          <a:lstStyle/>
          <a:p>
            <a:pPr algn="ctr" fontAlgn="base">
              <a:spcBef>
                <a:spcPct val="50000"/>
              </a:spcBef>
              <a:spcAft>
                <a:spcPct val="0"/>
              </a:spcAft>
              <a:defRPr/>
            </a:pPr>
            <a:r>
              <a:rPr lang="en-US" sz="2100" b="1" dirty="0">
                <a:solidFill>
                  <a:srgbClr val="FFFFFF"/>
                </a:solidFill>
              </a:rPr>
              <a:t>Limitations</a:t>
            </a:r>
          </a:p>
        </p:txBody>
      </p:sp>
      <p:sp>
        <p:nvSpPr>
          <p:cNvPr id="48" name="Round Same Side Corner Rectangle 47"/>
          <p:cNvSpPr/>
          <p:nvPr/>
        </p:nvSpPr>
        <p:spPr bwMode="auto">
          <a:xfrm>
            <a:off x="2659063" y="4505325"/>
            <a:ext cx="3200400" cy="365125"/>
          </a:xfrm>
          <a:prstGeom prst="round2SameRect">
            <a:avLst>
              <a:gd name="adj1" fmla="val 36738"/>
              <a:gd name="adj2" fmla="val 10026"/>
            </a:avLst>
          </a:prstGeom>
          <a:solidFill>
            <a:schemeClr val="tx1"/>
          </a:solidFill>
          <a:ln w="38100" cap="flat" cmpd="sng" algn="ctr">
            <a:noFill/>
            <a:prstDash val="solid"/>
            <a:round/>
            <a:headEnd type="none" w="med" len="med"/>
            <a:tailEnd type="none" w="med" len="med"/>
          </a:ln>
          <a:effectLst/>
        </p:spPr>
        <p:txBody>
          <a:bodyPr wrap="none" anchor="ctr"/>
          <a:lstStyle/>
          <a:p>
            <a:pPr algn="ctr" fontAlgn="base">
              <a:spcBef>
                <a:spcPct val="50000"/>
              </a:spcBef>
              <a:spcAft>
                <a:spcPct val="0"/>
              </a:spcAft>
              <a:defRPr/>
            </a:pPr>
            <a:r>
              <a:rPr lang="en-US" sz="2100" b="1" dirty="0">
                <a:solidFill>
                  <a:srgbClr val="FFFFFF"/>
                </a:solidFill>
              </a:rPr>
              <a:t>Strengths</a:t>
            </a:r>
          </a:p>
        </p:txBody>
      </p:sp>
      <p:sp>
        <p:nvSpPr>
          <p:cNvPr id="16409" name="Rounded Rectangle 144"/>
          <p:cNvSpPr>
            <a:spLocks noChangeArrowheads="1"/>
          </p:cNvSpPr>
          <p:nvPr/>
        </p:nvSpPr>
        <p:spPr bwMode="auto">
          <a:xfrm>
            <a:off x="2649538" y="4505325"/>
            <a:ext cx="3200400" cy="1828800"/>
          </a:xfrm>
          <a:prstGeom prst="roundRect">
            <a:avLst>
              <a:gd name="adj" fmla="val 7588"/>
            </a:avLst>
          </a:prstGeom>
          <a:noFill/>
          <a:ln w="381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fontAlgn="base">
              <a:spcBef>
                <a:spcPct val="50000"/>
              </a:spcBef>
              <a:spcAft>
                <a:spcPct val="0"/>
              </a:spcAft>
            </a:pPr>
            <a:endParaRPr lang="en-US" sz="2800" b="1">
              <a:solidFill>
                <a:srgbClr val="000000"/>
              </a:solidFill>
            </a:endParaRPr>
          </a:p>
        </p:txBody>
      </p:sp>
      <p:sp>
        <p:nvSpPr>
          <p:cNvPr id="16410" name="Rounded Rectangle 144"/>
          <p:cNvSpPr>
            <a:spLocks noChangeArrowheads="1"/>
          </p:cNvSpPr>
          <p:nvPr/>
        </p:nvSpPr>
        <p:spPr bwMode="auto">
          <a:xfrm>
            <a:off x="6316663" y="4505325"/>
            <a:ext cx="3200400" cy="1828800"/>
          </a:xfrm>
          <a:prstGeom prst="roundRect">
            <a:avLst>
              <a:gd name="adj" fmla="val 7588"/>
            </a:avLst>
          </a:prstGeom>
          <a:noFill/>
          <a:ln w="381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fontAlgn="base">
              <a:spcBef>
                <a:spcPct val="50000"/>
              </a:spcBef>
              <a:spcAft>
                <a:spcPct val="0"/>
              </a:spcAft>
            </a:pPr>
            <a:endParaRPr lang="en-US" sz="2800" b="1">
              <a:solidFill>
                <a:srgbClr val="000000"/>
              </a:solidFill>
            </a:endParaRPr>
          </a:p>
        </p:txBody>
      </p:sp>
    </p:spTree>
    <p:extLst>
      <p:ext uri="{BB962C8B-B14F-4D97-AF65-F5344CB8AC3E}">
        <p14:creationId xmlns:p14="http://schemas.microsoft.com/office/powerpoint/2010/main" val="40767104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40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40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4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44" grpId="0"/>
      <p:bldP spid="16405" grpId="0"/>
      <p:bldP spid="46" grpId="0"/>
      <p:bldP spid="47" grpId="0" animBg="1"/>
      <p:bldP spid="48" grpId="0" animBg="1"/>
      <p:bldP spid="16409" grpId="0" animBg="1"/>
      <p:bldP spid="164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31"/>
          <p:cNvSpPr txBox="1">
            <a:spLocks noChangeArrowheads="1"/>
          </p:cNvSpPr>
          <p:nvPr/>
        </p:nvSpPr>
        <p:spPr bwMode="auto">
          <a:xfrm>
            <a:off x="2168526" y="114301"/>
            <a:ext cx="48863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eaLnBrk="1" fontAlgn="base" hangingPunct="1">
              <a:spcBef>
                <a:spcPct val="50000"/>
              </a:spcBef>
              <a:spcAft>
                <a:spcPct val="0"/>
              </a:spcAft>
            </a:pPr>
            <a:r>
              <a:rPr lang="en-US" sz="3000">
                <a:solidFill>
                  <a:srgbClr val="808080"/>
                </a:solidFill>
              </a:rPr>
              <a:t>Strengths and Limitations</a:t>
            </a:r>
          </a:p>
        </p:txBody>
      </p:sp>
      <p:sp>
        <p:nvSpPr>
          <p:cNvPr id="31" name="Rectangle 3"/>
          <p:cNvSpPr>
            <a:spLocks noChangeArrowheads="1"/>
          </p:cNvSpPr>
          <p:nvPr/>
        </p:nvSpPr>
        <p:spPr bwMode="auto">
          <a:xfrm>
            <a:off x="2228850" y="742950"/>
            <a:ext cx="7715250" cy="2857500"/>
          </a:xfrm>
          <a:prstGeom prst="roundRect">
            <a:avLst>
              <a:gd name="adj" fmla="val 7955"/>
            </a:avLst>
          </a:prstGeom>
          <a:noFill/>
          <a:ln>
            <a:solidFill>
              <a:schemeClr val="bg2"/>
            </a:solidFill>
            <a:headEnd/>
            <a:tailEnd/>
          </a:ln>
        </p:spPr>
        <p:style>
          <a:lnRef idx="2">
            <a:schemeClr val="accent3">
              <a:shade val="50000"/>
            </a:schemeClr>
          </a:lnRef>
          <a:fillRef idx="1">
            <a:schemeClr val="accent3"/>
          </a:fillRef>
          <a:effectRef idx="0">
            <a:schemeClr val="accent3"/>
          </a:effectRef>
          <a:fontRef idx="minor">
            <a:schemeClr val="lt1"/>
          </a:fontRef>
        </p:style>
        <p:txBody>
          <a:bodyPr wrap="none" anchor="ctr"/>
          <a:lstStyle/>
          <a:p>
            <a:pPr algn="ctr" fontAlgn="base">
              <a:spcBef>
                <a:spcPct val="50000"/>
              </a:spcBef>
              <a:spcAft>
                <a:spcPct val="0"/>
              </a:spcAft>
              <a:defRPr/>
            </a:pPr>
            <a:endParaRPr lang="en-US" sz="2800" b="1" dirty="0">
              <a:solidFill>
                <a:srgbClr val="FFFFFF"/>
              </a:solidFill>
            </a:endParaRPr>
          </a:p>
        </p:txBody>
      </p:sp>
      <p:sp>
        <p:nvSpPr>
          <p:cNvPr id="27" name="Text Box 4"/>
          <p:cNvSpPr txBox="1">
            <a:spLocks noChangeArrowheads="1"/>
          </p:cNvSpPr>
          <p:nvPr/>
        </p:nvSpPr>
        <p:spPr bwMode="auto">
          <a:xfrm>
            <a:off x="4549776" y="846138"/>
            <a:ext cx="3052763" cy="488950"/>
          </a:xfrm>
          <a:prstGeom prst="rect">
            <a:avLst/>
          </a:prstGeom>
          <a:noFill/>
          <a:ln w="38100" algn="ctr">
            <a:noFill/>
            <a:miter lim="800000"/>
            <a:headEnd/>
            <a:tailEnd/>
          </a:ln>
          <a:effectLst/>
        </p:spPr>
        <p:txBody>
          <a:bodyPr>
            <a:spAutoFit/>
          </a:bodyPr>
          <a:lstStyle/>
          <a:p>
            <a:pPr algn="ctr" fontAlgn="base">
              <a:spcBef>
                <a:spcPct val="50000"/>
              </a:spcBef>
              <a:spcAft>
                <a:spcPct val="0"/>
              </a:spcAft>
              <a:defRPr/>
            </a:pPr>
            <a:r>
              <a:rPr lang="en-US" sz="2600" b="1" dirty="0" smtClean="0">
                <a:solidFill>
                  <a:srgbClr val="996633"/>
                </a:solidFill>
                <a:effectLst>
                  <a:outerShdw blurRad="38100" dist="38100" dir="2700000" algn="tl">
                    <a:srgbClr val="C0C0C0"/>
                  </a:outerShdw>
                </a:effectLst>
              </a:rPr>
              <a:t>Theoretical - High</a:t>
            </a:r>
            <a:endParaRPr lang="en-US" sz="2600" b="1" dirty="0">
              <a:solidFill>
                <a:srgbClr val="996633"/>
              </a:solidFill>
              <a:effectLst>
                <a:outerShdw blurRad="38100" dist="38100" dir="2700000" algn="tl">
                  <a:srgbClr val="C0C0C0"/>
                </a:outerShdw>
              </a:effectLst>
            </a:endParaRPr>
          </a:p>
        </p:txBody>
      </p:sp>
      <p:sp>
        <p:nvSpPr>
          <p:cNvPr id="28" name="Round Same Side Corner Rectangle 27"/>
          <p:cNvSpPr/>
          <p:nvPr/>
        </p:nvSpPr>
        <p:spPr bwMode="auto">
          <a:xfrm>
            <a:off x="2667000" y="1590676"/>
            <a:ext cx="3200400" cy="365125"/>
          </a:xfrm>
          <a:prstGeom prst="round2SameRect">
            <a:avLst>
              <a:gd name="adj1" fmla="val 36738"/>
              <a:gd name="adj2" fmla="val 10026"/>
            </a:avLst>
          </a:prstGeom>
          <a:solidFill>
            <a:srgbClr val="996633"/>
          </a:solidFill>
          <a:ln w="38100" cap="flat" cmpd="sng" algn="ctr">
            <a:noFill/>
            <a:prstDash val="solid"/>
            <a:round/>
            <a:headEnd type="none" w="med" len="med"/>
            <a:tailEnd type="none" w="med" len="med"/>
          </a:ln>
          <a:effectLst/>
        </p:spPr>
        <p:txBody>
          <a:bodyPr wrap="none" anchor="ctr"/>
          <a:lstStyle/>
          <a:p>
            <a:pPr algn="ctr" fontAlgn="base">
              <a:spcBef>
                <a:spcPct val="50000"/>
              </a:spcBef>
              <a:spcAft>
                <a:spcPct val="0"/>
              </a:spcAft>
              <a:defRPr/>
            </a:pPr>
            <a:r>
              <a:rPr lang="en-US" sz="2100" b="1" dirty="0">
                <a:solidFill>
                  <a:srgbClr val="FFFFFF"/>
                </a:solidFill>
              </a:rPr>
              <a:t>Strengths</a:t>
            </a:r>
          </a:p>
        </p:txBody>
      </p:sp>
      <p:sp>
        <p:nvSpPr>
          <p:cNvPr id="39" name="Round Same Side Corner Rectangle 38"/>
          <p:cNvSpPr/>
          <p:nvPr/>
        </p:nvSpPr>
        <p:spPr bwMode="auto">
          <a:xfrm>
            <a:off x="6334125" y="1590676"/>
            <a:ext cx="3200400" cy="365125"/>
          </a:xfrm>
          <a:prstGeom prst="round2SameRect">
            <a:avLst>
              <a:gd name="adj1" fmla="val 36738"/>
              <a:gd name="adj2" fmla="val 10026"/>
            </a:avLst>
          </a:prstGeom>
          <a:solidFill>
            <a:srgbClr val="996633"/>
          </a:solidFill>
          <a:ln w="38100" cap="flat" cmpd="sng" algn="ctr">
            <a:noFill/>
            <a:prstDash val="solid"/>
            <a:round/>
            <a:headEnd type="none" w="med" len="med"/>
            <a:tailEnd type="none" w="med" len="med"/>
          </a:ln>
          <a:effectLst/>
        </p:spPr>
        <p:txBody>
          <a:bodyPr wrap="none" anchor="ctr"/>
          <a:lstStyle/>
          <a:p>
            <a:pPr algn="ctr" fontAlgn="base">
              <a:spcBef>
                <a:spcPct val="50000"/>
              </a:spcBef>
              <a:spcAft>
                <a:spcPct val="0"/>
              </a:spcAft>
              <a:defRPr/>
            </a:pPr>
            <a:r>
              <a:rPr lang="en-US" sz="2100" b="1" dirty="0">
                <a:solidFill>
                  <a:srgbClr val="FFFFFF"/>
                </a:solidFill>
              </a:rPr>
              <a:t>Limitations</a:t>
            </a:r>
          </a:p>
        </p:txBody>
      </p:sp>
      <p:sp>
        <p:nvSpPr>
          <p:cNvPr id="12295" name="Text Box 6"/>
          <p:cNvSpPr txBox="1">
            <a:spLocks noChangeArrowheads="1"/>
          </p:cNvSpPr>
          <p:nvPr/>
        </p:nvSpPr>
        <p:spPr bwMode="auto">
          <a:xfrm>
            <a:off x="2722563" y="1371601"/>
            <a:ext cx="194151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eaLnBrk="1" fontAlgn="base" hangingPunct="1">
              <a:spcBef>
                <a:spcPct val="0"/>
              </a:spcBef>
              <a:spcAft>
                <a:spcPct val="10000"/>
              </a:spcAft>
              <a:buSzPct val="125000"/>
              <a:buFont typeface="Wingdings" pitchFamily="2" charset="2"/>
              <a:buNone/>
            </a:pPr>
            <a:endParaRPr lang="en-US" sz="1600">
              <a:solidFill>
                <a:srgbClr val="CC0000"/>
              </a:solidFill>
            </a:endParaRPr>
          </a:p>
        </p:txBody>
      </p:sp>
      <p:sp>
        <p:nvSpPr>
          <p:cNvPr id="12296" name="Text Box 14"/>
          <p:cNvSpPr txBox="1">
            <a:spLocks noChangeArrowheads="1"/>
          </p:cNvSpPr>
          <p:nvPr/>
        </p:nvSpPr>
        <p:spPr bwMode="auto">
          <a:xfrm>
            <a:off x="6230939" y="1958976"/>
            <a:ext cx="3398837" cy="1131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algn="ctr" eaLnBrk="1" fontAlgn="base" hangingPunct="1">
              <a:lnSpc>
                <a:spcPct val="105000"/>
              </a:lnSpc>
              <a:spcBef>
                <a:spcPct val="50000"/>
              </a:spcBef>
              <a:spcAft>
                <a:spcPct val="0"/>
              </a:spcAft>
            </a:pPr>
            <a:r>
              <a:rPr lang="en-US" sz="1200" b="0" dirty="0">
                <a:solidFill>
                  <a:srgbClr val="000000"/>
                </a:solidFill>
              </a:rPr>
              <a:t>Getting bogged down in details</a:t>
            </a:r>
          </a:p>
          <a:p>
            <a:pPr algn="ctr" eaLnBrk="1" fontAlgn="base" hangingPunct="1">
              <a:lnSpc>
                <a:spcPct val="105000"/>
              </a:lnSpc>
              <a:spcBef>
                <a:spcPct val="50000"/>
              </a:spcBef>
              <a:spcAft>
                <a:spcPct val="0"/>
              </a:spcAft>
            </a:pPr>
            <a:r>
              <a:rPr lang="en-US" sz="1200" b="0" dirty="0">
                <a:solidFill>
                  <a:srgbClr val="000000"/>
                </a:solidFill>
              </a:rPr>
              <a:t>Too slow to act</a:t>
            </a:r>
          </a:p>
          <a:p>
            <a:pPr algn="ctr" eaLnBrk="1" fontAlgn="base" hangingPunct="1">
              <a:lnSpc>
                <a:spcPct val="105000"/>
              </a:lnSpc>
              <a:spcBef>
                <a:spcPct val="50000"/>
              </a:spcBef>
              <a:spcAft>
                <a:spcPct val="0"/>
              </a:spcAft>
            </a:pPr>
            <a:r>
              <a:rPr lang="en-US" sz="1200" b="0" dirty="0">
                <a:solidFill>
                  <a:srgbClr val="000000"/>
                </a:solidFill>
              </a:rPr>
              <a:t>Impractical pursuits</a:t>
            </a:r>
          </a:p>
          <a:p>
            <a:pPr algn="ctr" eaLnBrk="1" fontAlgn="base" hangingPunct="1">
              <a:lnSpc>
                <a:spcPct val="105000"/>
              </a:lnSpc>
              <a:spcBef>
                <a:spcPct val="50000"/>
              </a:spcBef>
              <a:spcAft>
                <a:spcPct val="0"/>
              </a:spcAft>
            </a:pPr>
            <a:r>
              <a:rPr lang="en-US" sz="1200" b="0" dirty="0" smtClean="0">
                <a:solidFill>
                  <a:srgbClr val="000000"/>
                </a:solidFill>
              </a:rPr>
              <a:t>Wasting </a:t>
            </a:r>
            <a:r>
              <a:rPr lang="en-US" sz="1200" b="0" dirty="0">
                <a:solidFill>
                  <a:srgbClr val="000000"/>
                </a:solidFill>
              </a:rPr>
              <a:t>time and resources</a:t>
            </a:r>
          </a:p>
        </p:txBody>
      </p:sp>
      <p:sp>
        <p:nvSpPr>
          <p:cNvPr id="12297" name="Rounded Rectangle 144"/>
          <p:cNvSpPr>
            <a:spLocks noChangeArrowheads="1"/>
          </p:cNvSpPr>
          <p:nvPr/>
        </p:nvSpPr>
        <p:spPr bwMode="auto">
          <a:xfrm>
            <a:off x="2667000" y="1581150"/>
            <a:ext cx="3200400" cy="1828800"/>
          </a:xfrm>
          <a:prstGeom prst="roundRect">
            <a:avLst>
              <a:gd name="adj" fmla="val 7588"/>
            </a:avLst>
          </a:prstGeom>
          <a:noFill/>
          <a:ln w="381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fontAlgn="base">
              <a:spcBef>
                <a:spcPct val="50000"/>
              </a:spcBef>
              <a:spcAft>
                <a:spcPct val="0"/>
              </a:spcAft>
            </a:pPr>
            <a:endParaRPr lang="en-US" sz="2800" b="1">
              <a:solidFill>
                <a:srgbClr val="000000"/>
              </a:solidFill>
            </a:endParaRPr>
          </a:p>
        </p:txBody>
      </p:sp>
      <p:sp>
        <p:nvSpPr>
          <p:cNvPr id="12298" name="Text Box 15"/>
          <p:cNvSpPr txBox="1">
            <a:spLocks noChangeArrowheads="1"/>
          </p:cNvSpPr>
          <p:nvPr/>
        </p:nvSpPr>
        <p:spPr bwMode="auto">
          <a:xfrm>
            <a:off x="2843213" y="1970088"/>
            <a:ext cx="2857500" cy="1144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algn="ctr" eaLnBrk="1" fontAlgn="base" hangingPunct="1">
              <a:lnSpc>
                <a:spcPct val="105000"/>
              </a:lnSpc>
              <a:spcBef>
                <a:spcPct val="50000"/>
              </a:spcBef>
              <a:spcAft>
                <a:spcPct val="0"/>
              </a:spcAft>
            </a:pPr>
            <a:r>
              <a:rPr lang="en-US" sz="1200" b="0" dirty="0">
                <a:solidFill>
                  <a:srgbClr val="000000"/>
                </a:solidFill>
              </a:rPr>
              <a:t>Gaining </a:t>
            </a:r>
            <a:r>
              <a:rPr lang="en-US" sz="1200" b="0" dirty="0" smtClean="0">
                <a:solidFill>
                  <a:srgbClr val="000000"/>
                </a:solidFill>
              </a:rPr>
              <a:t>expertise, learning</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a:solidFill>
                  <a:srgbClr val="000000"/>
                </a:solidFill>
              </a:rPr>
              <a:t>Being objective</a:t>
            </a:r>
          </a:p>
          <a:p>
            <a:pPr algn="ctr" eaLnBrk="1" fontAlgn="base" hangingPunct="1">
              <a:lnSpc>
                <a:spcPct val="105000"/>
              </a:lnSpc>
              <a:spcBef>
                <a:spcPct val="50000"/>
              </a:spcBef>
              <a:spcAft>
                <a:spcPct val="0"/>
              </a:spcAft>
            </a:pPr>
            <a:r>
              <a:rPr lang="en-US" sz="1200" b="0" dirty="0" smtClean="0">
                <a:solidFill>
                  <a:srgbClr val="000000"/>
                </a:solidFill>
              </a:rPr>
              <a:t>Problem </a:t>
            </a:r>
            <a:r>
              <a:rPr lang="en-US" sz="1200" b="0" dirty="0">
                <a:solidFill>
                  <a:srgbClr val="000000"/>
                </a:solidFill>
              </a:rPr>
              <a:t>solving</a:t>
            </a:r>
          </a:p>
          <a:p>
            <a:pPr algn="ctr" eaLnBrk="1" fontAlgn="base" hangingPunct="1">
              <a:lnSpc>
                <a:spcPct val="105000"/>
              </a:lnSpc>
              <a:spcBef>
                <a:spcPct val="50000"/>
              </a:spcBef>
              <a:spcAft>
                <a:spcPct val="0"/>
              </a:spcAft>
            </a:pPr>
            <a:r>
              <a:rPr lang="en-US" sz="1200" b="0" dirty="0">
                <a:solidFill>
                  <a:srgbClr val="000000"/>
                </a:solidFill>
              </a:rPr>
              <a:t>Developing solutions</a:t>
            </a:r>
          </a:p>
        </p:txBody>
      </p:sp>
      <p:sp>
        <p:nvSpPr>
          <p:cNvPr id="12299" name="Rounded Rectangle 144"/>
          <p:cNvSpPr>
            <a:spLocks noChangeArrowheads="1"/>
          </p:cNvSpPr>
          <p:nvPr/>
        </p:nvSpPr>
        <p:spPr bwMode="auto">
          <a:xfrm>
            <a:off x="6334125" y="1581150"/>
            <a:ext cx="3200400" cy="1828800"/>
          </a:xfrm>
          <a:prstGeom prst="roundRect">
            <a:avLst>
              <a:gd name="adj" fmla="val 7588"/>
            </a:avLst>
          </a:prstGeom>
          <a:noFill/>
          <a:ln w="381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fontAlgn="base">
              <a:spcBef>
                <a:spcPct val="50000"/>
              </a:spcBef>
              <a:spcAft>
                <a:spcPct val="0"/>
              </a:spcAft>
            </a:pPr>
            <a:endParaRPr lang="en-US" sz="2800" b="1">
              <a:solidFill>
                <a:srgbClr val="000000"/>
              </a:solidFill>
            </a:endParaRPr>
          </a:p>
        </p:txBody>
      </p:sp>
      <p:cxnSp>
        <p:nvCxnSpPr>
          <p:cNvPr id="12300" name="Straight Connector 46"/>
          <p:cNvCxnSpPr>
            <a:cxnSpLocks noChangeShapeType="1"/>
          </p:cNvCxnSpPr>
          <p:nvPr/>
        </p:nvCxnSpPr>
        <p:spPr bwMode="auto">
          <a:xfrm>
            <a:off x="2686050" y="1962150"/>
            <a:ext cx="3200400" cy="0"/>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cxnSp>
      <p:cxnSp>
        <p:nvCxnSpPr>
          <p:cNvPr id="12301" name="Straight Connector 47"/>
          <p:cNvCxnSpPr>
            <a:cxnSpLocks noChangeShapeType="1"/>
          </p:cNvCxnSpPr>
          <p:nvPr/>
        </p:nvCxnSpPr>
        <p:spPr bwMode="auto">
          <a:xfrm>
            <a:off x="6343650" y="1962150"/>
            <a:ext cx="3200400" cy="0"/>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cxnSp>
      <p:sp>
        <p:nvSpPr>
          <p:cNvPr id="14" name="Rectangle 3"/>
          <p:cNvSpPr>
            <a:spLocks noChangeArrowheads="1"/>
          </p:cNvSpPr>
          <p:nvPr/>
        </p:nvSpPr>
        <p:spPr bwMode="auto">
          <a:xfrm>
            <a:off x="2264875" y="3721670"/>
            <a:ext cx="7715250" cy="2857500"/>
          </a:xfrm>
          <a:prstGeom prst="roundRect">
            <a:avLst>
              <a:gd name="adj" fmla="val 7955"/>
            </a:avLst>
          </a:prstGeom>
          <a:noFill/>
          <a:ln>
            <a:solidFill>
              <a:schemeClr val="bg2"/>
            </a:solidFill>
            <a:headEnd/>
            <a:tailEnd/>
          </a:ln>
        </p:spPr>
        <p:style>
          <a:lnRef idx="2">
            <a:schemeClr val="accent3">
              <a:shade val="50000"/>
            </a:schemeClr>
          </a:lnRef>
          <a:fillRef idx="1">
            <a:schemeClr val="accent3"/>
          </a:fillRef>
          <a:effectRef idx="0">
            <a:schemeClr val="accent3"/>
          </a:effectRef>
          <a:fontRef idx="minor">
            <a:schemeClr val="lt1"/>
          </a:fontRef>
        </p:style>
        <p:txBody>
          <a:bodyPr wrap="none" anchor="ctr"/>
          <a:lstStyle/>
          <a:p>
            <a:pPr algn="ctr" fontAlgn="base">
              <a:spcBef>
                <a:spcPct val="50000"/>
              </a:spcBef>
              <a:spcAft>
                <a:spcPct val="0"/>
              </a:spcAft>
              <a:defRPr/>
            </a:pPr>
            <a:endParaRPr lang="en-US" sz="2800" b="1" dirty="0">
              <a:solidFill>
                <a:srgbClr val="FFFFFF"/>
              </a:solidFill>
            </a:endParaRPr>
          </a:p>
        </p:txBody>
      </p:sp>
      <p:sp>
        <p:nvSpPr>
          <p:cNvPr id="15" name="Text Box 4"/>
          <p:cNvSpPr txBox="1">
            <a:spLocks noChangeArrowheads="1"/>
          </p:cNvSpPr>
          <p:nvPr/>
        </p:nvSpPr>
        <p:spPr bwMode="auto">
          <a:xfrm>
            <a:off x="4585801" y="3824858"/>
            <a:ext cx="3052763" cy="488950"/>
          </a:xfrm>
          <a:prstGeom prst="rect">
            <a:avLst/>
          </a:prstGeom>
          <a:noFill/>
          <a:ln w="38100" algn="ctr">
            <a:noFill/>
            <a:miter lim="800000"/>
            <a:headEnd/>
            <a:tailEnd/>
          </a:ln>
          <a:effectLst/>
        </p:spPr>
        <p:txBody>
          <a:bodyPr>
            <a:spAutoFit/>
          </a:bodyPr>
          <a:lstStyle/>
          <a:p>
            <a:pPr algn="ctr" fontAlgn="base">
              <a:spcBef>
                <a:spcPct val="50000"/>
              </a:spcBef>
              <a:spcAft>
                <a:spcPct val="0"/>
              </a:spcAft>
              <a:defRPr/>
            </a:pPr>
            <a:r>
              <a:rPr lang="en-US" sz="2600" b="1" dirty="0" smtClean="0">
                <a:solidFill>
                  <a:srgbClr val="996633"/>
                </a:solidFill>
                <a:effectLst>
                  <a:outerShdw blurRad="38100" dist="38100" dir="2700000" algn="tl">
                    <a:srgbClr val="C0C0C0"/>
                  </a:outerShdw>
                </a:effectLst>
              </a:rPr>
              <a:t>Theoretical - Low</a:t>
            </a:r>
            <a:endParaRPr lang="en-US" sz="2600" b="1" dirty="0">
              <a:solidFill>
                <a:srgbClr val="996633"/>
              </a:solidFill>
              <a:effectLst>
                <a:outerShdw blurRad="38100" dist="38100" dir="2700000" algn="tl">
                  <a:srgbClr val="C0C0C0"/>
                </a:outerShdw>
              </a:effectLst>
            </a:endParaRPr>
          </a:p>
        </p:txBody>
      </p:sp>
      <p:sp>
        <p:nvSpPr>
          <p:cNvPr id="16" name="Round Same Side Corner Rectangle 15"/>
          <p:cNvSpPr/>
          <p:nvPr/>
        </p:nvSpPr>
        <p:spPr bwMode="auto">
          <a:xfrm>
            <a:off x="2703025" y="4569396"/>
            <a:ext cx="3200400" cy="365125"/>
          </a:xfrm>
          <a:prstGeom prst="round2SameRect">
            <a:avLst>
              <a:gd name="adj1" fmla="val 36738"/>
              <a:gd name="adj2" fmla="val 10026"/>
            </a:avLst>
          </a:prstGeom>
          <a:solidFill>
            <a:srgbClr val="996633"/>
          </a:solidFill>
          <a:ln w="38100" cap="flat" cmpd="sng" algn="ctr">
            <a:noFill/>
            <a:prstDash val="solid"/>
            <a:round/>
            <a:headEnd type="none" w="med" len="med"/>
            <a:tailEnd type="none" w="med" len="med"/>
          </a:ln>
          <a:effectLst/>
        </p:spPr>
        <p:txBody>
          <a:bodyPr wrap="none" anchor="ctr"/>
          <a:lstStyle/>
          <a:p>
            <a:pPr algn="ctr" fontAlgn="base">
              <a:spcBef>
                <a:spcPct val="50000"/>
              </a:spcBef>
              <a:spcAft>
                <a:spcPct val="0"/>
              </a:spcAft>
              <a:defRPr/>
            </a:pPr>
            <a:r>
              <a:rPr lang="en-US" sz="2100" b="1" dirty="0">
                <a:solidFill>
                  <a:srgbClr val="FFFFFF"/>
                </a:solidFill>
              </a:rPr>
              <a:t>Strengths</a:t>
            </a:r>
          </a:p>
        </p:txBody>
      </p:sp>
      <p:sp>
        <p:nvSpPr>
          <p:cNvPr id="17" name="Round Same Side Corner Rectangle 16"/>
          <p:cNvSpPr/>
          <p:nvPr/>
        </p:nvSpPr>
        <p:spPr bwMode="auto">
          <a:xfrm>
            <a:off x="6370150" y="4569396"/>
            <a:ext cx="3200400" cy="365125"/>
          </a:xfrm>
          <a:prstGeom prst="round2SameRect">
            <a:avLst>
              <a:gd name="adj1" fmla="val 36738"/>
              <a:gd name="adj2" fmla="val 10026"/>
            </a:avLst>
          </a:prstGeom>
          <a:solidFill>
            <a:srgbClr val="996633"/>
          </a:solidFill>
          <a:ln w="38100" cap="flat" cmpd="sng" algn="ctr">
            <a:noFill/>
            <a:prstDash val="solid"/>
            <a:round/>
            <a:headEnd type="none" w="med" len="med"/>
            <a:tailEnd type="none" w="med" len="med"/>
          </a:ln>
          <a:effectLst/>
        </p:spPr>
        <p:txBody>
          <a:bodyPr wrap="none" anchor="ctr"/>
          <a:lstStyle/>
          <a:p>
            <a:pPr algn="ctr" fontAlgn="base">
              <a:spcBef>
                <a:spcPct val="50000"/>
              </a:spcBef>
              <a:spcAft>
                <a:spcPct val="0"/>
              </a:spcAft>
              <a:defRPr/>
            </a:pPr>
            <a:r>
              <a:rPr lang="en-US" sz="2100" b="1" dirty="0">
                <a:solidFill>
                  <a:srgbClr val="FFFFFF"/>
                </a:solidFill>
              </a:rPr>
              <a:t>Limitations</a:t>
            </a:r>
          </a:p>
        </p:txBody>
      </p:sp>
      <p:sp>
        <p:nvSpPr>
          <p:cNvPr id="18" name="Text Box 6"/>
          <p:cNvSpPr txBox="1">
            <a:spLocks noChangeArrowheads="1"/>
          </p:cNvSpPr>
          <p:nvPr/>
        </p:nvSpPr>
        <p:spPr bwMode="auto">
          <a:xfrm>
            <a:off x="2758588" y="4350321"/>
            <a:ext cx="194151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eaLnBrk="1" fontAlgn="base" hangingPunct="1">
              <a:spcBef>
                <a:spcPct val="0"/>
              </a:spcBef>
              <a:spcAft>
                <a:spcPct val="10000"/>
              </a:spcAft>
              <a:buSzPct val="125000"/>
              <a:buFont typeface="Wingdings" pitchFamily="2" charset="2"/>
              <a:buNone/>
            </a:pPr>
            <a:endParaRPr lang="en-US" sz="1600">
              <a:solidFill>
                <a:srgbClr val="CC0000"/>
              </a:solidFill>
            </a:endParaRPr>
          </a:p>
        </p:txBody>
      </p:sp>
      <p:sp>
        <p:nvSpPr>
          <p:cNvPr id="19" name="Text Box 14"/>
          <p:cNvSpPr txBox="1">
            <a:spLocks noChangeArrowheads="1"/>
          </p:cNvSpPr>
          <p:nvPr/>
        </p:nvSpPr>
        <p:spPr bwMode="auto">
          <a:xfrm>
            <a:off x="6266964" y="4937696"/>
            <a:ext cx="3398837" cy="1144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algn="ctr" eaLnBrk="1" fontAlgn="base" hangingPunct="1">
              <a:lnSpc>
                <a:spcPct val="105000"/>
              </a:lnSpc>
              <a:spcBef>
                <a:spcPct val="50000"/>
              </a:spcBef>
              <a:spcAft>
                <a:spcPct val="0"/>
              </a:spcAft>
            </a:pPr>
            <a:r>
              <a:rPr lang="en-US" sz="1200" b="0" dirty="0" smtClean="0">
                <a:solidFill>
                  <a:srgbClr val="000000"/>
                </a:solidFill>
              </a:rPr>
              <a:t>May not pay attention to instructions</a:t>
            </a:r>
          </a:p>
          <a:p>
            <a:pPr algn="ctr" eaLnBrk="1" fontAlgn="base" hangingPunct="1">
              <a:lnSpc>
                <a:spcPct val="105000"/>
              </a:lnSpc>
              <a:spcBef>
                <a:spcPct val="50000"/>
              </a:spcBef>
              <a:spcAft>
                <a:spcPct val="0"/>
              </a:spcAft>
            </a:pPr>
            <a:r>
              <a:rPr lang="en-US" sz="1200" b="0" dirty="0" smtClean="0">
                <a:solidFill>
                  <a:srgbClr val="000000"/>
                </a:solidFill>
              </a:rPr>
              <a:t>May rush through projects, miss details</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smtClean="0">
                <a:solidFill>
                  <a:srgbClr val="000000"/>
                </a:solidFill>
              </a:rPr>
              <a:t>May quickly reach information overload</a:t>
            </a:r>
          </a:p>
          <a:p>
            <a:pPr algn="ctr" eaLnBrk="1" fontAlgn="base" hangingPunct="1">
              <a:lnSpc>
                <a:spcPct val="105000"/>
              </a:lnSpc>
              <a:spcBef>
                <a:spcPct val="50000"/>
              </a:spcBef>
              <a:spcAft>
                <a:spcPct val="0"/>
              </a:spcAft>
            </a:pPr>
            <a:r>
              <a:rPr lang="en-US" sz="1200" b="0" dirty="0" smtClean="0">
                <a:solidFill>
                  <a:srgbClr val="000000"/>
                </a:solidFill>
              </a:rPr>
              <a:t>May struggle to connect the dots</a:t>
            </a:r>
          </a:p>
        </p:txBody>
      </p:sp>
      <p:sp>
        <p:nvSpPr>
          <p:cNvPr id="20" name="Rounded Rectangle 144"/>
          <p:cNvSpPr>
            <a:spLocks noChangeArrowheads="1"/>
          </p:cNvSpPr>
          <p:nvPr/>
        </p:nvSpPr>
        <p:spPr bwMode="auto">
          <a:xfrm>
            <a:off x="2703025" y="4559870"/>
            <a:ext cx="3200400" cy="1828800"/>
          </a:xfrm>
          <a:prstGeom prst="roundRect">
            <a:avLst>
              <a:gd name="adj" fmla="val 7588"/>
            </a:avLst>
          </a:prstGeom>
          <a:noFill/>
          <a:ln w="381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fontAlgn="base">
              <a:spcBef>
                <a:spcPct val="50000"/>
              </a:spcBef>
              <a:spcAft>
                <a:spcPct val="0"/>
              </a:spcAft>
            </a:pPr>
            <a:endParaRPr lang="en-US" sz="2800" b="1">
              <a:solidFill>
                <a:srgbClr val="000000"/>
              </a:solidFill>
            </a:endParaRPr>
          </a:p>
        </p:txBody>
      </p:sp>
      <p:sp>
        <p:nvSpPr>
          <p:cNvPr id="21" name="Text Box 15"/>
          <p:cNvSpPr txBox="1">
            <a:spLocks noChangeArrowheads="1"/>
          </p:cNvSpPr>
          <p:nvPr/>
        </p:nvSpPr>
        <p:spPr bwMode="auto">
          <a:xfrm>
            <a:off x="2879238" y="4948808"/>
            <a:ext cx="2857500" cy="1144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eaLnBrk="0" hangingPunct="0">
              <a:defRPr sz="2800" b="1">
                <a:solidFill>
                  <a:schemeClr val="tx1"/>
                </a:solidFill>
                <a:latin typeface="Arial" pitchFamily="34" charset="0"/>
                <a:ea typeface="ヒラギノ角ゴ Pro W3"/>
                <a:cs typeface="ヒラギノ角ゴ Pro W3"/>
              </a:defRPr>
            </a:lvl1pPr>
            <a:lvl2pPr marL="742950" indent="-285750" eaLnBrk="0" hangingPunct="0">
              <a:defRPr sz="2800" b="1">
                <a:solidFill>
                  <a:schemeClr val="tx1"/>
                </a:solidFill>
                <a:latin typeface="Arial" pitchFamily="34" charset="0"/>
                <a:ea typeface="ヒラギノ角ゴ Pro W3"/>
                <a:cs typeface="ヒラギノ角ゴ Pro W3"/>
              </a:defRPr>
            </a:lvl2pPr>
            <a:lvl3pPr marL="1143000" indent="-228600" eaLnBrk="0" hangingPunct="0">
              <a:defRPr sz="2800" b="1">
                <a:solidFill>
                  <a:schemeClr val="tx1"/>
                </a:solidFill>
                <a:latin typeface="Arial" pitchFamily="34" charset="0"/>
                <a:ea typeface="ヒラギノ角ゴ Pro W3"/>
                <a:cs typeface="ヒラギノ角ゴ Pro W3"/>
              </a:defRPr>
            </a:lvl3pPr>
            <a:lvl4pPr marL="1600200" indent="-228600" eaLnBrk="0" hangingPunct="0">
              <a:defRPr sz="2800" b="1">
                <a:solidFill>
                  <a:schemeClr val="tx1"/>
                </a:solidFill>
                <a:latin typeface="Arial" pitchFamily="34" charset="0"/>
                <a:ea typeface="ヒラギノ角ゴ Pro W3"/>
                <a:cs typeface="ヒラギノ角ゴ Pro W3"/>
              </a:defRPr>
            </a:lvl4pPr>
            <a:lvl5pPr marL="2057400" indent="-228600" eaLnBrk="0" hangingPunct="0">
              <a:defRPr sz="2800" b="1">
                <a:solidFill>
                  <a:schemeClr val="tx1"/>
                </a:solidFill>
                <a:latin typeface="Arial" pitchFamily="34" charset="0"/>
                <a:ea typeface="ヒラギノ角ゴ Pro W3"/>
                <a:cs typeface="ヒラギノ角ゴ Pro W3"/>
              </a:defRPr>
            </a:lvl5pPr>
            <a:lvl6pPr marL="25146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6pPr>
            <a:lvl7pPr marL="29718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7pPr>
            <a:lvl8pPr marL="34290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8pPr>
            <a:lvl9pPr marL="3886200" indent="-228600" algn="ctr" eaLnBrk="0" fontAlgn="base" hangingPunct="0">
              <a:spcBef>
                <a:spcPct val="50000"/>
              </a:spcBef>
              <a:spcAft>
                <a:spcPct val="0"/>
              </a:spcAft>
              <a:defRPr sz="2800" b="1">
                <a:solidFill>
                  <a:schemeClr val="tx1"/>
                </a:solidFill>
                <a:latin typeface="Arial" pitchFamily="34" charset="0"/>
                <a:ea typeface="ヒラギノ角ゴ Pro W3"/>
                <a:cs typeface="ヒラギノ角ゴ Pro W3"/>
              </a:defRPr>
            </a:lvl9pPr>
          </a:lstStyle>
          <a:p>
            <a:pPr algn="ctr" eaLnBrk="1" fontAlgn="base" hangingPunct="1">
              <a:lnSpc>
                <a:spcPct val="105000"/>
              </a:lnSpc>
              <a:spcBef>
                <a:spcPct val="50000"/>
              </a:spcBef>
              <a:spcAft>
                <a:spcPct val="0"/>
              </a:spcAft>
            </a:pPr>
            <a:r>
              <a:rPr lang="en-US" sz="1200" b="0" dirty="0" smtClean="0">
                <a:solidFill>
                  <a:srgbClr val="000000"/>
                </a:solidFill>
              </a:rPr>
              <a:t>Quick decision maker</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smtClean="0">
                <a:solidFill>
                  <a:srgbClr val="000000"/>
                </a:solidFill>
              </a:rPr>
              <a:t>Practical, hands-on learner</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smtClean="0">
                <a:solidFill>
                  <a:srgbClr val="000000"/>
                </a:solidFill>
              </a:rPr>
              <a:t>Will always find a way</a:t>
            </a:r>
            <a:endParaRPr lang="en-US" sz="1200" b="0" dirty="0">
              <a:solidFill>
                <a:srgbClr val="000000"/>
              </a:solidFill>
            </a:endParaRPr>
          </a:p>
          <a:p>
            <a:pPr algn="ctr" eaLnBrk="1" fontAlgn="base" hangingPunct="1">
              <a:lnSpc>
                <a:spcPct val="105000"/>
              </a:lnSpc>
              <a:spcBef>
                <a:spcPct val="50000"/>
              </a:spcBef>
              <a:spcAft>
                <a:spcPct val="0"/>
              </a:spcAft>
            </a:pPr>
            <a:r>
              <a:rPr lang="en-US" sz="1200" b="0" dirty="0" smtClean="0">
                <a:solidFill>
                  <a:srgbClr val="000000"/>
                </a:solidFill>
              </a:rPr>
              <a:t>Trail and error learning</a:t>
            </a:r>
            <a:endParaRPr lang="en-US" sz="1200" b="0" dirty="0">
              <a:solidFill>
                <a:srgbClr val="000000"/>
              </a:solidFill>
            </a:endParaRPr>
          </a:p>
        </p:txBody>
      </p:sp>
      <p:sp>
        <p:nvSpPr>
          <p:cNvPr id="22" name="Rounded Rectangle 144"/>
          <p:cNvSpPr>
            <a:spLocks noChangeArrowheads="1"/>
          </p:cNvSpPr>
          <p:nvPr/>
        </p:nvSpPr>
        <p:spPr bwMode="auto">
          <a:xfrm>
            <a:off x="6370150" y="4559870"/>
            <a:ext cx="3200400" cy="1828800"/>
          </a:xfrm>
          <a:prstGeom prst="roundRect">
            <a:avLst>
              <a:gd name="adj" fmla="val 7588"/>
            </a:avLst>
          </a:prstGeom>
          <a:noFill/>
          <a:ln w="381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fontAlgn="base">
              <a:spcBef>
                <a:spcPct val="50000"/>
              </a:spcBef>
              <a:spcAft>
                <a:spcPct val="0"/>
              </a:spcAft>
            </a:pPr>
            <a:endParaRPr lang="en-US" sz="2800" b="1">
              <a:solidFill>
                <a:srgbClr val="000000"/>
              </a:solidFill>
            </a:endParaRPr>
          </a:p>
        </p:txBody>
      </p:sp>
      <p:cxnSp>
        <p:nvCxnSpPr>
          <p:cNvPr id="23" name="Straight Connector 46"/>
          <p:cNvCxnSpPr>
            <a:cxnSpLocks noChangeShapeType="1"/>
          </p:cNvCxnSpPr>
          <p:nvPr/>
        </p:nvCxnSpPr>
        <p:spPr bwMode="auto">
          <a:xfrm>
            <a:off x="2722075" y="4940870"/>
            <a:ext cx="3200400" cy="0"/>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cxnSp>
      <p:cxnSp>
        <p:nvCxnSpPr>
          <p:cNvPr id="24" name="Straight Connector 47"/>
          <p:cNvCxnSpPr>
            <a:cxnSpLocks noChangeShapeType="1"/>
          </p:cNvCxnSpPr>
          <p:nvPr/>
        </p:nvCxnSpPr>
        <p:spPr bwMode="auto">
          <a:xfrm>
            <a:off x="6379675" y="4940870"/>
            <a:ext cx="3200400" cy="0"/>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847830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nodePh="1">
                                  <p:stCondLst>
                                    <p:cond delay="0"/>
                                  </p:stCondLst>
                                  <p:endCondLst>
                                    <p:cond evt="begin" delay="0">
                                      <p:tn val="13"/>
                                    </p:cond>
                                  </p:end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p:bldP spid="16" grpId="0" animBg="1"/>
      <p:bldP spid="17" grpId="0" animBg="1"/>
      <p:bldP spid="18" grpId="0"/>
      <p:bldP spid="19" grpId="0"/>
      <p:bldP spid="20" grpId="0" animBg="1"/>
      <p:bldP spid="21" grpId="0"/>
      <p:bldP spid="2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1" y="1825625"/>
            <a:ext cx="12192000" cy="4936590"/>
          </a:xfrm>
          <a:prstGeom prst="rect">
            <a:avLst/>
          </a:prstGeom>
          <a:blipFill dpi="0" rotWithShape="1">
            <a:blip r:embed="rId3">
              <a:alphaModFix amt="54000"/>
            </a:blip>
            <a:srcRect/>
            <a:stretch>
              <a:fillRect/>
            </a:stretch>
          </a:bli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260466" y="500062"/>
            <a:ext cx="10515600" cy="1325563"/>
          </a:xfrm>
        </p:spPr>
        <p:txBody>
          <a:bodyPr>
            <a:normAutofit/>
          </a:bodyPr>
          <a:lstStyle/>
          <a:p>
            <a:r>
              <a:rPr lang="en-US" b="1" dirty="0" smtClean="0">
                <a:latin typeface="Calibri" panose="020F0502020204030204" pitchFamily="34" charset="0"/>
                <a:ea typeface="MS Mincho"/>
                <a:cs typeface="Arial" panose="020B0604020202020204" pitchFamily="34" charset="0"/>
              </a:rPr>
              <a:t>Activity – </a:t>
            </a:r>
            <a:r>
              <a:rPr lang="en-US" dirty="0" smtClean="0">
                <a:latin typeface="Calibri" panose="020F0502020204030204" pitchFamily="34" charset="0"/>
                <a:ea typeface="MS Mincho"/>
                <a:cs typeface="Arial" panose="020B0604020202020204" pitchFamily="34" charset="0"/>
              </a:rPr>
              <a:t>Guessing our influences</a:t>
            </a:r>
            <a:endParaRPr lang="en-US" dirty="0"/>
          </a:p>
        </p:txBody>
      </p:sp>
      <p:sp>
        <p:nvSpPr>
          <p:cNvPr id="3" name="Footer Placeholder 2"/>
          <p:cNvSpPr>
            <a:spLocks noGrp="1"/>
          </p:cNvSpPr>
          <p:nvPr>
            <p:ph type="ftr" sz="quarter" idx="11"/>
          </p:nvPr>
        </p:nvSpPr>
        <p:spPr>
          <a:xfrm>
            <a:off x="-1033630" y="6562653"/>
            <a:ext cx="4114800" cy="365125"/>
          </a:xfrm>
        </p:spPr>
        <p:txBody>
          <a:bodyPr/>
          <a:lstStyle/>
          <a:p>
            <a:r>
              <a:rPr lang="en-US" dirty="0"/>
              <a:t>©2016 Assessments 24X7</a:t>
            </a:r>
          </a:p>
        </p:txBody>
      </p:sp>
      <p:sp>
        <p:nvSpPr>
          <p:cNvPr id="9" name="Slide Number Placeholder 8"/>
          <p:cNvSpPr>
            <a:spLocks noGrp="1"/>
          </p:cNvSpPr>
          <p:nvPr>
            <p:ph type="sldNum" sz="quarter" idx="12"/>
          </p:nvPr>
        </p:nvSpPr>
        <p:spPr/>
        <p:txBody>
          <a:bodyPr/>
          <a:lstStyle/>
          <a:p>
            <a:fld id="{35D9512D-810D-489D-B4F3-0792CA04F52C}" type="slidenum">
              <a:rPr lang="en-US" smtClean="0"/>
              <a:t>11</a:t>
            </a:fld>
            <a:endParaRPr lang="en-US"/>
          </a:p>
        </p:txBody>
      </p:sp>
    </p:spTree>
    <p:extLst>
      <p:ext uri="{BB962C8B-B14F-4D97-AF65-F5344CB8AC3E}">
        <p14:creationId xmlns:p14="http://schemas.microsoft.com/office/powerpoint/2010/main" val="24928020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1" y="1825625"/>
            <a:ext cx="12192000" cy="4936590"/>
          </a:xfrm>
          <a:prstGeom prst="rect">
            <a:avLst/>
          </a:prstGeom>
          <a:blipFill dpi="0" rotWithShape="1">
            <a:blip r:embed="rId3">
              <a:alphaModFix amt="54000"/>
            </a:blip>
            <a:srcRect/>
            <a:stretch>
              <a:fillRect/>
            </a:stretch>
          </a:bli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260466" y="500062"/>
            <a:ext cx="10515600" cy="1325563"/>
          </a:xfrm>
        </p:spPr>
        <p:txBody>
          <a:bodyPr>
            <a:normAutofit/>
          </a:bodyPr>
          <a:lstStyle/>
          <a:p>
            <a:r>
              <a:rPr lang="en-US" b="1" dirty="0" smtClean="0">
                <a:latin typeface="Calibri" panose="020F0502020204030204" pitchFamily="34" charset="0"/>
                <a:ea typeface="MS Mincho"/>
                <a:cs typeface="Arial" panose="020B0604020202020204" pitchFamily="34" charset="0"/>
              </a:rPr>
              <a:t>Activity – </a:t>
            </a:r>
            <a:r>
              <a:rPr lang="en-US" dirty="0" smtClean="0">
                <a:latin typeface="Calibri" panose="020F0502020204030204" pitchFamily="34" charset="0"/>
                <a:ea typeface="MS Mincho"/>
                <a:cs typeface="Arial" panose="020B0604020202020204" pitchFamily="34" charset="0"/>
              </a:rPr>
              <a:t>Team Assessment</a:t>
            </a:r>
            <a:endParaRPr lang="en-US" dirty="0"/>
          </a:p>
        </p:txBody>
      </p:sp>
      <p:sp>
        <p:nvSpPr>
          <p:cNvPr id="3" name="Footer Placeholder 2"/>
          <p:cNvSpPr>
            <a:spLocks noGrp="1"/>
          </p:cNvSpPr>
          <p:nvPr>
            <p:ph type="ftr" sz="quarter" idx="11"/>
          </p:nvPr>
        </p:nvSpPr>
        <p:spPr>
          <a:xfrm>
            <a:off x="-1033630" y="6562653"/>
            <a:ext cx="4114800" cy="365125"/>
          </a:xfrm>
        </p:spPr>
        <p:txBody>
          <a:bodyPr/>
          <a:lstStyle/>
          <a:p>
            <a:r>
              <a:rPr lang="en-US" dirty="0"/>
              <a:t>©2016 Assessments 24X7</a:t>
            </a:r>
          </a:p>
        </p:txBody>
      </p:sp>
      <p:sp>
        <p:nvSpPr>
          <p:cNvPr id="9" name="Slide Number Placeholder 8"/>
          <p:cNvSpPr>
            <a:spLocks noGrp="1"/>
          </p:cNvSpPr>
          <p:nvPr>
            <p:ph type="sldNum" sz="quarter" idx="12"/>
          </p:nvPr>
        </p:nvSpPr>
        <p:spPr/>
        <p:txBody>
          <a:bodyPr/>
          <a:lstStyle/>
          <a:p>
            <a:fld id="{35D9512D-810D-489D-B4F3-0792CA04F52C}" type="slidenum">
              <a:rPr lang="en-US" smtClean="0"/>
              <a:t>12</a:t>
            </a:fld>
            <a:endParaRPr lang="en-US"/>
          </a:p>
        </p:txBody>
      </p:sp>
    </p:spTree>
    <p:extLst>
      <p:ext uri="{BB962C8B-B14F-4D97-AF65-F5344CB8AC3E}">
        <p14:creationId xmlns:p14="http://schemas.microsoft.com/office/powerpoint/2010/main" val="14396780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1" y="1825625"/>
            <a:ext cx="12192000" cy="4936590"/>
          </a:xfrm>
          <a:prstGeom prst="rect">
            <a:avLst/>
          </a:prstGeom>
          <a:blipFill dpi="0" rotWithShape="1">
            <a:blip r:embed="rId3">
              <a:alphaModFix amt="54000"/>
            </a:blip>
            <a:srcRect/>
            <a:stretch>
              <a:fillRect/>
            </a:stretch>
          </a:bli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260466" y="500062"/>
            <a:ext cx="10515600" cy="1325563"/>
          </a:xfrm>
        </p:spPr>
        <p:txBody>
          <a:bodyPr>
            <a:normAutofit/>
          </a:bodyPr>
          <a:lstStyle/>
          <a:p>
            <a:r>
              <a:rPr lang="en-US" b="1" dirty="0" smtClean="0">
                <a:latin typeface="Calibri" panose="020F0502020204030204" pitchFamily="34" charset="0"/>
                <a:ea typeface="MS Mincho"/>
                <a:cs typeface="Arial" panose="020B0604020202020204" pitchFamily="34" charset="0"/>
              </a:rPr>
              <a:t>Activity – </a:t>
            </a:r>
            <a:r>
              <a:rPr lang="en-US" dirty="0" smtClean="0">
                <a:latin typeface="Calibri" panose="020F0502020204030204" pitchFamily="34" charset="0"/>
                <a:ea typeface="MS Mincho"/>
                <a:cs typeface="Arial" panose="020B0604020202020204" pitchFamily="34" charset="0"/>
              </a:rPr>
              <a:t>Quotes</a:t>
            </a:r>
            <a:endParaRPr lang="en-US" dirty="0"/>
          </a:p>
        </p:txBody>
      </p:sp>
      <p:sp>
        <p:nvSpPr>
          <p:cNvPr id="3" name="Footer Placeholder 2"/>
          <p:cNvSpPr>
            <a:spLocks noGrp="1"/>
          </p:cNvSpPr>
          <p:nvPr>
            <p:ph type="ftr" sz="quarter" idx="11"/>
          </p:nvPr>
        </p:nvSpPr>
        <p:spPr>
          <a:xfrm>
            <a:off x="-1033630" y="6562653"/>
            <a:ext cx="4114800" cy="365125"/>
          </a:xfrm>
        </p:spPr>
        <p:txBody>
          <a:bodyPr/>
          <a:lstStyle/>
          <a:p>
            <a:r>
              <a:rPr lang="en-US" dirty="0"/>
              <a:t>©2016 Assessments 24X7</a:t>
            </a:r>
          </a:p>
        </p:txBody>
      </p:sp>
      <p:sp>
        <p:nvSpPr>
          <p:cNvPr id="9" name="Slide Number Placeholder 8"/>
          <p:cNvSpPr>
            <a:spLocks noGrp="1"/>
          </p:cNvSpPr>
          <p:nvPr>
            <p:ph type="sldNum" sz="quarter" idx="12"/>
          </p:nvPr>
        </p:nvSpPr>
        <p:spPr/>
        <p:txBody>
          <a:bodyPr/>
          <a:lstStyle/>
          <a:p>
            <a:fld id="{35D9512D-810D-489D-B4F3-0792CA04F52C}" type="slidenum">
              <a:rPr lang="en-US" smtClean="0"/>
              <a:t>13</a:t>
            </a:fld>
            <a:endParaRPr lang="en-US"/>
          </a:p>
        </p:txBody>
      </p:sp>
    </p:spTree>
    <p:extLst>
      <p:ext uri="{BB962C8B-B14F-4D97-AF65-F5344CB8AC3E}">
        <p14:creationId xmlns:p14="http://schemas.microsoft.com/office/powerpoint/2010/main" val="9474809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8127</TotalTime>
  <Words>1312</Words>
  <Application>Microsoft Office PowerPoint</Application>
  <PresentationFormat>Widescreen</PresentationFormat>
  <Paragraphs>254</Paragraphs>
  <Slides>13</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Calibri</vt:lpstr>
      <vt:lpstr>Calibri Light</vt:lpstr>
      <vt:lpstr>MS Mincho</vt:lpstr>
      <vt:lpstr>Times New Roman</vt:lpstr>
      <vt:lpstr>Wingdings</vt:lpstr>
      <vt:lpstr>ヒラギノ角ゴ Pro W3</vt:lpstr>
      <vt:lpstr>Office Theme</vt:lpstr>
      <vt:lpstr>Motivators Activities </vt:lpstr>
      <vt:lpstr>Discussion - Different Motivators</vt:lpstr>
      <vt:lpstr>Activity – Describe the Dimension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Activity – Guessing our influences</vt:lpstr>
      <vt:lpstr>Activity – Team Assessment</vt:lpstr>
      <vt:lpstr>Activity – Quotes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Learning Styles</dc:title>
  <dc:creator>Jennifer Larsen</dc:creator>
  <cp:lastModifiedBy>Jennifer Voitlein</cp:lastModifiedBy>
  <cp:revision>108</cp:revision>
  <dcterms:created xsi:type="dcterms:W3CDTF">2016-03-22T22:01:54Z</dcterms:created>
  <dcterms:modified xsi:type="dcterms:W3CDTF">2017-03-20T15:58:04Z</dcterms:modified>
</cp:coreProperties>
</file>