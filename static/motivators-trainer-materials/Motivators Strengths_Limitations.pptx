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3" r:id="rId3"/>
    <p:sldId id="279" r:id="rId4"/>
    <p:sldId id="274" r:id="rId5"/>
    <p:sldId id="284" r:id="rId6"/>
    <p:sldId id="285" r:id="rId7"/>
    <p:sldId id="275" r:id="rId8"/>
    <p:sldId id="276" r:id="rId9"/>
    <p:sldId id="28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637"/>
    <a:srgbClr val="996633"/>
    <a:srgbClr val="F6473A"/>
    <a:srgbClr val="0000FF"/>
    <a:srgbClr val="663300"/>
    <a:srgbClr val="18A9B8"/>
    <a:srgbClr val="5E5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2" autoAdjust="0"/>
    <p:restoredTop sz="84639" autoAdjust="0"/>
  </p:normalViewPr>
  <p:slideViewPr>
    <p:cSldViewPr snapToGrid="0">
      <p:cViewPr varScale="1">
        <p:scale>
          <a:sx n="69" d="100"/>
          <a:sy n="69" d="100"/>
        </p:scale>
        <p:origin x="10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8E466-47E7-472D-AC34-BD50788CFBD4}" type="datetimeFigureOut">
              <a:rPr lang="en-US" smtClean="0"/>
              <a:t>6/15/2020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A222A-7EE5-461B-AB51-4E17400662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5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A222A-7EE5-461B-AB51-4E17400662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79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Passion Palette: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 are passionate about leads to our decisions, our actions and ultimately, our success. 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assign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simple descriptor to each dimension – we use these to outline the most notable passion of each dimension.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this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descriptor align with the definitions of the dimensions? </a:t>
            </a:r>
          </a:p>
          <a:p>
            <a:endParaRPr lang="en-US" sz="1200" b="1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Aesthetic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for balance, harmony, and form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alternative thinking versus standardized thinking – standardized values functionality not balance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drive for economic or practical returns – competitiveness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drives the desire for ROI, what’s in it for me, how do I win?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Individualistic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to stand out as independent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 desire to be unique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Politica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 - a drive to be in control or have influence -  the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desire to have control and power over a situation or environment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Altruistic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a drive for humanitarian efforts or to help others selflessly –to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understand or experience the feelings of others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a drive to establish order, routine, and structure –to value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and structure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Theoretical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for knowledge, learning, and understanding – a need to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investigate, know and understand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A222A-7EE5-461B-AB51-4E17400662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0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 on these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en-US" sz="1200" b="1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Aesthetic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for balance, harmony, and form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alternative thinking versus standardized thinking – standardized values functionality not balance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drive for economic or practical returns – competitiveness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drives the desire for ROI, what’s in it for me, how do I win?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Individualistic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to stand out as independent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a desire to be unique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Politica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 - a drive to be in control or have influence -  the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desire to have control and power over a situation or environment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Altruistic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a drive for humanitarian efforts or to help others selflessly –to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understand or experience the feelings of others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Regulatory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a drive to establish order, routine, and structure –to value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 and structure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Theoretical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drive for knowledge, learning, and understanding – a need to</a:t>
            </a:r>
            <a:r>
              <a:rPr 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investigate, know and understand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A222A-7EE5-461B-AB51-4E17400662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82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2E862-F04A-4567-BD33-10F4CD9A79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677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2E862-F04A-4567-BD33-10F4CD9A79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167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BD000C-4FA8-4497-8F51-7705CABBE1FE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810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BD000C-4FA8-4497-8F51-7705CABBE1FE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5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2951A5-F664-41C2-81B4-5593274E060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526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E2951A5-F664-41C2-81B4-5593274E060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85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84AEF5-5D5A-468D-AE23-20EBE75FED7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0688" y="701675"/>
            <a:ext cx="6262687" cy="352425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997" y="4461770"/>
            <a:ext cx="5208482" cy="422449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115" tIns="47558" rIns="95115" bIns="4755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9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ED286-BA65-4208-B535-1F1458390F3E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2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3C1EF-E1A6-46B7-87EA-DFDCA8631C95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A373-CD05-4370-B778-4C83B63112B1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1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9C23D-B0CB-4A01-AAB6-266F5BCC508C}" type="datetime1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7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86A2C-AC5E-4279-B58C-D8416C406737}" type="datetime1">
              <a:rPr lang="en-US" smtClean="0"/>
              <a:t>6/15/2020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03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FFAA-C761-4291-8137-9A1DCC352337}" type="datetime1">
              <a:rPr lang="en-US" smtClean="0"/>
              <a:t>6/15/2020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4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017BA-2B6F-4356-BA1E-1030289959B5}" type="datetime1">
              <a:rPr lang="en-US" smtClean="0"/>
              <a:t>6/15/2020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59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21E0-D61A-4584-95FC-5EEEAD2BF0E3}" type="datetime1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67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CC52-05E0-4588-AED3-AE6C38827EE3}" type="datetime1">
              <a:rPr lang="en-US" smtClean="0"/>
              <a:t>6/15/2020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5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BACB-C37A-4C31-823C-D17ABEFE40B3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5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D550-C929-4905-841B-AB26D94EF114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25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5D58C-1CF9-4FB5-8A78-B17E500473D6}" type="datetime1">
              <a:rPr lang="en-US" smtClean="0"/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©2016 Assessments 24X7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9512D-810D-489D-B4F3-0792CA04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6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969" y="1724819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Motivators</a:t>
            </a:r>
            <a:br>
              <a:rPr lang="en-US" dirty="0"/>
            </a:br>
            <a:r>
              <a:rPr lang="en-US" sz="4800" i="1" dirty="0"/>
              <a:t>Strengths and Limitations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l="11378" t="12097" r="71795" b="47833"/>
          <a:stretch/>
        </p:blipFill>
        <p:spPr bwMode="auto">
          <a:xfrm>
            <a:off x="6512994" y="43974"/>
            <a:ext cx="5695950" cy="28746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8465128" y="6542750"/>
            <a:ext cx="4114800" cy="365125"/>
          </a:xfrm>
        </p:spPr>
        <p:txBody>
          <a:bodyPr/>
          <a:lstStyle/>
          <a:p>
            <a:r>
              <a:rPr lang="en-US" dirty="0"/>
              <a:t>©2016 Assessments 24X7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9165994" y="5793264"/>
            <a:ext cx="2571750" cy="80073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300" b="1" i="1">
                <a:effectLst/>
                <a:latin typeface="Calibri" panose="020F0502020204030204" pitchFamily="34" charset="0"/>
                <a:ea typeface="MS Mincho"/>
                <a:cs typeface="Times New Roman" panose="02020603050405020304" pitchFamily="18" charset="0"/>
              </a:rPr>
              <a:t>In partnership with</a:t>
            </a:r>
            <a:br>
              <a:rPr lang="en-US" sz="1300" b="1" i="1">
                <a:effectLst/>
                <a:latin typeface="Calibri" panose="020F0502020204030204" pitchFamily="34" charset="0"/>
                <a:ea typeface="MS Mincho"/>
                <a:cs typeface="Times New Roman" panose="02020603050405020304" pitchFamily="18" charset="0"/>
              </a:rPr>
            </a:br>
            <a:r>
              <a:rPr lang="en-US" sz="1300" b="1" i="1">
                <a:effectLst/>
                <a:latin typeface="Calibri" panose="020F0502020204030204" pitchFamily="34" charset="0"/>
                <a:ea typeface="MS Mincho"/>
                <a:cs typeface="Times New Roman" panose="02020603050405020304" pitchFamily="18" charset="0"/>
              </a:rPr>
              <a:t>BehavioralResourceGroup.com</a:t>
            </a:r>
            <a:br>
              <a:rPr lang="en-US" sz="1100" i="1">
                <a:effectLst/>
                <a:latin typeface="Calibri" panose="020F0502020204030204" pitchFamily="34" charset="0"/>
                <a:ea typeface="MS Mincho"/>
                <a:cs typeface="Times New Roman" panose="02020603050405020304" pitchFamily="18" charset="0"/>
              </a:rPr>
            </a:br>
            <a:r>
              <a:rPr lang="en-US" sz="1100" i="1">
                <a:effectLst/>
                <a:latin typeface="Calibri" panose="020F0502020204030204" pitchFamily="34" charset="0"/>
                <a:ea typeface="MS Mincho"/>
                <a:cs typeface="Times New Roman" panose="02020603050405020304" pitchFamily="18" charset="0"/>
              </a:rPr>
              <a:t>leaders in people intelligence</a:t>
            </a:r>
            <a:endParaRPr lang="en-US" sz="1100">
              <a:effectLst/>
              <a:latin typeface="Calibri" panose="020F0502020204030204" pitchFamily="34" charset="0"/>
              <a:ea typeface="MS Mincho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520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Passion Palette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2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10611" t="38452" r="75707" b="25597"/>
          <a:stretch/>
        </p:blipFill>
        <p:spPr>
          <a:xfrm>
            <a:off x="1780439" y="1414732"/>
            <a:ext cx="8631121" cy="49416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38354F-D511-4796-9EE9-B9191547ABF1}"/>
              </a:ext>
            </a:extLst>
          </p:cNvPr>
          <p:cNvSpPr txBox="1"/>
          <p:nvPr/>
        </p:nvSpPr>
        <p:spPr>
          <a:xfrm>
            <a:off x="5453731" y="5550794"/>
            <a:ext cx="68687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3E3637"/>
                </a:solidFill>
                <a:latin typeface="Arial Narrow" panose="020B0606020202030204" pitchFamily="34" charset="0"/>
              </a:rPr>
              <a:t>POW</a:t>
            </a:r>
          </a:p>
        </p:txBody>
      </p:sp>
    </p:spTree>
    <p:extLst>
      <p:ext uri="{BB962C8B-B14F-4D97-AF65-F5344CB8AC3E}">
        <p14:creationId xmlns:p14="http://schemas.microsoft.com/office/powerpoint/2010/main" val="227387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Describe the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Using your assigned Dimension, create a list of characteristics for high scores and low scores in that area. </a:t>
            </a:r>
          </a:p>
          <a:p>
            <a:endParaRPr lang="en-US" sz="3600" dirty="0"/>
          </a:p>
          <a:p>
            <a:r>
              <a:rPr lang="en-US" sz="3600" dirty="0"/>
              <a:t>Identify 2 potential strengths and 2 potential limitations for high and low scores.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©2016 Assessments 24X7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9512D-810D-489D-B4F3-0792CA04F5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9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2703513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19" name="Text Box 34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19325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19325" y="3848101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722563" y="131445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23" name="Text Box 10"/>
          <p:cNvSpPr txBox="1">
            <a:spLocks noChangeArrowheads="1"/>
          </p:cNvSpPr>
          <p:nvPr/>
        </p:nvSpPr>
        <p:spPr bwMode="auto">
          <a:xfrm>
            <a:off x="6446838" y="131445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24" name="Text Box 21"/>
          <p:cNvSpPr txBox="1">
            <a:spLocks noChangeArrowheads="1"/>
          </p:cNvSpPr>
          <p:nvPr/>
        </p:nvSpPr>
        <p:spPr bwMode="auto">
          <a:xfrm>
            <a:off x="2667000" y="2047991"/>
            <a:ext cx="32004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Expression of creativity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Appreciation of environment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Values personal fulfillment and peace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Intuitive insight</a:t>
            </a:r>
          </a:p>
        </p:txBody>
      </p:sp>
      <p:sp>
        <p:nvSpPr>
          <p:cNvPr id="9225" name="Text Box 22"/>
          <p:cNvSpPr txBox="1">
            <a:spLocks noChangeArrowheads="1"/>
          </p:cNvSpPr>
          <p:nvPr/>
        </p:nvSpPr>
        <p:spPr bwMode="auto">
          <a:xfrm>
            <a:off x="6115050" y="2019301"/>
            <a:ext cx="37338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have head in clouds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Avoid disharmony and pain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Can be unrealistic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Struggle with practicality</a:t>
            </a:r>
          </a:p>
        </p:txBody>
      </p:sp>
      <p:sp>
        <p:nvSpPr>
          <p:cNvPr id="39" name="Round Same Side Corner Rectangle 38"/>
          <p:cNvSpPr/>
          <p:nvPr/>
        </p:nvSpPr>
        <p:spPr bwMode="auto">
          <a:xfrm>
            <a:off x="2667000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2D05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40" name="Round Same Side Corner Rectangle 39"/>
          <p:cNvSpPr/>
          <p:nvPr/>
        </p:nvSpPr>
        <p:spPr bwMode="auto">
          <a:xfrm>
            <a:off x="6334125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2D05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9228" name="Rounded Rectangle 144"/>
          <p:cNvSpPr>
            <a:spLocks noChangeArrowheads="1"/>
          </p:cNvSpPr>
          <p:nvPr/>
        </p:nvSpPr>
        <p:spPr bwMode="auto">
          <a:xfrm>
            <a:off x="2667000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9229" name="Rounded Rectangle 144"/>
          <p:cNvSpPr>
            <a:spLocks noChangeArrowheads="1"/>
          </p:cNvSpPr>
          <p:nvPr/>
        </p:nvSpPr>
        <p:spPr bwMode="auto">
          <a:xfrm>
            <a:off x="6334125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9230" name="Straight Connector 41"/>
          <p:cNvCxnSpPr>
            <a:cxnSpLocks noChangeShapeType="1"/>
          </p:cNvCxnSpPr>
          <p:nvPr/>
        </p:nvCxnSpPr>
        <p:spPr bwMode="auto">
          <a:xfrm>
            <a:off x="2686050" y="190500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1" name="Straight Connector 42"/>
          <p:cNvCxnSpPr>
            <a:cxnSpLocks noChangeShapeType="1"/>
          </p:cNvCxnSpPr>
          <p:nvPr/>
        </p:nvCxnSpPr>
        <p:spPr bwMode="auto">
          <a:xfrm>
            <a:off x="6343650" y="190500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4591051" y="84613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92D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Aesthetic - High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2747962" y="4449764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28" name="Text Box 6"/>
          <p:cNvSpPr txBox="1">
            <a:spLocks noChangeArrowheads="1"/>
          </p:cNvSpPr>
          <p:nvPr/>
        </p:nvSpPr>
        <p:spPr bwMode="auto">
          <a:xfrm>
            <a:off x="2767012" y="4316414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29" name="Text Box 10"/>
          <p:cNvSpPr txBox="1">
            <a:spLocks noChangeArrowheads="1"/>
          </p:cNvSpPr>
          <p:nvPr/>
        </p:nvSpPr>
        <p:spPr bwMode="auto">
          <a:xfrm>
            <a:off x="6491287" y="4316414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2711449" y="5016172"/>
            <a:ext cx="32004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Practical results focus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Less emotional, straightforward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Values Functionality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No need for frill and enhancement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6159499" y="5021264"/>
            <a:ext cx="37338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seem impersonal, too businesslike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put too much focus on results 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unimaginative, resist the uncommon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Hyper aware of “wasting time”</a:t>
            </a:r>
          </a:p>
        </p:txBody>
      </p:sp>
      <p:sp>
        <p:nvSpPr>
          <p:cNvPr id="34" name="Round Same Side Corner Rectangle 33"/>
          <p:cNvSpPr/>
          <p:nvPr/>
        </p:nvSpPr>
        <p:spPr bwMode="auto">
          <a:xfrm>
            <a:off x="2711449" y="4535489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2D05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35" name="Round Same Side Corner Rectangle 34"/>
          <p:cNvSpPr/>
          <p:nvPr/>
        </p:nvSpPr>
        <p:spPr bwMode="auto">
          <a:xfrm>
            <a:off x="6378574" y="4535489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2D05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6" name="Rounded Rectangle 144"/>
          <p:cNvSpPr>
            <a:spLocks noChangeArrowheads="1"/>
          </p:cNvSpPr>
          <p:nvPr/>
        </p:nvSpPr>
        <p:spPr bwMode="auto">
          <a:xfrm>
            <a:off x="2711449" y="4525963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37" name="Rounded Rectangle 144"/>
          <p:cNvSpPr>
            <a:spLocks noChangeArrowheads="1"/>
          </p:cNvSpPr>
          <p:nvPr/>
        </p:nvSpPr>
        <p:spPr bwMode="auto">
          <a:xfrm>
            <a:off x="6378574" y="4525963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38" name="Straight Connector 41"/>
          <p:cNvCxnSpPr>
            <a:cxnSpLocks noChangeShapeType="1"/>
          </p:cNvCxnSpPr>
          <p:nvPr/>
        </p:nvCxnSpPr>
        <p:spPr bwMode="auto">
          <a:xfrm>
            <a:off x="2730499" y="4906963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Connector 42"/>
          <p:cNvCxnSpPr>
            <a:cxnSpLocks noChangeShapeType="1"/>
          </p:cNvCxnSpPr>
          <p:nvPr/>
        </p:nvCxnSpPr>
        <p:spPr bwMode="auto">
          <a:xfrm>
            <a:off x="6388099" y="4906963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4635500" y="3848101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92D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Aesthetic - Low</a:t>
            </a:r>
          </a:p>
        </p:txBody>
      </p:sp>
    </p:spTree>
    <p:extLst>
      <p:ext uri="{BB962C8B-B14F-4D97-AF65-F5344CB8AC3E}">
        <p14:creationId xmlns:p14="http://schemas.microsoft.com/office/powerpoint/2010/main" val="131722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0" grpId="0"/>
      <p:bldP spid="33" grpId="0"/>
      <p:bldP spid="34" grpId="0" animBg="1"/>
      <p:bldP spid="35" grpId="0" animBg="1"/>
      <p:bldP spid="36" grpId="0" animBg="1"/>
      <p:bldP spid="37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2703513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19" name="Text Box 34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19325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28850" y="3741738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2722563" y="131445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23" name="Text Box 10"/>
          <p:cNvSpPr txBox="1">
            <a:spLocks noChangeArrowheads="1"/>
          </p:cNvSpPr>
          <p:nvPr/>
        </p:nvSpPr>
        <p:spPr bwMode="auto">
          <a:xfrm>
            <a:off x="6446838" y="131445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9224" name="Text Box 21"/>
          <p:cNvSpPr txBox="1">
            <a:spLocks noChangeArrowheads="1"/>
          </p:cNvSpPr>
          <p:nvPr/>
        </p:nvSpPr>
        <p:spPr bwMode="auto">
          <a:xfrm>
            <a:off x="2703513" y="2093913"/>
            <a:ext cx="32004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Focus on achievement and winning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Driven by competition, challenges, money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Efficient, no nonsense, value time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Ultimate outcome or results oriented</a:t>
            </a:r>
          </a:p>
        </p:txBody>
      </p:sp>
      <p:sp>
        <p:nvSpPr>
          <p:cNvPr id="9225" name="Text Box 22"/>
          <p:cNvSpPr txBox="1">
            <a:spLocks noChangeArrowheads="1"/>
          </p:cNvSpPr>
          <p:nvPr/>
        </p:nvSpPr>
        <p:spPr bwMode="auto">
          <a:xfrm>
            <a:off x="6067425" y="2104070"/>
            <a:ext cx="37338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Potential workaholic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Lack of concern for others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Can be too financially motivated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Always expects something in return</a:t>
            </a:r>
          </a:p>
        </p:txBody>
      </p:sp>
      <p:sp>
        <p:nvSpPr>
          <p:cNvPr id="39" name="Round Same Side Corner Rectangle 38"/>
          <p:cNvSpPr/>
          <p:nvPr/>
        </p:nvSpPr>
        <p:spPr bwMode="auto">
          <a:xfrm>
            <a:off x="2667000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0000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40" name="Round Same Side Corner Rectangle 39"/>
          <p:cNvSpPr/>
          <p:nvPr/>
        </p:nvSpPr>
        <p:spPr bwMode="auto">
          <a:xfrm>
            <a:off x="6334125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0000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9228" name="Rounded Rectangle 144"/>
          <p:cNvSpPr>
            <a:spLocks noChangeArrowheads="1"/>
          </p:cNvSpPr>
          <p:nvPr/>
        </p:nvSpPr>
        <p:spPr bwMode="auto">
          <a:xfrm>
            <a:off x="2667000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9229" name="Rounded Rectangle 144"/>
          <p:cNvSpPr>
            <a:spLocks noChangeArrowheads="1"/>
          </p:cNvSpPr>
          <p:nvPr/>
        </p:nvSpPr>
        <p:spPr bwMode="auto">
          <a:xfrm>
            <a:off x="6334125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9230" name="Straight Connector 41"/>
          <p:cNvCxnSpPr>
            <a:cxnSpLocks noChangeShapeType="1"/>
          </p:cNvCxnSpPr>
          <p:nvPr/>
        </p:nvCxnSpPr>
        <p:spPr bwMode="auto">
          <a:xfrm>
            <a:off x="2686050" y="190500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1" name="Straight Connector 42"/>
          <p:cNvCxnSpPr>
            <a:cxnSpLocks noChangeShapeType="1"/>
          </p:cNvCxnSpPr>
          <p:nvPr/>
        </p:nvCxnSpPr>
        <p:spPr bwMode="auto">
          <a:xfrm>
            <a:off x="6343650" y="190500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4591051" y="84613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Economic - High</a:t>
            </a:r>
          </a:p>
        </p:txBody>
      </p:sp>
      <p:sp>
        <p:nvSpPr>
          <p:cNvPr id="48" name="Text Box 4"/>
          <p:cNvSpPr txBox="1">
            <a:spLocks noChangeArrowheads="1"/>
          </p:cNvSpPr>
          <p:nvPr/>
        </p:nvSpPr>
        <p:spPr bwMode="auto">
          <a:xfrm>
            <a:off x="4503738" y="3836988"/>
            <a:ext cx="305276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Economic - Low</a:t>
            </a:r>
          </a:p>
        </p:txBody>
      </p:sp>
      <p:sp>
        <p:nvSpPr>
          <p:cNvPr id="49" name="Round Same Side Corner Rectangle 48"/>
          <p:cNvSpPr/>
          <p:nvPr/>
        </p:nvSpPr>
        <p:spPr bwMode="auto">
          <a:xfrm>
            <a:off x="6334125" y="45434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0000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50" name="Round Same Side Corner Rectangle 49"/>
          <p:cNvSpPr/>
          <p:nvPr/>
        </p:nvSpPr>
        <p:spPr bwMode="auto">
          <a:xfrm>
            <a:off x="2667000" y="45434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0000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14362" name="Text Box 23"/>
          <p:cNvSpPr txBox="1">
            <a:spLocks noChangeArrowheads="1"/>
          </p:cNvSpPr>
          <p:nvPr/>
        </p:nvSpPr>
        <p:spPr bwMode="auto">
          <a:xfrm>
            <a:off x="2722563" y="5049839"/>
            <a:ext cx="28575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Focused on others, less on self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Sensitive to others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Values personal contribution over gain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Quality-oriented</a:t>
            </a:r>
          </a:p>
        </p:txBody>
      </p:sp>
      <p:sp>
        <p:nvSpPr>
          <p:cNvPr id="52" name="Text Box 24"/>
          <p:cNvSpPr txBox="1">
            <a:spLocks noChangeArrowheads="1"/>
          </p:cNvSpPr>
          <p:nvPr/>
        </p:nvSpPr>
        <p:spPr bwMode="auto">
          <a:xfrm>
            <a:off x="6288088" y="5049839"/>
            <a:ext cx="3246437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Avoids conflict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High concern for others, overlooks self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Undervalues self 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Tends to overcommit</a:t>
            </a:r>
          </a:p>
        </p:txBody>
      </p:sp>
      <p:sp>
        <p:nvSpPr>
          <p:cNvPr id="14364" name="Rounded Rectangle 144"/>
          <p:cNvSpPr>
            <a:spLocks noChangeArrowheads="1"/>
          </p:cNvSpPr>
          <p:nvPr/>
        </p:nvSpPr>
        <p:spPr bwMode="auto">
          <a:xfrm>
            <a:off x="2667000" y="45339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4365" name="Rounded Rectangle 144"/>
          <p:cNvSpPr>
            <a:spLocks noChangeArrowheads="1"/>
          </p:cNvSpPr>
          <p:nvPr/>
        </p:nvSpPr>
        <p:spPr bwMode="auto">
          <a:xfrm>
            <a:off x="6334125" y="45339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14366" name="Straight Connector 48"/>
          <p:cNvCxnSpPr>
            <a:cxnSpLocks noChangeShapeType="1"/>
          </p:cNvCxnSpPr>
          <p:nvPr/>
        </p:nvCxnSpPr>
        <p:spPr bwMode="auto">
          <a:xfrm>
            <a:off x="2676525" y="49244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67" name="Straight Connector 49"/>
          <p:cNvCxnSpPr>
            <a:cxnSpLocks noChangeShapeType="1"/>
          </p:cNvCxnSpPr>
          <p:nvPr/>
        </p:nvCxnSpPr>
        <p:spPr bwMode="auto">
          <a:xfrm>
            <a:off x="6334125" y="49244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1010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8" grpId="0"/>
      <p:bldP spid="49" grpId="0" animBg="1"/>
      <p:bldP spid="50" grpId="0" animBg="1"/>
      <p:bldP spid="14362" grpId="0"/>
      <p:bldP spid="52" grpId="0"/>
      <p:bldP spid="14364" grpId="0" animBg="1"/>
      <p:bldP spid="143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6"/>
          <p:cNvSpPr txBox="1">
            <a:spLocks noChangeArrowheads="1"/>
          </p:cNvSpPr>
          <p:nvPr/>
        </p:nvSpPr>
        <p:spPr bwMode="auto">
          <a:xfrm>
            <a:off x="2703513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6427788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4" name="Text Box 31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28850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28850" y="3741738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4556126" y="84613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Individualistic - High</a:t>
            </a:r>
          </a:p>
        </p:txBody>
      </p:sp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2711451" y="1314451"/>
            <a:ext cx="194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9" name="Text Box 10"/>
          <p:cNvSpPr txBox="1">
            <a:spLocks noChangeArrowheads="1"/>
          </p:cNvSpPr>
          <p:nvPr/>
        </p:nvSpPr>
        <p:spPr bwMode="auto">
          <a:xfrm>
            <a:off x="6435726" y="1314451"/>
            <a:ext cx="194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50" name="Text Box 21"/>
          <p:cNvSpPr txBox="1">
            <a:spLocks noChangeArrowheads="1"/>
          </p:cNvSpPr>
          <p:nvPr/>
        </p:nvSpPr>
        <p:spPr bwMode="auto">
          <a:xfrm>
            <a:off x="2478392" y="2028070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Independent, Unique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Tolerant of others’</a:t>
            </a:r>
            <a:r>
              <a:rPr lang="en-US" altLang="ja-JP" sz="1200" b="0" dirty="0">
                <a:solidFill>
                  <a:srgbClr val="000000"/>
                </a:solidFill>
              </a:rPr>
              <a:t> differences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Autonomous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Variety of outstanding ideas</a:t>
            </a:r>
          </a:p>
        </p:txBody>
      </p:sp>
      <p:sp>
        <p:nvSpPr>
          <p:cNvPr id="10251" name="Text Box 22"/>
          <p:cNvSpPr txBox="1">
            <a:spLocks noChangeArrowheads="1"/>
          </p:cNvSpPr>
          <p:nvPr/>
        </p:nvSpPr>
        <p:spPr bwMode="auto">
          <a:xfrm>
            <a:off x="6151563" y="2072323"/>
            <a:ext cx="35433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Resists authority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Dislikes structure and uniformity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Likely to do things </a:t>
            </a:r>
            <a:r>
              <a:rPr lang="en-US" sz="1200" b="0" i="1" dirty="0">
                <a:solidFill>
                  <a:srgbClr val="000000"/>
                </a:solidFill>
              </a:rPr>
              <a:t>their</a:t>
            </a:r>
            <a:r>
              <a:rPr lang="en-US" sz="1200" b="0" dirty="0">
                <a:solidFill>
                  <a:srgbClr val="000000"/>
                </a:solidFill>
              </a:rPr>
              <a:t> way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inefficient or ineffective</a:t>
            </a:r>
          </a:p>
        </p:txBody>
      </p:sp>
      <p:sp>
        <p:nvSpPr>
          <p:cNvPr id="42" name="Round Same Side Corner Rectangle 41"/>
          <p:cNvSpPr/>
          <p:nvPr/>
        </p:nvSpPr>
        <p:spPr bwMode="auto">
          <a:xfrm>
            <a:off x="2655888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accent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43" name="Round Same Side Corner Rectangle 42"/>
          <p:cNvSpPr/>
          <p:nvPr/>
        </p:nvSpPr>
        <p:spPr bwMode="auto">
          <a:xfrm>
            <a:off x="6323013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accent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0254" name="Rounded Rectangle 144"/>
          <p:cNvSpPr>
            <a:spLocks noChangeArrowheads="1"/>
          </p:cNvSpPr>
          <p:nvPr/>
        </p:nvSpPr>
        <p:spPr bwMode="auto">
          <a:xfrm>
            <a:off x="2655888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0255" name="Rounded Rectangle 144"/>
          <p:cNvSpPr>
            <a:spLocks noChangeArrowheads="1"/>
          </p:cNvSpPr>
          <p:nvPr/>
        </p:nvSpPr>
        <p:spPr bwMode="auto">
          <a:xfrm>
            <a:off x="6323013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4502151" y="3857625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Individualistic - Low</a:t>
            </a:r>
          </a:p>
        </p:txBody>
      </p:sp>
      <p:sp>
        <p:nvSpPr>
          <p:cNvPr id="15383" name="Text Box 6"/>
          <p:cNvSpPr txBox="1">
            <a:spLocks noChangeArrowheads="1"/>
          </p:cNvSpPr>
          <p:nvPr/>
        </p:nvSpPr>
        <p:spPr bwMode="auto">
          <a:xfrm>
            <a:off x="2713038" y="4325939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5384" name="Text Box 10"/>
          <p:cNvSpPr txBox="1">
            <a:spLocks noChangeArrowheads="1"/>
          </p:cNvSpPr>
          <p:nvPr/>
        </p:nvSpPr>
        <p:spPr bwMode="auto">
          <a:xfrm>
            <a:off x="6437313" y="4325939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5385" name="Text Box 21"/>
          <p:cNvSpPr txBox="1">
            <a:spLocks noChangeArrowheads="1"/>
          </p:cNvSpPr>
          <p:nvPr/>
        </p:nvSpPr>
        <p:spPr bwMode="auto">
          <a:xfrm>
            <a:off x="2409825" y="5019421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Don’t need credit for work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 servant leadership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Good at helping others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Sees value in others easily</a:t>
            </a:r>
          </a:p>
        </p:txBody>
      </p:sp>
      <p:sp>
        <p:nvSpPr>
          <p:cNvPr id="50" name="Text Box 22"/>
          <p:cNvSpPr txBox="1">
            <a:spLocks noChangeArrowheads="1"/>
          </p:cNvSpPr>
          <p:nvPr/>
        </p:nvSpPr>
        <p:spPr bwMode="auto">
          <a:xfrm>
            <a:off x="6229350" y="5022484"/>
            <a:ext cx="35433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not speak up, share opinions openly 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settle for less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not desire being directive leader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less innovative, more disciplined</a:t>
            </a:r>
          </a:p>
        </p:txBody>
      </p:sp>
      <p:sp>
        <p:nvSpPr>
          <p:cNvPr id="51" name="Round Same Side Corner Rectangle 50"/>
          <p:cNvSpPr/>
          <p:nvPr/>
        </p:nvSpPr>
        <p:spPr bwMode="auto">
          <a:xfrm>
            <a:off x="2657475" y="4545014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accent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52" name="Round Same Side Corner Rectangle 51"/>
          <p:cNvSpPr/>
          <p:nvPr/>
        </p:nvSpPr>
        <p:spPr bwMode="auto">
          <a:xfrm>
            <a:off x="6324600" y="4545014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accent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5389" name="Rounded Rectangle 144"/>
          <p:cNvSpPr>
            <a:spLocks noChangeArrowheads="1"/>
          </p:cNvSpPr>
          <p:nvPr/>
        </p:nvSpPr>
        <p:spPr bwMode="auto">
          <a:xfrm>
            <a:off x="2657475" y="4535488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5390" name="Rounded Rectangle 144"/>
          <p:cNvSpPr>
            <a:spLocks noChangeArrowheads="1"/>
          </p:cNvSpPr>
          <p:nvPr/>
        </p:nvSpPr>
        <p:spPr bwMode="auto">
          <a:xfrm>
            <a:off x="6324600" y="4535488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49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6" grpId="0"/>
      <p:bldP spid="15383" grpId="0"/>
      <p:bldP spid="15384" grpId="0"/>
      <p:bldP spid="15385" grpId="0"/>
      <p:bldP spid="50" grpId="0"/>
      <p:bldP spid="51" grpId="0" animBg="1"/>
      <p:bldP spid="52" grpId="0" animBg="1"/>
      <p:bldP spid="15389" grpId="0" animBg="1"/>
      <p:bldP spid="1539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6"/>
          <p:cNvSpPr txBox="1">
            <a:spLocks noChangeArrowheads="1"/>
          </p:cNvSpPr>
          <p:nvPr/>
        </p:nvSpPr>
        <p:spPr bwMode="auto">
          <a:xfrm>
            <a:off x="2703513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6427788" y="14478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4" name="Text Box 31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28850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28850" y="3741738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4556126" y="84613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Power - High</a:t>
            </a:r>
          </a:p>
        </p:txBody>
      </p:sp>
      <p:sp>
        <p:nvSpPr>
          <p:cNvPr id="10248" name="Text Box 6"/>
          <p:cNvSpPr txBox="1">
            <a:spLocks noChangeArrowheads="1"/>
          </p:cNvSpPr>
          <p:nvPr/>
        </p:nvSpPr>
        <p:spPr bwMode="auto">
          <a:xfrm>
            <a:off x="2711451" y="1314451"/>
            <a:ext cx="194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49" name="Text Box 10"/>
          <p:cNvSpPr txBox="1">
            <a:spLocks noChangeArrowheads="1"/>
          </p:cNvSpPr>
          <p:nvPr/>
        </p:nvSpPr>
        <p:spPr bwMode="auto">
          <a:xfrm>
            <a:off x="6435726" y="1314451"/>
            <a:ext cx="19415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0250" name="Text Box 21"/>
          <p:cNvSpPr txBox="1">
            <a:spLocks noChangeArrowheads="1"/>
          </p:cNvSpPr>
          <p:nvPr/>
        </p:nvSpPr>
        <p:spPr bwMode="auto">
          <a:xfrm>
            <a:off x="2474914" y="1912938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Determined and competitive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Driven toward success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Good at leading others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Implement projects and plans</a:t>
            </a:r>
          </a:p>
        </p:txBody>
      </p:sp>
      <p:sp>
        <p:nvSpPr>
          <p:cNvPr id="10251" name="Text Box 22"/>
          <p:cNvSpPr txBox="1">
            <a:spLocks noChangeArrowheads="1"/>
          </p:cNvSpPr>
          <p:nvPr/>
        </p:nvSpPr>
        <p:spPr bwMode="auto">
          <a:xfrm>
            <a:off x="6161088" y="1909763"/>
            <a:ext cx="35433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Controlling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Use relationships to advance position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Appears selfish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Values self over others</a:t>
            </a:r>
          </a:p>
        </p:txBody>
      </p:sp>
      <p:sp>
        <p:nvSpPr>
          <p:cNvPr id="42" name="Round Same Side Corner Rectangle 41"/>
          <p:cNvSpPr/>
          <p:nvPr/>
        </p:nvSpPr>
        <p:spPr bwMode="auto">
          <a:xfrm>
            <a:off x="2655888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43" name="Round Same Side Corner Rectangle 42"/>
          <p:cNvSpPr/>
          <p:nvPr/>
        </p:nvSpPr>
        <p:spPr bwMode="auto">
          <a:xfrm>
            <a:off x="6323013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0254" name="Rounded Rectangle 144"/>
          <p:cNvSpPr>
            <a:spLocks noChangeArrowheads="1"/>
          </p:cNvSpPr>
          <p:nvPr/>
        </p:nvSpPr>
        <p:spPr bwMode="auto">
          <a:xfrm>
            <a:off x="2655888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0255" name="Rounded Rectangle 144"/>
          <p:cNvSpPr>
            <a:spLocks noChangeArrowheads="1"/>
          </p:cNvSpPr>
          <p:nvPr/>
        </p:nvSpPr>
        <p:spPr bwMode="auto">
          <a:xfrm>
            <a:off x="6323013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46" name="Text Box 4"/>
          <p:cNvSpPr txBox="1">
            <a:spLocks noChangeArrowheads="1"/>
          </p:cNvSpPr>
          <p:nvPr/>
        </p:nvSpPr>
        <p:spPr bwMode="auto">
          <a:xfrm>
            <a:off x="4502151" y="3857625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Power - Low</a:t>
            </a:r>
          </a:p>
        </p:txBody>
      </p:sp>
      <p:sp>
        <p:nvSpPr>
          <p:cNvPr id="15383" name="Text Box 6"/>
          <p:cNvSpPr txBox="1">
            <a:spLocks noChangeArrowheads="1"/>
          </p:cNvSpPr>
          <p:nvPr/>
        </p:nvSpPr>
        <p:spPr bwMode="auto">
          <a:xfrm>
            <a:off x="2713038" y="4325939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5384" name="Text Box 10"/>
          <p:cNvSpPr txBox="1">
            <a:spLocks noChangeArrowheads="1"/>
          </p:cNvSpPr>
          <p:nvPr/>
        </p:nvSpPr>
        <p:spPr bwMode="auto">
          <a:xfrm>
            <a:off x="6437313" y="4325939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5385" name="Text Box 21"/>
          <p:cNvSpPr txBox="1">
            <a:spLocks noChangeArrowheads="1"/>
          </p:cNvSpPr>
          <p:nvPr/>
        </p:nvSpPr>
        <p:spPr bwMode="auto">
          <a:xfrm>
            <a:off x="2476501" y="4924426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Mission-driven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Helper, doesn’t expect credit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Will notice/point out other’s efforts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Don’t need recognition and power</a:t>
            </a:r>
          </a:p>
        </p:txBody>
      </p:sp>
      <p:sp>
        <p:nvSpPr>
          <p:cNvPr id="50" name="Text Box 22"/>
          <p:cNvSpPr txBox="1">
            <a:spLocks noChangeArrowheads="1"/>
          </p:cNvSpPr>
          <p:nvPr/>
        </p:nvSpPr>
        <p:spPr bwMode="auto">
          <a:xfrm>
            <a:off x="6162675" y="4921251"/>
            <a:ext cx="35433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Want to avoid conflict, problems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settle for less, not fight for wants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not feel confident in own ideas/self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wait for opportunity, rather than seek it</a:t>
            </a:r>
          </a:p>
        </p:txBody>
      </p:sp>
      <p:sp>
        <p:nvSpPr>
          <p:cNvPr id="51" name="Round Same Side Corner Rectangle 50"/>
          <p:cNvSpPr/>
          <p:nvPr/>
        </p:nvSpPr>
        <p:spPr bwMode="auto">
          <a:xfrm>
            <a:off x="2657475" y="4545014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52" name="Round Same Side Corner Rectangle 51"/>
          <p:cNvSpPr/>
          <p:nvPr/>
        </p:nvSpPr>
        <p:spPr bwMode="auto">
          <a:xfrm>
            <a:off x="6324600" y="4545014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00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5389" name="Rounded Rectangle 144"/>
          <p:cNvSpPr>
            <a:spLocks noChangeArrowheads="1"/>
          </p:cNvSpPr>
          <p:nvPr/>
        </p:nvSpPr>
        <p:spPr bwMode="auto">
          <a:xfrm>
            <a:off x="2657475" y="4535488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5390" name="Rounded Rectangle 144"/>
          <p:cNvSpPr>
            <a:spLocks noChangeArrowheads="1"/>
          </p:cNvSpPr>
          <p:nvPr/>
        </p:nvSpPr>
        <p:spPr bwMode="auto">
          <a:xfrm>
            <a:off x="6324600" y="4535488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68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6" grpId="0"/>
      <p:bldP spid="15383" grpId="0"/>
      <p:bldP spid="15384" grpId="0"/>
      <p:bldP spid="15385" grpId="0"/>
      <p:bldP spid="50" grpId="0"/>
      <p:bldP spid="51" grpId="0" animBg="1"/>
      <p:bldP spid="52" grpId="0" animBg="1"/>
      <p:bldP spid="15389" grpId="0" animBg="1"/>
      <p:bldP spid="1539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1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28850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28850" y="3741738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4529138" y="846138"/>
            <a:ext cx="305276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Altruistic - High</a:t>
            </a:r>
          </a:p>
        </p:txBody>
      </p:sp>
      <p:sp>
        <p:nvSpPr>
          <p:cNvPr id="11270" name="Text Box 23"/>
          <p:cNvSpPr txBox="1">
            <a:spLocks noChangeArrowheads="1"/>
          </p:cNvSpPr>
          <p:nvPr/>
        </p:nvSpPr>
        <p:spPr bwMode="auto">
          <a:xfrm>
            <a:off x="2459037" y="2008097"/>
            <a:ext cx="3571875" cy="11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Generous with time and resources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Focusing on others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Selfless support of causes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Genuine concern for others</a:t>
            </a:r>
          </a:p>
        </p:txBody>
      </p:sp>
      <p:sp>
        <p:nvSpPr>
          <p:cNvPr id="11271" name="Text Box 24"/>
          <p:cNvSpPr txBox="1">
            <a:spLocks noChangeArrowheads="1"/>
          </p:cNvSpPr>
          <p:nvPr/>
        </p:nvSpPr>
        <p:spPr bwMode="auto">
          <a:xfrm>
            <a:off x="6030912" y="2058138"/>
            <a:ext cx="3733800" cy="11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Values others over self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Impractical with own resources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Hard to say no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taken advantage of</a:t>
            </a:r>
          </a:p>
        </p:txBody>
      </p:sp>
      <p:sp>
        <p:nvSpPr>
          <p:cNvPr id="34" name="Round Same Side Corner Rectangle 33"/>
          <p:cNvSpPr/>
          <p:nvPr/>
        </p:nvSpPr>
        <p:spPr bwMode="auto">
          <a:xfrm>
            <a:off x="6316663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/>
              <a:t>Limitations</a:t>
            </a:r>
          </a:p>
        </p:txBody>
      </p:sp>
      <p:sp>
        <p:nvSpPr>
          <p:cNvPr id="35" name="Round Same Side Corner Rectangle 34"/>
          <p:cNvSpPr/>
          <p:nvPr/>
        </p:nvSpPr>
        <p:spPr bwMode="auto">
          <a:xfrm>
            <a:off x="2649538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/>
              <a:t>Strengths</a:t>
            </a:r>
          </a:p>
        </p:txBody>
      </p:sp>
      <p:sp>
        <p:nvSpPr>
          <p:cNvPr id="11274" name="Rounded Rectangle 144"/>
          <p:cNvSpPr>
            <a:spLocks noChangeArrowheads="1"/>
          </p:cNvSpPr>
          <p:nvPr/>
        </p:nvSpPr>
        <p:spPr bwMode="auto">
          <a:xfrm>
            <a:off x="2649538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1275" name="Rounded Rectangle 144"/>
          <p:cNvSpPr>
            <a:spLocks noChangeArrowheads="1"/>
          </p:cNvSpPr>
          <p:nvPr/>
        </p:nvSpPr>
        <p:spPr bwMode="auto">
          <a:xfrm>
            <a:off x="6316663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11276" name="Straight Connector 43"/>
          <p:cNvCxnSpPr>
            <a:cxnSpLocks noChangeShapeType="1"/>
          </p:cNvCxnSpPr>
          <p:nvPr/>
        </p:nvCxnSpPr>
        <p:spPr bwMode="auto">
          <a:xfrm>
            <a:off x="2659063" y="19145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Straight Connector 44"/>
          <p:cNvCxnSpPr>
            <a:cxnSpLocks noChangeShapeType="1"/>
          </p:cNvCxnSpPr>
          <p:nvPr/>
        </p:nvCxnSpPr>
        <p:spPr bwMode="auto">
          <a:xfrm>
            <a:off x="6316663" y="19145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4532313" y="3827463"/>
            <a:ext cx="305276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ln>
                  <a:solidFill>
                    <a:srgbClr val="FFC000"/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Altruistic- Low</a:t>
            </a:r>
          </a:p>
        </p:txBody>
      </p:sp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2459038" y="4976301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Can make hard people decisions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Can separate emotions from actions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Face difficult decisions head on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Difficult to take advantage of </a:t>
            </a:r>
          </a:p>
        </p:txBody>
      </p:sp>
      <p:sp>
        <p:nvSpPr>
          <p:cNvPr id="46" name="Text Box 24"/>
          <p:cNvSpPr txBox="1">
            <a:spLocks noChangeArrowheads="1"/>
          </p:cNvSpPr>
          <p:nvPr/>
        </p:nvSpPr>
        <p:spPr bwMode="auto">
          <a:xfrm>
            <a:off x="6316663" y="4976300"/>
            <a:ext cx="316865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forget that helping others helps self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appear selfish and self-absorbed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seem closed off and reserved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have little patience</a:t>
            </a:r>
          </a:p>
        </p:txBody>
      </p:sp>
      <p:sp>
        <p:nvSpPr>
          <p:cNvPr id="47" name="Round Same Side Corner Rectangle 46"/>
          <p:cNvSpPr/>
          <p:nvPr/>
        </p:nvSpPr>
        <p:spPr bwMode="auto">
          <a:xfrm>
            <a:off x="6316663" y="4514851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/>
              <a:t>Limitations</a:t>
            </a:r>
          </a:p>
        </p:txBody>
      </p:sp>
      <p:sp>
        <p:nvSpPr>
          <p:cNvPr id="48" name="Round Same Side Corner Rectangle 47"/>
          <p:cNvSpPr/>
          <p:nvPr/>
        </p:nvSpPr>
        <p:spPr bwMode="auto">
          <a:xfrm>
            <a:off x="2649538" y="4514851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FFFF00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/>
              <a:t>Strengths</a:t>
            </a:r>
          </a:p>
        </p:txBody>
      </p:sp>
      <p:sp>
        <p:nvSpPr>
          <p:cNvPr id="16409" name="Rounded Rectangle 144"/>
          <p:cNvSpPr>
            <a:spLocks noChangeArrowheads="1"/>
          </p:cNvSpPr>
          <p:nvPr/>
        </p:nvSpPr>
        <p:spPr bwMode="auto">
          <a:xfrm>
            <a:off x="2649538" y="4505325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6410" name="Rounded Rectangle 144"/>
          <p:cNvSpPr>
            <a:spLocks noChangeArrowheads="1"/>
          </p:cNvSpPr>
          <p:nvPr/>
        </p:nvSpPr>
        <p:spPr bwMode="auto">
          <a:xfrm>
            <a:off x="6316663" y="4505325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92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4" grpId="0"/>
      <p:bldP spid="16405" grpId="0"/>
      <p:bldP spid="46" grpId="0"/>
      <p:bldP spid="47" grpId="0" animBg="1"/>
      <p:bldP spid="48" grpId="0" animBg="1"/>
      <p:bldP spid="16409" grpId="0" animBg="1"/>
      <p:bldP spid="164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1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28850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32" name="Rectangle 3"/>
          <p:cNvSpPr>
            <a:spLocks noChangeArrowheads="1"/>
          </p:cNvSpPr>
          <p:nvPr/>
        </p:nvSpPr>
        <p:spPr bwMode="auto">
          <a:xfrm>
            <a:off x="2228850" y="3741738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4529138" y="846138"/>
            <a:ext cx="305276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Regulatory - High</a:t>
            </a:r>
          </a:p>
        </p:txBody>
      </p:sp>
      <p:sp>
        <p:nvSpPr>
          <p:cNvPr id="11270" name="Text Box 23"/>
          <p:cNvSpPr txBox="1">
            <a:spLocks noChangeArrowheads="1"/>
          </p:cNvSpPr>
          <p:nvPr/>
        </p:nvSpPr>
        <p:spPr bwMode="auto">
          <a:xfrm>
            <a:off x="2459039" y="2041176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Structured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Follows rules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Lives by set of principles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Works for a cause</a:t>
            </a:r>
          </a:p>
        </p:txBody>
      </p:sp>
      <p:sp>
        <p:nvSpPr>
          <p:cNvPr id="11271" name="Text Box 24"/>
          <p:cNvSpPr txBox="1">
            <a:spLocks noChangeArrowheads="1"/>
          </p:cNvSpPr>
          <p:nvPr/>
        </p:nvSpPr>
        <p:spPr bwMode="auto">
          <a:xfrm>
            <a:off x="6040438" y="2041176"/>
            <a:ext cx="3733800" cy="11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unreceptive to new  ideas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Sacrifices self for beliefs or cause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break rules and justify it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Judgmental towards other viewpoints</a:t>
            </a:r>
          </a:p>
        </p:txBody>
      </p:sp>
      <p:sp>
        <p:nvSpPr>
          <p:cNvPr id="34" name="Round Same Side Corner Rectangle 33"/>
          <p:cNvSpPr/>
          <p:nvPr/>
        </p:nvSpPr>
        <p:spPr bwMode="auto">
          <a:xfrm>
            <a:off x="6316663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tx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35" name="Round Same Side Corner Rectangle 34"/>
          <p:cNvSpPr/>
          <p:nvPr/>
        </p:nvSpPr>
        <p:spPr bwMode="auto">
          <a:xfrm>
            <a:off x="2649538" y="153352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tx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11274" name="Rounded Rectangle 144"/>
          <p:cNvSpPr>
            <a:spLocks noChangeArrowheads="1"/>
          </p:cNvSpPr>
          <p:nvPr/>
        </p:nvSpPr>
        <p:spPr bwMode="auto">
          <a:xfrm>
            <a:off x="2649538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1275" name="Rounded Rectangle 144"/>
          <p:cNvSpPr>
            <a:spLocks noChangeArrowheads="1"/>
          </p:cNvSpPr>
          <p:nvPr/>
        </p:nvSpPr>
        <p:spPr bwMode="auto">
          <a:xfrm>
            <a:off x="6316663" y="152400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11276" name="Straight Connector 43"/>
          <p:cNvCxnSpPr>
            <a:cxnSpLocks noChangeShapeType="1"/>
          </p:cNvCxnSpPr>
          <p:nvPr/>
        </p:nvCxnSpPr>
        <p:spPr bwMode="auto">
          <a:xfrm>
            <a:off x="2659063" y="19145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Straight Connector 44"/>
          <p:cNvCxnSpPr>
            <a:cxnSpLocks noChangeShapeType="1"/>
          </p:cNvCxnSpPr>
          <p:nvPr/>
        </p:nvCxnSpPr>
        <p:spPr bwMode="auto">
          <a:xfrm>
            <a:off x="6316663" y="1914525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4532313" y="3827463"/>
            <a:ext cx="3052762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Regulatory - Low</a:t>
            </a:r>
          </a:p>
        </p:txBody>
      </p:sp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2447926" y="5022501"/>
            <a:ext cx="3571875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Many ways to get the job done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Will always have an opinion and like to share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Mistakes are part of learning and normal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Very adaptable, open to change</a:t>
            </a:r>
          </a:p>
        </p:txBody>
      </p:sp>
      <p:sp>
        <p:nvSpPr>
          <p:cNvPr id="46" name="Text Box 24"/>
          <p:cNvSpPr txBox="1">
            <a:spLocks noChangeArrowheads="1"/>
          </p:cNvSpPr>
          <p:nvPr/>
        </p:nvSpPr>
        <p:spPr bwMode="auto">
          <a:xfrm>
            <a:off x="6318250" y="5057425"/>
            <a:ext cx="316865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not be patient or respect differences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be risky and innovative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break rules and justify it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disregard procedures and systems</a:t>
            </a:r>
          </a:p>
        </p:txBody>
      </p:sp>
      <p:sp>
        <p:nvSpPr>
          <p:cNvPr id="47" name="Round Same Side Corner Rectangle 46"/>
          <p:cNvSpPr/>
          <p:nvPr/>
        </p:nvSpPr>
        <p:spPr bwMode="auto">
          <a:xfrm>
            <a:off x="6316663" y="4514851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tx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8" name="Round Same Side Corner Rectangle 47"/>
          <p:cNvSpPr/>
          <p:nvPr/>
        </p:nvSpPr>
        <p:spPr bwMode="auto">
          <a:xfrm>
            <a:off x="2659063" y="4505325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chemeClr val="tx1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16409" name="Rounded Rectangle 144"/>
          <p:cNvSpPr>
            <a:spLocks noChangeArrowheads="1"/>
          </p:cNvSpPr>
          <p:nvPr/>
        </p:nvSpPr>
        <p:spPr bwMode="auto">
          <a:xfrm>
            <a:off x="2649538" y="4505325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6410" name="Rounded Rectangle 144"/>
          <p:cNvSpPr>
            <a:spLocks noChangeArrowheads="1"/>
          </p:cNvSpPr>
          <p:nvPr/>
        </p:nvSpPr>
        <p:spPr bwMode="auto">
          <a:xfrm>
            <a:off x="6316663" y="4505325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1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4" grpId="0"/>
      <p:bldP spid="16405" grpId="0"/>
      <p:bldP spid="46" grpId="0"/>
      <p:bldP spid="47" grpId="0" animBg="1"/>
      <p:bldP spid="48" grpId="0" animBg="1"/>
      <p:bldP spid="16409" grpId="0" animBg="1"/>
      <p:bldP spid="164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31"/>
          <p:cNvSpPr txBox="1">
            <a:spLocks noChangeArrowheads="1"/>
          </p:cNvSpPr>
          <p:nvPr/>
        </p:nvSpPr>
        <p:spPr bwMode="auto">
          <a:xfrm>
            <a:off x="2168526" y="114301"/>
            <a:ext cx="48863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sz="3000">
                <a:solidFill>
                  <a:srgbClr val="808080"/>
                </a:solidFill>
              </a:rPr>
              <a:t>Strengths and Limitations</a:t>
            </a: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2228850" y="74295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4549776" y="84613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9966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Theoretical - High</a:t>
            </a:r>
          </a:p>
        </p:txBody>
      </p:sp>
      <p:sp>
        <p:nvSpPr>
          <p:cNvPr id="28" name="Round Same Side Corner Rectangle 27"/>
          <p:cNvSpPr/>
          <p:nvPr/>
        </p:nvSpPr>
        <p:spPr bwMode="auto">
          <a:xfrm>
            <a:off x="2667000" y="159067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9663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39" name="Round Same Side Corner Rectangle 38"/>
          <p:cNvSpPr/>
          <p:nvPr/>
        </p:nvSpPr>
        <p:spPr bwMode="auto">
          <a:xfrm>
            <a:off x="6334125" y="159067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9663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2295" name="Text Box 6"/>
          <p:cNvSpPr txBox="1">
            <a:spLocks noChangeArrowheads="1"/>
          </p:cNvSpPr>
          <p:nvPr/>
        </p:nvSpPr>
        <p:spPr bwMode="auto">
          <a:xfrm>
            <a:off x="2722563" y="137160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2296" name="Text Box 14"/>
          <p:cNvSpPr txBox="1">
            <a:spLocks noChangeArrowheads="1"/>
          </p:cNvSpPr>
          <p:nvPr/>
        </p:nvSpPr>
        <p:spPr bwMode="auto">
          <a:xfrm>
            <a:off x="6230939" y="1958976"/>
            <a:ext cx="3398837" cy="1131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Getting bogged down in details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Too slow to act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Impractical pursuits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Wasting time and resources</a:t>
            </a:r>
          </a:p>
        </p:txBody>
      </p:sp>
      <p:sp>
        <p:nvSpPr>
          <p:cNvPr id="12297" name="Rounded Rectangle 144"/>
          <p:cNvSpPr>
            <a:spLocks noChangeArrowheads="1"/>
          </p:cNvSpPr>
          <p:nvPr/>
        </p:nvSpPr>
        <p:spPr bwMode="auto">
          <a:xfrm>
            <a:off x="2667000" y="158115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2298" name="Text Box 15"/>
          <p:cNvSpPr txBox="1">
            <a:spLocks noChangeArrowheads="1"/>
          </p:cNvSpPr>
          <p:nvPr/>
        </p:nvSpPr>
        <p:spPr bwMode="auto">
          <a:xfrm>
            <a:off x="2843213" y="1970088"/>
            <a:ext cx="28575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Gaining expertise, learning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Being objective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Problem solving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Developing solutions</a:t>
            </a:r>
          </a:p>
        </p:txBody>
      </p:sp>
      <p:sp>
        <p:nvSpPr>
          <p:cNvPr id="12299" name="Rounded Rectangle 144"/>
          <p:cNvSpPr>
            <a:spLocks noChangeArrowheads="1"/>
          </p:cNvSpPr>
          <p:nvPr/>
        </p:nvSpPr>
        <p:spPr bwMode="auto">
          <a:xfrm>
            <a:off x="6334125" y="158115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12300" name="Straight Connector 46"/>
          <p:cNvCxnSpPr>
            <a:cxnSpLocks noChangeShapeType="1"/>
          </p:cNvCxnSpPr>
          <p:nvPr/>
        </p:nvCxnSpPr>
        <p:spPr bwMode="auto">
          <a:xfrm>
            <a:off x="2686050" y="196215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1" name="Straight Connector 47"/>
          <p:cNvCxnSpPr>
            <a:cxnSpLocks noChangeShapeType="1"/>
          </p:cNvCxnSpPr>
          <p:nvPr/>
        </p:nvCxnSpPr>
        <p:spPr bwMode="auto">
          <a:xfrm>
            <a:off x="6343650" y="196215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2264875" y="3721670"/>
            <a:ext cx="7715250" cy="2857500"/>
          </a:xfrm>
          <a:prstGeom prst="roundRect">
            <a:avLst>
              <a:gd name="adj" fmla="val 7955"/>
            </a:avLst>
          </a:prstGeom>
          <a:noFill/>
          <a:ln>
            <a:solidFill>
              <a:schemeClr val="bg2"/>
            </a:solidFill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4585801" y="3824858"/>
            <a:ext cx="3052763" cy="4889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600" b="1" dirty="0">
                <a:solidFill>
                  <a:srgbClr val="9966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Theoretical - Low</a:t>
            </a:r>
          </a:p>
        </p:txBody>
      </p:sp>
      <p:sp>
        <p:nvSpPr>
          <p:cNvPr id="16" name="Round Same Side Corner Rectangle 15"/>
          <p:cNvSpPr/>
          <p:nvPr/>
        </p:nvSpPr>
        <p:spPr bwMode="auto">
          <a:xfrm>
            <a:off x="2703025" y="456939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9663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17" name="Round Same Side Corner Rectangle 16"/>
          <p:cNvSpPr/>
          <p:nvPr/>
        </p:nvSpPr>
        <p:spPr bwMode="auto">
          <a:xfrm>
            <a:off x="6370150" y="4569396"/>
            <a:ext cx="3200400" cy="365125"/>
          </a:xfrm>
          <a:prstGeom prst="round2SameRect">
            <a:avLst>
              <a:gd name="adj1" fmla="val 36738"/>
              <a:gd name="adj2" fmla="val 10026"/>
            </a:avLst>
          </a:prstGeom>
          <a:solidFill>
            <a:srgbClr val="996633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2100" b="1" dirty="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2758588" y="4350321"/>
            <a:ext cx="19415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10000"/>
              </a:spcAft>
              <a:buSzPct val="125000"/>
              <a:buFont typeface="Wingdings" pitchFamily="2" charset="2"/>
              <a:buNone/>
            </a:pPr>
            <a:endParaRPr lang="en-US" sz="1600">
              <a:solidFill>
                <a:srgbClr val="CC0000"/>
              </a:solidFill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6266964" y="4937696"/>
            <a:ext cx="3398837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not pay attention to instructions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rush through projects, miss details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quickly reach information overload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May struggle to connect the dots</a:t>
            </a:r>
          </a:p>
        </p:txBody>
      </p:sp>
      <p:sp>
        <p:nvSpPr>
          <p:cNvPr id="20" name="Rounded Rectangle 144"/>
          <p:cNvSpPr>
            <a:spLocks noChangeArrowheads="1"/>
          </p:cNvSpPr>
          <p:nvPr/>
        </p:nvSpPr>
        <p:spPr bwMode="auto">
          <a:xfrm>
            <a:off x="2703025" y="455987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2879238" y="4948808"/>
            <a:ext cx="2857500" cy="11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Quick decision maker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Practical, hands-on learner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Will always find a way</a:t>
            </a:r>
          </a:p>
          <a:p>
            <a:pPr algn="ctr" eaLnBrk="1" fontAlgn="base" hangingPunct="1">
              <a:lnSpc>
                <a:spcPct val="10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b="0" dirty="0">
                <a:solidFill>
                  <a:srgbClr val="000000"/>
                </a:solidFill>
              </a:rPr>
              <a:t>Trail and error learning</a:t>
            </a:r>
          </a:p>
        </p:txBody>
      </p:sp>
      <p:sp>
        <p:nvSpPr>
          <p:cNvPr id="22" name="Rounded Rectangle 144"/>
          <p:cNvSpPr>
            <a:spLocks noChangeArrowheads="1"/>
          </p:cNvSpPr>
          <p:nvPr/>
        </p:nvSpPr>
        <p:spPr bwMode="auto">
          <a:xfrm>
            <a:off x="6370150" y="4559870"/>
            <a:ext cx="3200400" cy="1828800"/>
          </a:xfrm>
          <a:prstGeom prst="roundRect">
            <a:avLst>
              <a:gd name="adj" fmla="val 7588"/>
            </a:avLst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2800" b="1">
              <a:solidFill>
                <a:srgbClr val="000000"/>
              </a:solidFill>
            </a:endParaRPr>
          </a:p>
        </p:txBody>
      </p:sp>
      <p:cxnSp>
        <p:nvCxnSpPr>
          <p:cNvPr id="23" name="Straight Connector 46"/>
          <p:cNvCxnSpPr>
            <a:cxnSpLocks noChangeShapeType="1"/>
          </p:cNvCxnSpPr>
          <p:nvPr/>
        </p:nvCxnSpPr>
        <p:spPr bwMode="auto">
          <a:xfrm>
            <a:off x="2722075" y="494087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47"/>
          <p:cNvCxnSpPr>
            <a:cxnSpLocks noChangeShapeType="1"/>
          </p:cNvCxnSpPr>
          <p:nvPr/>
        </p:nvCxnSpPr>
        <p:spPr bwMode="auto">
          <a:xfrm>
            <a:off x="6379675" y="4940870"/>
            <a:ext cx="32004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84783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8711</TotalTime>
  <Words>1048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Wingdings</vt:lpstr>
      <vt:lpstr>Office Theme</vt:lpstr>
      <vt:lpstr>Motivators Strengths and Limitations</vt:lpstr>
      <vt:lpstr>The Passion Palette</vt:lpstr>
      <vt:lpstr>Activity – Describe the Dimension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Styles</dc:title>
  <dc:creator>Jennifer Larsen</dc:creator>
  <cp:lastModifiedBy>Brinna Gard</cp:lastModifiedBy>
  <cp:revision>105</cp:revision>
  <dcterms:created xsi:type="dcterms:W3CDTF">2016-03-22T22:01:54Z</dcterms:created>
  <dcterms:modified xsi:type="dcterms:W3CDTF">2020-06-15T19:42:31Z</dcterms:modified>
</cp:coreProperties>
</file>