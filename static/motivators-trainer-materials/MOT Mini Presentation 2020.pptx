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51" r:id="rId3"/>
    <p:sldId id="365" r:id="rId4"/>
    <p:sldId id="357" r:id="rId5"/>
    <p:sldId id="358" r:id="rId6"/>
    <p:sldId id="359" r:id="rId7"/>
    <p:sldId id="360" r:id="rId8"/>
    <p:sldId id="361" r:id="rId9"/>
    <p:sldId id="362" r:id="rId10"/>
    <p:sldId id="363" r:id="rId11"/>
    <p:sldId id="3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7024"/>
    <a:srgbClr val="1F225E"/>
    <a:srgbClr val="723904"/>
    <a:srgbClr val="FB0102"/>
    <a:srgbClr val="FCCB0F"/>
    <a:srgbClr val="060606"/>
    <a:srgbClr val="FF6634"/>
    <a:srgbClr val="010066"/>
    <a:srgbClr val="82D201"/>
    <a:srgbClr val="D232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88919" autoAdjust="0"/>
  </p:normalViewPr>
  <p:slideViewPr>
    <p:cSldViewPr snapToGrid="0">
      <p:cViewPr varScale="1">
        <p:scale>
          <a:sx n="71" d="100"/>
          <a:sy n="71" d="100"/>
        </p:scale>
        <p:origin x="467"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262C1B-27B3-40A4-BF5F-3158B3EA3A2A}"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n-US"/>
        </a:p>
      </dgm:t>
    </dgm:pt>
    <dgm:pt modelId="{C8964265-24D2-4BAD-B54F-1E6A67D74685}">
      <dgm:prSet phldrT="[Text]"/>
      <dgm:spPr/>
      <dgm:t>
        <a:bodyPr/>
        <a:lstStyle/>
        <a:p>
          <a:r>
            <a:rPr lang="en-US" dirty="0">
              <a:latin typeface="Calibri" panose="020F0502020204030204" pitchFamily="34" charset="0"/>
              <a:ea typeface="MS Mincho"/>
              <a:cs typeface="Times New Roman" panose="02020603050405020304" pitchFamily="18" charset="0"/>
            </a:rPr>
            <a:t>Filter and guide decisions specifically toward results that reflect them</a:t>
          </a:r>
          <a:endParaRPr lang="en-US" dirty="0"/>
        </a:p>
      </dgm:t>
    </dgm:pt>
    <dgm:pt modelId="{1C38E07D-9308-48B9-90E2-0B1F765F90D9}" type="parTrans" cxnId="{5F13CFC0-7424-418D-B6AC-84F487AB596F}">
      <dgm:prSet/>
      <dgm:spPr/>
      <dgm:t>
        <a:bodyPr/>
        <a:lstStyle/>
        <a:p>
          <a:endParaRPr lang="en-US"/>
        </a:p>
      </dgm:t>
    </dgm:pt>
    <dgm:pt modelId="{16DF5C68-E93F-4F06-9ACC-B25049781242}" type="sibTrans" cxnId="{5F13CFC0-7424-418D-B6AC-84F487AB596F}">
      <dgm:prSet/>
      <dgm:spPr/>
      <dgm:t>
        <a:bodyPr/>
        <a:lstStyle/>
        <a:p>
          <a:endParaRPr lang="en-US"/>
        </a:p>
      </dgm:t>
    </dgm:pt>
    <dgm:pt modelId="{EB857926-FF73-4325-9A2C-EDE3ABAF7D97}">
      <dgm:prSet phldrT="[Text]" phldr="1"/>
      <dgm:spPr>
        <a:solidFill>
          <a:srgbClr val="1F225F"/>
        </a:solidFill>
      </dgm:spPr>
      <dgm:t>
        <a:bodyPr/>
        <a:lstStyle/>
        <a:p>
          <a:endParaRPr lang="en-US" dirty="0"/>
        </a:p>
      </dgm:t>
    </dgm:pt>
    <dgm:pt modelId="{F1CC02B8-61AD-4B6A-BFEF-B295BAA42E75}" type="parTrans" cxnId="{6CDB0C3C-2CE1-4143-BAD9-EF37072082DE}">
      <dgm:prSet/>
      <dgm:spPr/>
      <dgm:t>
        <a:bodyPr/>
        <a:lstStyle/>
        <a:p>
          <a:endParaRPr lang="en-US"/>
        </a:p>
      </dgm:t>
    </dgm:pt>
    <dgm:pt modelId="{BA7D498B-D6BF-4747-B6A2-96E9C71E9F47}" type="sibTrans" cxnId="{6CDB0C3C-2CE1-4143-BAD9-EF37072082DE}">
      <dgm:prSet/>
      <dgm:spPr/>
      <dgm:t>
        <a:bodyPr/>
        <a:lstStyle/>
        <a:p>
          <a:endParaRPr lang="en-US"/>
        </a:p>
      </dgm:t>
    </dgm:pt>
    <dgm:pt modelId="{4CB41BB3-C962-43F5-8010-0D3EE9C1D5BF}">
      <dgm:prSet phldrT="[Text]"/>
      <dgm:spPr/>
      <dgm:t>
        <a:bodyPr/>
        <a:lstStyle/>
        <a:p>
          <a:r>
            <a:rPr lang="en-US" dirty="0">
              <a:latin typeface="Calibri" panose="020F0502020204030204" pitchFamily="34" charset="0"/>
              <a:ea typeface="MS Mincho"/>
              <a:cs typeface="Times New Roman" panose="02020603050405020304" pitchFamily="18" charset="0"/>
            </a:rPr>
            <a:t>Combine uniquely for each person to influence individual priorities and decision-making</a:t>
          </a:r>
          <a:endParaRPr lang="en-US" dirty="0"/>
        </a:p>
      </dgm:t>
    </dgm:pt>
    <dgm:pt modelId="{CE2CDEDA-2141-4E4E-A2DE-160FEA6E81A1}" type="parTrans" cxnId="{8437A676-F487-4C85-82D1-18A7EB07B2EE}">
      <dgm:prSet/>
      <dgm:spPr/>
      <dgm:t>
        <a:bodyPr/>
        <a:lstStyle/>
        <a:p>
          <a:endParaRPr lang="en-US"/>
        </a:p>
      </dgm:t>
    </dgm:pt>
    <dgm:pt modelId="{F68B6F98-CC1B-4A11-92F8-491CF25B5670}" type="sibTrans" cxnId="{8437A676-F487-4C85-82D1-18A7EB07B2EE}">
      <dgm:prSet/>
      <dgm:spPr/>
      <dgm:t>
        <a:bodyPr/>
        <a:lstStyle/>
        <a:p>
          <a:endParaRPr lang="en-US"/>
        </a:p>
      </dgm:t>
    </dgm:pt>
    <dgm:pt modelId="{46016291-40A1-491F-8965-6CF3EE24CD81}">
      <dgm:prSet phldrT="[Text]" phldr="1"/>
      <dgm:spPr>
        <a:solidFill>
          <a:srgbClr val="FD7024"/>
        </a:solidFill>
      </dgm:spPr>
      <dgm:t>
        <a:bodyPr/>
        <a:lstStyle/>
        <a:p>
          <a:endParaRPr lang="en-US"/>
        </a:p>
      </dgm:t>
    </dgm:pt>
    <dgm:pt modelId="{679E8B36-F5BA-4544-9F68-A8FB725D8EA1}" type="parTrans" cxnId="{8F3927AD-6867-4E0D-974A-95B0F9294C32}">
      <dgm:prSet/>
      <dgm:spPr/>
      <dgm:t>
        <a:bodyPr/>
        <a:lstStyle/>
        <a:p>
          <a:endParaRPr lang="en-US"/>
        </a:p>
      </dgm:t>
    </dgm:pt>
    <dgm:pt modelId="{4DE22F89-6A61-4F0D-B5F8-1F80D7A07605}" type="sibTrans" cxnId="{8F3927AD-6867-4E0D-974A-95B0F9294C32}">
      <dgm:prSet/>
      <dgm:spPr/>
      <dgm:t>
        <a:bodyPr/>
        <a:lstStyle/>
        <a:p>
          <a:endParaRPr lang="en-US"/>
        </a:p>
      </dgm:t>
    </dgm:pt>
    <dgm:pt modelId="{4A69D8B3-C531-4A17-86A0-FDB2BC8BEB94}">
      <dgm:prSet phldrT="[Text]"/>
      <dgm:spPr/>
      <dgm:t>
        <a:bodyPr/>
        <a:lstStyle/>
        <a:p>
          <a:r>
            <a:rPr lang="en-US" dirty="0">
              <a:latin typeface="Calibri" panose="020F0502020204030204" pitchFamily="34" charset="0"/>
              <a:ea typeface="MS Mincho"/>
              <a:cs typeface="Times New Roman" panose="02020603050405020304" pitchFamily="18" charset="0"/>
            </a:rPr>
            <a:t>Help people to better understand their unique value or belief system</a:t>
          </a:r>
          <a:endParaRPr lang="en-US" dirty="0"/>
        </a:p>
      </dgm:t>
    </dgm:pt>
    <dgm:pt modelId="{F96E8D18-6191-45F8-B565-AB3053517905}" type="parTrans" cxnId="{5BB54A16-3792-462F-9972-22F47F74AED7}">
      <dgm:prSet/>
      <dgm:spPr/>
      <dgm:t>
        <a:bodyPr/>
        <a:lstStyle/>
        <a:p>
          <a:endParaRPr lang="en-US"/>
        </a:p>
      </dgm:t>
    </dgm:pt>
    <dgm:pt modelId="{E8F1593C-63E5-4D65-8305-E1E333786239}" type="sibTrans" cxnId="{5BB54A16-3792-462F-9972-22F47F74AED7}">
      <dgm:prSet/>
      <dgm:spPr/>
      <dgm:t>
        <a:bodyPr/>
        <a:lstStyle/>
        <a:p>
          <a:endParaRPr lang="en-US"/>
        </a:p>
      </dgm:t>
    </dgm:pt>
    <dgm:pt modelId="{6C59732B-0E94-40E1-A225-4B8B1ACE0D64}">
      <dgm:prSet phldrT="[Text]" phldr="1"/>
      <dgm:spPr>
        <a:solidFill>
          <a:srgbClr val="F5C514"/>
        </a:solidFill>
      </dgm:spPr>
      <dgm:t>
        <a:bodyPr/>
        <a:lstStyle/>
        <a:p>
          <a:endParaRPr lang="en-US" dirty="0"/>
        </a:p>
      </dgm:t>
    </dgm:pt>
    <dgm:pt modelId="{5604F6EC-7273-479B-AEC5-C9C165928E35}" type="sibTrans" cxnId="{0AF9B5DD-4642-4CFD-8330-9A604D518785}">
      <dgm:prSet/>
      <dgm:spPr/>
      <dgm:t>
        <a:bodyPr/>
        <a:lstStyle/>
        <a:p>
          <a:endParaRPr lang="en-US"/>
        </a:p>
      </dgm:t>
    </dgm:pt>
    <dgm:pt modelId="{AAEC1548-9130-4382-884A-A38E78BE18A3}" type="parTrans" cxnId="{0AF9B5DD-4642-4CFD-8330-9A604D518785}">
      <dgm:prSet/>
      <dgm:spPr/>
      <dgm:t>
        <a:bodyPr/>
        <a:lstStyle/>
        <a:p>
          <a:endParaRPr lang="en-US"/>
        </a:p>
      </dgm:t>
    </dgm:pt>
    <dgm:pt modelId="{C1BFC81C-AC21-4957-BF83-15CE2CB64431}" type="pres">
      <dgm:prSet presAssocID="{5D262C1B-27B3-40A4-BF5F-3158B3EA3A2A}" presName="Name0" presStyleCnt="0">
        <dgm:presLayoutVars>
          <dgm:dir/>
          <dgm:animLvl val="lvl"/>
          <dgm:resizeHandles val="exact"/>
        </dgm:presLayoutVars>
      </dgm:prSet>
      <dgm:spPr/>
    </dgm:pt>
    <dgm:pt modelId="{5D75D50B-EAB1-4BD9-8D0A-70488372175C}" type="pres">
      <dgm:prSet presAssocID="{6C59732B-0E94-40E1-A225-4B8B1ACE0D64}" presName="compositeNode" presStyleCnt="0">
        <dgm:presLayoutVars>
          <dgm:bulletEnabled val="1"/>
        </dgm:presLayoutVars>
      </dgm:prSet>
      <dgm:spPr/>
    </dgm:pt>
    <dgm:pt modelId="{2FD98BD7-AEEF-4033-A3F7-20650198CDBA}" type="pres">
      <dgm:prSet presAssocID="{6C59732B-0E94-40E1-A225-4B8B1ACE0D64}" presName="bgRect" presStyleLbl="node1" presStyleIdx="0" presStyleCnt="3"/>
      <dgm:spPr/>
    </dgm:pt>
    <dgm:pt modelId="{75559FF8-446B-42FC-BE08-A1EC60CF3888}" type="pres">
      <dgm:prSet presAssocID="{6C59732B-0E94-40E1-A225-4B8B1ACE0D64}" presName="parentNode" presStyleLbl="node1" presStyleIdx="0" presStyleCnt="3">
        <dgm:presLayoutVars>
          <dgm:chMax val="0"/>
          <dgm:bulletEnabled val="1"/>
        </dgm:presLayoutVars>
      </dgm:prSet>
      <dgm:spPr/>
    </dgm:pt>
    <dgm:pt modelId="{9C585939-9B1F-47EA-8BC5-A2BD201DC2AA}" type="pres">
      <dgm:prSet presAssocID="{6C59732B-0E94-40E1-A225-4B8B1ACE0D64}" presName="childNode" presStyleLbl="node1" presStyleIdx="0" presStyleCnt="3">
        <dgm:presLayoutVars>
          <dgm:bulletEnabled val="1"/>
        </dgm:presLayoutVars>
      </dgm:prSet>
      <dgm:spPr/>
    </dgm:pt>
    <dgm:pt modelId="{E446E257-5106-4236-BA7B-CF96F7C341DD}" type="pres">
      <dgm:prSet presAssocID="{5604F6EC-7273-479B-AEC5-C9C165928E35}" presName="hSp" presStyleCnt="0"/>
      <dgm:spPr/>
    </dgm:pt>
    <dgm:pt modelId="{96310FFB-F81F-417E-B84E-72F517F994FF}" type="pres">
      <dgm:prSet presAssocID="{5604F6EC-7273-479B-AEC5-C9C165928E35}" presName="vProcSp" presStyleCnt="0"/>
      <dgm:spPr/>
    </dgm:pt>
    <dgm:pt modelId="{91B92DFF-8423-4A40-ACC9-C5C3850E9FBB}" type="pres">
      <dgm:prSet presAssocID="{5604F6EC-7273-479B-AEC5-C9C165928E35}" presName="vSp1" presStyleCnt="0"/>
      <dgm:spPr/>
    </dgm:pt>
    <dgm:pt modelId="{E925198E-B728-48DA-80C1-3047270588E6}" type="pres">
      <dgm:prSet presAssocID="{5604F6EC-7273-479B-AEC5-C9C165928E35}" presName="simulatedConn" presStyleLbl="solidFgAcc1" presStyleIdx="0" presStyleCnt="2"/>
      <dgm:spPr/>
    </dgm:pt>
    <dgm:pt modelId="{0B70BDA8-A48A-44B1-906F-5613ADE40584}" type="pres">
      <dgm:prSet presAssocID="{5604F6EC-7273-479B-AEC5-C9C165928E35}" presName="vSp2" presStyleCnt="0"/>
      <dgm:spPr/>
    </dgm:pt>
    <dgm:pt modelId="{BC3ADFD9-7411-48D1-A0D2-3F50B9A50109}" type="pres">
      <dgm:prSet presAssocID="{5604F6EC-7273-479B-AEC5-C9C165928E35}" presName="sibTrans" presStyleCnt="0"/>
      <dgm:spPr/>
    </dgm:pt>
    <dgm:pt modelId="{96382887-6BF4-47CB-AA31-9BABB0D8A877}" type="pres">
      <dgm:prSet presAssocID="{EB857926-FF73-4325-9A2C-EDE3ABAF7D97}" presName="compositeNode" presStyleCnt="0">
        <dgm:presLayoutVars>
          <dgm:bulletEnabled val="1"/>
        </dgm:presLayoutVars>
      </dgm:prSet>
      <dgm:spPr/>
    </dgm:pt>
    <dgm:pt modelId="{C97AF87A-8AD7-47C2-A9A1-6CA9C0785A91}" type="pres">
      <dgm:prSet presAssocID="{EB857926-FF73-4325-9A2C-EDE3ABAF7D97}" presName="bgRect" presStyleLbl="node1" presStyleIdx="1" presStyleCnt="3"/>
      <dgm:spPr/>
    </dgm:pt>
    <dgm:pt modelId="{FF2DFB23-BC2B-41A3-B0C4-13B80F8A9FE9}" type="pres">
      <dgm:prSet presAssocID="{EB857926-FF73-4325-9A2C-EDE3ABAF7D97}" presName="parentNode" presStyleLbl="node1" presStyleIdx="1" presStyleCnt="3">
        <dgm:presLayoutVars>
          <dgm:chMax val="0"/>
          <dgm:bulletEnabled val="1"/>
        </dgm:presLayoutVars>
      </dgm:prSet>
      <dgm:spPr/>
    </dgm:pt>
    <dgm:pt modelId="{4460F647-2BB3-4B7E-80F3-F407E08C8C71}" type="pres">
      <dgm:prSet presAssocID="{EB857926-FF73-4325-9A2C-EDE3ABAF7D97}" presName="childNode" presStyleLbl="node1" presStyleIdx="1" presStyleCnt="3">
        <dgm:presLayoutVars>
          <dgm:bulletEnabled val="1"/>
        </dgm:presLayoutVars>
      </dgm:prSet>
      <dgm:spPr/>
    </dgm:pt>
    <dgm:pt modelId="{0CDFC681-B132-4FCD-80FB-65729040CEED}" type="pres">
      <dgm:prSet presAssocID="{BA7D498B-D6BF-4747-B6A2-96E9C71E9F47}" presName="hSp" presStyleCnt="0"/>
      <dgm:spPr/>
    </dgm:pt>
    <dgm:pt modelId="{D570D2A0-0F34-4305-936D-30C757F4C6D9}" type="pres">
      <dgm:prSet presAssocID="{BA7D498B-D6BF-4747-B6A2-96E9C71E9F47}" presName="vProcSp" presStyleCnt="0"/>
      <dgm:spPr/>
    </dgm:pt>
    <dgm:pt modelId="{674E198D-DB02-4D3C-8363-217D350441A4}" type="pres">
      <dgm:prSet presAssocID="{BA7D498B-D6BF-4747-B6A2-96E9C71E9F47}" presName="vSp1" presStyleCnt="0"/>
      <dgm:spPr/>
    </dgm:pt>
    <dgm:pt modelId="{D93A83D4-186C-4D29-8291-6E9952E61B1B}" type="pres">
      <dgm:prSet presAssocID="{BA7D498B-D6BF-4747-B6A2-96E9C71E9F47}" presName="simulatedConn" presStyleLbl="solidFgAcc1" presStyleIdx="1" presStyleCnt="2"/>
      <dgm:spPr/>
    </dgm:pt>
    <dgm:pt modelId="{31BA36FE-1B57-45BF-A644-D5BE9E8B0157}" type="pres">
      <dgm:prSet presAssocID="{BA7D498B-D6BF-4747-B6A2-96E9C71E9F47}" presName="vSp2" presStyleCnt="0"/>
      <dgm:spPr/>
    </dgm:pt>
    <dgm:pt modelId="{AAEDC1C3-3335-45C4-B5C2-CADC7F845914}" type="pres">
      <dgm:prSet presAssocID="{BA7D498B-D6BF-4747-B6A2-96E9C71E9F47}" presName="sibTrans" presStyleCnt="0"/>
      <dgm:spPr/>
    </dgm:pt>
    <dgm:pt modelId="{1CD9D0A0-64D1-49B1-B722-30BA0F801091}" type="pres">
      <dgm:prSet presAssocID="{46016291-40A1-491F-8965-6CF3EE24CD81}" presName="compositeNode" presStyleCnt="0">
        <dgm:presLayoutVars>
          <dgm:bulletEnabled val="1"/>
        </dgm:presLayoutVars>
      </dgm:prSet>
      <dgm:spPr/>
    </dgm:pt>
    <dgm:pt modelId="{3AB3A624-BF44-41E6-994E-9E329CB9FEC4}" type="pres">
      <dgm:prSet presAssocID="{46016291-40A1-491F-8965-6CF3EE24CD81}" presName="bgRect" presStyleLbl="node1" presStyleIdx="2" presStyleCnt="3"/>
      <dgm:spPr/>
    </dgm:pt>
    <dgm:pt modelId="{F3B57414-AA0E-494E-A710-7732219B6B6B}" type="pres">
      <dgm:prSet presAssocID="{46016291-40A1-491F-8965-6CF3EE24CD81}" presName="parentNode" presStyleLbl="node1" presStyleIdx="2" presStyleCnt="3">
        <dgm:presLayoutVars>
          <dgm:chMax val="0"/>
          <dgm:bulletEnabled val="1"/>
        </dgm:presLayoutVars>
      </dgm:prSet>
      <dgm:spPr/>
    </dgm:pt>
    <dgm:pt modelId="{4672AFA9-EE76-448D-8D18-011C09B696A5}" type="pres">
      <dgm:prSet presAssocID="{46016291-40A1-491F-8965-6CF3EE24CD81}" presName="childNode" presStyleLbl="node1" presStyleIdx="2" presStyleCnt="3">
        <dgm:presLayoutVars>
          <dgm:bulletEnabled val="1"/>
        </dgm:presLayoutVars>
      </dgm:prSet>
      <dgm:spPr/>
    </dgm:pt>
  </dgm:ptLst>
  <dgm:cxnLst>
    <dgm:cxn modelId="{5BB54A16-3792-462F-9972-22F47F74AED7}" srcId="{46016291-40A1-491F-8965-6CF3EE24CD81}" destId="{4A69D8B3-C531-4A17-86A0-FDB2BC8BEB94}" srcOrd="0" destOrd="0" parTransId="{F96E8D18-6191-45F8-B565-AB3053517905}" sibTransId="{E8F1593C-63E5-4D65-8305-E1E333786239}"/>
    <dgm:cxn modelId="{AB508C31-1203-4B9B-8834-CF0EA5E87718}" type="presOf" srcId="{6C59732B-0E94-40E1-A225-4B8B1ACE0D64}" destId="{2FD98BD7-AEEF-4033-A3F7-20650198CDBA}" srcOrd="0" destOrd="0" presId="urn:microsoft.com/office/officeart/2005/8/layout/hProcess7"/>
    <dgm:cxn modelId="{6CDB0C3C-2CE1-4143-BAD9-EF37072082DE}" srcId="{5D262C1B-27B3-40A4-BF5F-3158B3EA3A2A}" destId="{EB857926-FF73-4325-9A2C-EDE3ABAF7D97}" srcOrd="1" destOrd="0" parTransId="{F1CC02B8-61AD-4B6A-BFEF-B295BAA42E75}" sibTransId="{BA7D498B-D6BF-4747-B6A2-96E9C71E9F47}"/>
    <dgm:cxn modelId="{02C7673F-0DE7-459E-9164-E29F0F8CA683}" type="presOf" srcId="{5D262C1B-27B3-40A4-BF5F-3158B3EA3A2A}" destId="{C1BFC81C-AC21-4957-BF83-15CE2CB64431}" srcOrd="0" destOrd="0" presId="urn:microsoft.com/office/officeart/2005/8/layout/hProcess7"/>
    <dgm:cxn modelId="{349F6F76-B5D7-4763-B410-84DA0D7346F9}" type="presOf" srcId="{4A69D8B3-C531-4A17-86A0-FDB2BC8BEB94}" destId="{4672AFA9-EE76-448D-8D18-011C09B696A5}" srcOrd="0" destOrd="0" presId="urn:microsoft.com/office/officeart/2005/8/layout/hProcess7"/>
    <dgm:cxn modelId="{8437A676-F487-4C85-82D1-18A7EB07B2EE}" srcId="{EB857926-FF73-4325-9A2C-EDE3ABAF7D97}" destId="{4CB41BB3-C962-43F5-8010-0D3EE9C1D5BF}" srcOrd="0" destOrd="0" parTransId="{CE2CDEDA-2141-4E4E-A2DE-160FEA6E81A1}" sibTransId="{F68B6F98-CC1B-4A11-92F8-491CF25B5670}"/>
    <dgm:cxn modelId="{3D10E778-57D4-4B5C-986E-C47C7615D884}" type="presOf" srcId="{EB857926-FF73-4325-9A2C-EDE3ABAF7D97}" destId="{C97AF87A-8AD7-47C2-A9A1-6CA9C0785A91}" srcOrd="0" destOrd="0" presId="urn:microsoft.com/office/officeart/2005/8/layout/hProcess7"/>
    <dgm:cxn modelId="{0C44F17C-6B6B-4E66-BBBE-A3916F65E347}" type="presOf" srcId="{4CB41BB3-C962-43F5-8010-0D3EE9C1D5BF}" destId="{4460F647-2BB3-4B7E-80F3-F407E08C8C71}" srcOrd="0" destOrd="0" presId="urn:microsoft.com/office/officeart/2005/8/layout/hProcess7"/>
    <dgm:cxn modelId="{FEBDF97F-0116-4AAD-A0D6-27139712B978}" type="presOf" srcId="{C8964265-24D2-4BAD-B54F-1E6A67D74685}" destId="{9C585939-9B1F-47EA-8BC5-A2BD201DC2AA}" srcOrd="0" destOrd="0" presId="urn:microsoft.com/office/officeart/2005/8/layout/hProcess7"/>
    <dgm:cxn modelId="{8A8A8D81-EB56-4AD9-BC51-92F40DBEF521}" type="presOf" srcId="{46016291-40A1-491F-8965-6CF3EE24CD81}" destId="{F3B57414-AA0E-494E-A710-7732219B6B6B}" srcOrd="1" destOrd="0" presId="urn:microsoft.com/office/officeart/2005/8/layout/hProcess7"/>
    <dgm:cxn modelId="{FEA5D1A6-A0E5-4874-90FC-0A499ADFBFDF}" type="presOf" srcId="{46016291-40A1-491F-8965-6CF3EE24CD81}" destId="{3AB3A624-BF44-41E6-994E-9E329CB9FEC4}" srcOrd="0" destOrd="0" presId="urn:microsoft.com/office/officeart/2005/8/layout/hProcess7"/>
    <dgm:cxn modelId="{39BD92A9-9690-4761-B5D6-D9590F7905FA}" type="presOf" srcId="{EB857926-FF73-4325-9A2C-EDE3ABAF7D97}" destId="{FF2DFB23-BC2B-41A3-B0C4-13B80F8A9FE9}" srcOrd="1" destOrd="0" presId="urn:microsoft.com/office/officeart/2005/8/layout/hProcess7"/>
    <dgm:cxn modelId="{8F3927AD-6867-4E0D-974A-95B0F9294C32}" srcId="{5D262C1B-27B3-40A4-BF5F-3158B3EA3A2A}" destId="{46016291-40A1-491F-8965-6CF3EE24CD81}" srcOrd="2" destOrd="0" parTransId="{679E8B36-F5BA-4544-9F68-A8FB725D8EA1}" sibTransId="{4DE22F89-6A61-4F0D-B5F8-1F80D7A07605}"/>
    <dgm:cxn modelId="{5F13CFC0-7424-418D-B6AC-84F487AB596F}" srcId="{6C59732B-0E94-40E1-A225-4B8B1ACE0D64}" destId="{C8964265-24D2-4BAD-B54F-1E6A67D74685}" srcOrd="0" destOrd="0" parTransId="{1C38E07D-9308-48B9-90E2-0B1F765F90D9}" sibTransId="{16DF5C68-E93F-4F06-9ACC-B25049781242}"/>
    <dgm:cxn modelId="{0AF9B5DD-4642-4CFD-8330-9A604D518785}" srcId="{5D262C1B-27B3-40A4-BF5F-3158B3EA3A2A}" destId="{6C59732B-0E94-40E1-A225-4B8B1ACE0D64}" srcOrd="0" destOrd="0" parTransId="{AAEC1548-9130-4382-884A-A38E78BE18A3}" sibTransId="{5604F6EC-7273-479B-AEC5-C9C165928E35}"/>
    <dgm:cxn modelId="{C19EF5F4-FFDE-4938-B5AD-CEDD7E4DACCE}" type="presOf" srcId="{6C59732B-0E94-40E1-A225-4B8B1ACE0D64}" destId="{75559FF8-446B-42FC-BE08-A1EC60CF3888}" srcOrd="1" destOrd="0" presId="urn:microsoft.com/office/officeart/2005/8/layout/hProcess7"/>
    <dgm:cxn modelId="{218B74DC-5EC7-4146-B2FF-10A944362974}" type="presParOf" srcId="{C1BFC81C-AC21-4957-BF83-15CE2CB64431}" destId="{5D75D50B-EAB1-4BD9-8D0A-70488372175C}" srcOrd="0" destOrd="0" presId="urn:microsoft.com/office/officeart/2005/8/layout/hProcess7"/>
    <dgm:cxn modelId="{05A3128B-F4A7-45B1-B25A-832663B14552}" type="presParOf" srcId="{5D75D50B-EAB1-4BD9-8D0A-70488372175C}" destId="{2FD98BD7-AEEF-4033-A3F7-20650198CDBA}" srcOrd="0" destOrd="0" presId="urn:microsoft.com/office/officeart/2005/8/layout/hProcess7"/>
    <dgm:cxn modelId="{646233A3-1173-4C5F-B3CE-50338DF0C1A4}" type="presParOf" srcId="{5D75D50B-EAB1-4BD9-8D0A-70488372175C}" destId="{75559FF8-446B-42FC-BE08-A1EC60CF3888}" srcOrd="1" destOrd="0" presId="urn:microsoft.com/office/officeart/2005/8/layout/hProcess7"/>
    <dgm:cxn modelId="{3D67530B-A8BD-4A0B-B38D-5FC28E1F25DF}" type="presParOf" srcId="{5D75D50B-EAB1-4BD9-8D0A-70488372175C}" destId="{9C585939-9B1F-47EA-8BC5-A2BD201DC2AA}" srcOrd="2" destOrd="0" presId="urn:microsoft.com/office/officeart/2005/8/layout/hProcess7"/>
    <dgm:cxn modelId="{38DDEDD4-79F3-4341-85F3-D630D745AC13}" type="presParOf" srcId="{C1BFC81C-AC21-4957-BF83-15CE2CB64431}" destId="{E446E257-5106-4236-BA7B-CF96F7C341DD}" srcOrd="1" destOrd="0" presId="urn:microsoft.com/office/officeart/2005/8/layout/hProcess7"/>
    <dgm:cxn modelId="{64291032-E7C3-4C51-B5D1-077C4E696938}" type="presParOf" srcId="{C1BFC81C-AC21-4957-BF83-15CE2CB64431}" destId="{96310FFB-F81F-417E-B84E-72F517F994FF}" srcOrd="2" destOrd="0" presId="urn:microsoft.com/office/officeart/2005/8/layout/hProcess7"/>
    <dgm:cxn modelId="{501D779A-AFDD-4C7D-9D72-F8D8C7D05940}" type="presParOf" srcId="{96310FFB-F81F-417E-B84E-72F517F994FF}" destId="{91B92DFF-8423-4A40-ACC9-C5C3850E9FBB}" srcOrd="0" destOrd="0" presId="urn:microsoft.com/office/officeart/2005/8/layout/hProcess7"/>
    <dgm:cxn modelId="{B78CFB30-B6E3-48C7-A713-EF3F020F10D6}" type="presParOf" srcId="{96310FFB-F81F-417E-B84E-72F517F994FF}" destId="{E925198E-B728-48DA-80C1-3047270588E6}" srcOrd="1" destOrd="0" presId="urn:microsoft.com/office/officeart/2005/8/layout/hProcess7"/>
    <dgm:cxn modelId="{17FFCB9C-DA94-47EA-A676-773F7527A32F}" type="presParOf" srcId="{96310FFB-F81F-417E-B84E-72F517F994FF}" destId="{0B70BDA8-A48A-44B1-906F-5613ADE40584}" srcOrd="2" destOrd="0" presId="urn:microsoft.com/office/officeart/2005/8/layout/hProcess7"/>
    <dgm:cxn modelId="{67F20106-DB97-497B-ABC7-1DE8CB66D481}" type="presParOf" srcId="{C1BFC81C-AC21-4957-BF83-15CE2CB64431}" destId="{BC3ADFD9-7411-48D1-A0D2-3F50B9A50109}" srcOrd="3" destOrd="0" presId="urn:microsoft.com/office/officeart/2005/8/layout/hProcess7"/>
    <dgm:cxn modelId="{93F92A34-CB51-4CB3-8F0B-2B8D616D32B8}" type="presParOf" srcId="{C1BFC81C-AC21-4957-BF83-15CE2CB64431}" destId="{96382887-6BF4-47CB-AA31-9BABB0D8A877}" srcOrd="4" destOrd="0" presId="urn:microsoft.com/office/officeart/2005/8/layout/hProcess7"/>
    <dgm:cxn modelId="{B931116D-68A4-4987-8F89-B5ECCD4CB2CD}" type="presParOf" srcId="{96382887-6BF4-47CB-AA31-9BABB0D8A877}" destId="{C97AF87A-8AD7-47C2-A9A1-6CA9C0785A91}" srcOrd="0" destOrd="0" presId="urn:microsoft.com/office/officeart/2005/8/layout/hProcess7"/>
    <dgm:cxn modelId="{1126F882-F390-4514-B674-E604A7E93103}" type="presParOf" srcId="{96382887-6BF4-47CB-AA31-9BABB0D8A877}" destId="{FF2DFB23-BC2B-41A3-B0C4-13B80F8A9FE9}" srcOrd="1" destOrd="0" presId="urn:microsoft.com/office/officeart/2005/8/layout/hProcess7"/>
    <dgm:cxn modelId="{50B6C13D-852C-4B25-8AFF-B31163428A66}" type="presParOf" srcId="{96382887-6BF4-47CB-AA31-9BABB0D8A877}" destId="{4460F647-2BB3-4B7E-80F3-F407E08C8C71}" srcOrd="2" destOrd="0" presId="urn:microsoft.com/office/officeart/2005/8/layout/hProcess7"/>
    <dgm:cxn modelId="{DFD27597-45A1-4387-8684-940AB944A880}" type="presParOf" srcId="{C1BFC81C-AC21-4957-BF83-15CE2CB64431}" destId="{0CDFC681-B132-4FCD-80FB-65729040CEED}" srcOrd="5" destOrd="0" presId="urn:microsoft.com/office/officeart/2005/8/layout/hProcess7"/>
    <dgm:cxn modelId="{6F9D1BD2-D96E-4313-867B-3EE75668A8F6}" type="presParOf" srcId="{C1BFC81C-AC21-4957-BF83-15CE2CB64431}" destId="{D570D2A0-0F34-4305-936D-30C757F4C6D9}" srcOrd="6" destOrd="0" presId="urn:microsoft.com/office/officeart/2005/8/layout/hProcess7"/>
    <dgm:cxn modelId="{03588A90-CCC9-49BE-AF2F-1FE2501AB7B2}" type="presParOf" srcId="{D570D2A0-0F34-4305-936D-30C757F4C6D9}" destId="{674E198D-DB02-4D3C-8363-217D350441A4}" srcOrd="0" destOrd="0" presId="urn:microsoft.com/office/officeart/2005/8/layout/hProcess7"/>
    <dgm:cxn modelId="{FB34463F-13B7-4064-A18A-41F509B33CC9}" type="presParOf" srcId="{D570D2A0-0F34-4305-936D-30C757F4C6D9}" destId="{D93A83D4-186C-4D29-8291-6E9952E61B1B}" srcOrd="1" destOrd="0" presId="urn:microsoft.com/office/officeart/2005/8/layout/hProcess7"/>
    <dgm:cxn modelId="{712780CD-9998-43F6-97C4-54F5313DF89E}" type="presParOf" srcId="{D570D2A0-0F34-4305-936D-30C757F4C6D9}" destId="{31BA36FE-1B57-45BF-A644-D5BE9E8B0157}" srcOrd="2" destOrd="0" presId="urn:microsoft.com/office/officeart/2005/8/layout/hProcess7"/>
    <dgm:cxn modelId="{5AB547F9-E22C-47CD-9845-CB4997891D9B}" type="presParOf" srcId="{C1BFC81C-AC21-4957-BF83-15CE2CB64431}" destId="{AAEDC1C3-3335-45C4-B5C2-CADC7F845914}" srcOrd="7" destOrd="0" presId="urn:microsoft.com/office/officeart/2005/8/layout/hProcess7"/>
    <dgm:cxn modelId="{ECDEB5EC-1E7C-4814-AFB0-F20A22A2DBE0}" type="presParOf" srcId="{C1BFC81C-AC21-4957-BF83-15CE2CB64431}" destId="{1CD9D0A0-64D1-49B1-B722-30BA0F801091}" srcOrd="8" destOrd="0" presId="urn:microsoft.com/office/officeart/2005/8/layout/hProcess7"/>
    <dgm:cxn modelId="{90EE11AF-943D-440C-B12B-E6A2A81E1E60}" type="presParOf" srcId="{1CD9D0A0-64D1-49B1-B722-30BA0F801091}" destId="{3AB3A624-BF44-41E6-994E-9E329CB9FEC4}" srcOrd="0" destOrd="0" presId="urn:microsoft.com/office/officeart/2005/8/layout/hProcess7"/>
    <dgm:cxn modelId="{B01A22FB-86FB-4891-819B-BCCA73037E22}" type="presParOf" srcId="{1CD9D0A0-64D1-49B1-B722-30BA0F801091}" destId="{F3B57414-AA0E-494E-A710-7732219B6B6B}" srcOrd="1" destOrd="0" presId="urn:microsoft.com/office/officeart/2005/8/layout/hProcess7"/>
    <dgm:cxn modelId="{A033D62C-5A3E-4E09-AF9A-45E3A8AA1C67}" type="presParOf" srcId="{1CD9D0A0-64D1-49B1-B722-30BA0F801091}" destId="{4672AFA9-EE76-448D-8D18-011C09B696A5}"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ED7399-1F38-40D4-9C79-0C7262004E56}"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E75D054-44A0-4CEC-AA1A-A2B688E76A23}">
      <dgm:prSet phldrT="[Text]"/>
      <dgm:spPr>
        <a:solidFill>
          <a:schemeClr val="bg2">
            <a:lumMod val="90000"/>
          </a:schemeClr>
        </a:solidFill>
      </dgm:spPr>
      <dgm:t>
        <a:bodyPr/>
        <a:lstStyle/>
        <a:p>
          <a:pPr algn="l"/>
          <a:r>
            <a:rPr lang="en-US" b="1" dirty="0">
              <a:solidFill>
                <a:schemeClr val="tx1"/>
              </a:solidFill>
            </a:rPr>
            <a:t>Aesthetic</a:t>
          </a:r>
          <a:r>
            <a:rPr lang="en-US" dirty="0">
              <a:solidFill>
                <a:schemeClr val="tx1"/>
              </a:solidFill>
            </a:rPr>
            <a:t> – A drive for balance, harmony, and form.</a:t>
          </a:r>
        </a:p>
      </dgm:t>
    </dgm:pt>
    <dgm:pt modelId="{774AC869-EA32-4E47-B01E-346B651953A2}" type="parTrans" cxnId="{D8C48FBD-BAA6-4E90-B9AB-E3F9D0DF27F9}">
      <dgm:prSet/>
      <dgm:spPr/>
      <dgm:t>
        <a:bodyPr/>
        <a:lstStyle/>
        <a:p>
          <a:endParaRPr lang="en-US"/>
        </a:p>
      </dgm:t>
    </dgm:pt>
    <dgm:pt modelId="{5D876CA1-1525-49B3-A202-CAE7FF2EC988}" type="sibTrans" cxnId="{D8C48FBD-BAA6-4E90-B9AB-E3F9D0DF27F9}">
      <dgm:prSet/>
      <dgm:spPr/>
      <dgm:t>
        <a:bodyPr/>
        <a:lstStyle/>
        <a:p>
          <a:endParaRPr lang="en-US"/>
        </a:p>
      </dgm:t>
    </dgm:pt>
    <dgm:pt modelId="{6201104B-A197-4243-A1D2-FEB5DF041093}">
      <dgm:prSet phldrT="[Text]"/>
      <dgm:spPr>
        <a:solidFill>
          <a:schemeClr val="bg2">
            <a:lumMod val="90000"/>
          </a:schemeClr>
        </a:solidFill>
      </dgm:spPr>
      <dgm:t>
        <a:bodyPr/>
        <a:lstStyle/>
        <a:p>
          <a:pPr algn="l"/>
          <a:r>
            <a:rPr lang="en-US" b="1" dirty="0">
              <a:solidFill>
                <a:schemeClr val="tx1"/>
              </a:solidFill>
            </a:rPr>
            <a:t>Economic</a:t>
          </a:r>
          <a:r>
            <a:rPr lang="en-US" dirty="0">
              <a:solidFill>
                <a:schemeClr val="tx1"/>
              </a:solidFill>
            </a:rPr>
            <a:t> – A drive for return on investment.</a:t>
          </a:r>
        </a:p>
      </dgm:t>
    </dgm:pt>
    <dgm:pt modelId="{A7548886-EB1C-46C6-9E2C-45249B3F27B3}" type="parTrans" cxnId="{F10D9C9E-FCDA-4342-8780-4BBC6ABEF8F2}">
      <dgm:prSet/>
      <dgm:spPr/>
      <dgm:t>
        <a:bodyPr/>
        <a:lstStyle/>
        <a:p>
          <a:endParaRPr lang="en-US"/>
        </a:p>
      </dgm:t>
    </dgm:pt>
    <dgm:pt modelId="{F4E94A19-BCCB-4DCB-8BA4-44FA19DD4445}" type="sibTrans" cxnId="{F10D9C9E-FCDA-4342-8780-4BBC6ABEF8F2}">
      <dgm:prSet/>
      <dgm:spPr/>
      <dgm:t>
        <a:bodyPr/>
        <a:lstStyle/>
        <a:p>
          <a:endParaRPr lang="en-US"/>
        </a:p>
      </dgm:t>
    </dgm:pt>
    <dgm:pt modelId="{964B4F2B-3C40-4302-AF4F-D0660D44FB97}">
      <dgm:prSet phldrT="[Text]"/>
      <dgm:spPr>
        <a:solidFill>
          <a:schemeClr val="bg2">
            <a:lumMod val="90000"/>
          </a:schemeClr>
        </a:solidFill>
      </dgm:spPr>
      <dgm:t>
        <a:bodyPr/>
        <a:lstStyle/>
        <a:p>
          <a:pPr algn="l"/>
          <a:r>
            <a:rPr lang="en-US" b="1" dirty="0">
              <a:solidFill>
                <a:schemeClr val="tx1"/>
              </a:solidFill>
            </a:rPr>
            <a:t>Individualistic</a:t>
          </a:r>
          <a:r>
            <a:rPr lang="en-US" dirty="0">
              <a:solidFill>
                <a:schemeClr val="tx1"/>
              </a:solidFill>
            </a:rPr>
            <a:t> – A drive to stand out as independent and unique.</a:t>
          </a:r>
        </a:p>
      </dgm:t>
    </dgm:pt>
    <dgm:pt modelId="{F1629F48-20AD-4A2E-B71C-367063CB7903}" type="parTrans" cxnId="{71DEE4DC-942E-4D55-9357-F283B270A8BB}">
      <dgm:prSet/>
      <dgm:spPr/>
      <dgm:t>
        <a:bodyPr/>
        <a:lstStyle/>
        <a:p>
          <a:endParaRPr lang="en-US"/>
        </a:p>
      </dgm:t>
    </dgm:pt>
    <dgm:pt modelId="{B38A1095-1A6D-46D2-8BA5-3101FFFE447E}" type="sibTrans" cxnId="{71DEE4DC-942E-4D55-9357-F283B270A8BB}">
      <dgm:prSet/>
      <dgm:spPr/>
      <dgm:t>
        <a:bodyPr/>
        <a:lstStyle/>
        <a:p>
          <a:endParaRPr lang="en-US"/>
        </a:p>
      </dgm:t>
    </dgm:pt>
    <dgm:pt modelId="{55BDAE56-5940-45D6-8853-260BC41943A4}">
      <dgm:prSet/>
      <dgm:spPr>
        <a:solidFill>
          <a:schemeClr val="bg2">
            <a:lumMod val="90000"/>
          </a:schemeClr>
        </a:solidFill>
      </dgm:spPr>
      <dgm:t>
        <a:bodyPr/>
        <a:lstStyle/>
        <a:p>
          <a:pPr algn="l"/>
          <a:r>
            <a:rPr lang="en-US" b="1" dirty="0">
              <a:solidFill>
                <a:schemeClr val="tx1"/>
              </a:solidFill>
            </a:rPr>
            <a:t>Power</a:t>
          </a:r>
          <a:r>
            <a:rPr lang="en-US" dirty="0">
              <a:solidFill>
                <a:schemeClr val="tx1"/>
              </a:solidFill>
            </a:rPr>
            <a:t> – A drive to be in control or have influence.</a:t>
          </a:r>
        </a:p>
      </dgm:t>
    </dgm:pt>
    <dgm:pt modelId="{1A1179B2-904E-4B4B-AF01-455E629F1E7B}" type="parTrans" cxnId="{32033C9B-9831-4A76-B59A-A1960CFE1C7C}">
      <dgm:prSet/>
      <dgm:spPr/>
      <dgm:t>
        <a:bodyPr/>
        <a:lstStyle/>
        <a:p>
          <a:endParaRPr lang="en-US"/>
        </a:p>
      </dgm:t>
    </dgm:pt>
    <dgm:pt modelId="{59B4EBD0-26A0-427E-9C97-5C51495344D0}" type="sibTrans" cxnId="{32033C9B-9831-4A76-B59A-A1960CFE1C7C}">
      <dgm:prSet/>
      <dgm:spPr/>
      <dgm:t>
        <a:bodyPr/>
        <a:lstStyle/>
        <a:p>
          <a:endParaRPr lang="en-US"/>
        </a:p>
      </dgm:t>
    </dgm:pt>
    <dgm:pt modelId="{9D461B93-4A90-418A-ACA6-3D084F5D54F2}">
      <dgm:prSet/>
      <dgm:spPr>
        <a:solidFill>
          <a:schemeClr val="bg2">
            <a:lumMod val="90000"/>
          </a:schemeClr>
        </a:solidFill>
      </dgm:spPr>
      <dgm:t>
        <a:bodyPr/>
        <a:lstStyle/>
        <a:p>
          <a:pPr algn="l"/>
          <a:r>
            <a:rPr lang="en-US" b="1" dirty="0">
              <a:solidFill>
                <a:schemeClr val="tx1"/>
              </a:solidFill>
            </a:rPr>
            <a:t>Altruistic</a:t>
          </a:r>
          <a:r>
            <a:rPr lang="en-US" dirty="0">
              <a:solidFill>
                <a:schemeClr val="tx1"/>
              </a:solidFill>
            </a:rPr>
            <a:t> – A drive to help others at the expense of self.</a:t>
          </a:r>
        </a:p>
      </dgm:t>
    </dgm:pt>
    <dgm:pt modelId="{553C6D07-E551-400E-A5F6-9333CE420FC8}" type="parTrans" cxnId="{3E1AC95D-3A38-4839-8397-9912713E9EE3}">
      <dgm:prSet/>
      <dgm:spPr/>
      <dgm:t>
        <a:bodyPr/>
        <a:lstStyle/>
        <a:p>
          <a:endParaRPr lang="en-US"/>
        </a:p>
      </dgm:t>
    </dgm:pt>
    <dgm:pt modelId="{8CD5C0E5-5543-4853-84B2-539A1E8B8496}" type="sibTrans" cxnId="{3E1AC95D-3A38-4839-8397-9912713E9EE3}">
      <dgm:prSet/>
      <dgm:spPr/>
      <dgm:t>
        <a:bodyPr/>
        <a:lstStyle/>
        <a:p>
          <a:endParaRPr lang="en-US"/>
        </a:p>
      </dgm:t>
    </dgm:pt>
    <dgm:pt modelId="{1D9679DE-26B6-435C-8879-5C1872E99279}">
      <dgm:prSet/>
      <dgm:spPr>
        <a:solidFill>
          <a:schemeClr val="bg2">
            <a:lumMod val="90000"/>
          </a:schemeClr>
        </a:solidFill>
      </dgm:spPr>
      <dgm:t>
        <a:bodyPr/>
        <a:lstStyle/>
        <a:p>
          <a:pPr algn="l"/>
          <a:r>
            <a:rPr lang="en-US" b="1" dirty="0">
              <a:solidFill>
                <a:schemeClr val="tx1"/>
              </a:solidFill>
            </a:rPr>
            <a:t>Regulatory</a:t>
          </a:r>
          <a:r>
            <a:rPr lang="en-US" dirty="0">
              <a:solidFill>
                <a:schemeClr val="tx1"/>
              </a:solidFill>
            </a:rPr>
            <a:t> – A drive to establish order, routine and structure.</a:t>
          </a:r>
        </a:p>
      </dgm:t>
    </dgm:pt>
    <dgm:pt modelId="{6FC0A9D0-0D95-4EEA-B9B4-0F575F289E9A}" type="parTrans" cxnId="{DE3F668B-3E49-40B2-AEC3-2A59D741C26E}">
      <dgm:prSet/>
      <dgm:spPr/>
      <dgm:t>
        <a:bodyPr/>
        <a:lstStyle/>
        <a:p>
          <a:endParaRPr lang="en-US"/>
        </a:p>
      </dgm:t>
    </dgm:pt>
    <dgm:pt modelId="{1BF5744B-7AC0-4DB6-8468-C548B64AFABA}" type="sibTrans" cxnId="{DE3F668B-3E49-40B2-AEC3-2A59D741C26E}">
      <dgm:prSet/>
      <dgm:spPr/>
      <dgm:t>
        <a:bodyPr/>
        <a:lstStyle/>
        <a:p>
          <a:endParaRPr lang="en-US"/>
        </a:p>
      </dgm:t>
    </dgm:pt>
    <dgm:pt modelId="{03AFDAA9-7142-4D54-BF1B-582FC016007A}">
      <dgm:prSet/>
      <dgm:spPr>
        <a:solidFill>
          <a:schemeClr val="bg2">
            <a:lumMod val="90000"/>
          </a:schemeClr>
        </a:solidFill>
      </dgm:spPr>
      <dgm:t>
        <a:bodyPr/>
        <a:lstStyle/>
        <a:p>
          <a:pPr algn="l"/>
          <a:r>
            <a:rPr lang="en-US" b="1" dirty="0">
              <a:solidFill>
                <a:schemeClr val="tx1"/>
              </a:solidFill>
            </a:rPr>
            <a:t>Theoretical</a:t>
          </a:r>
          <a:r>
            <a:rPr lang="en-US" dirty="0">
              <a:solidFill>
                <a:schemeClr val="tx1"/>
              </a:solidFill>
            </a:rPr>
            <a:t> – A drive for knowledge learning, and understanding.</a:t>
          </a:r>
        </a:p>
      </dgm:t>
    </dgm:pt>
    <dgm:pt modelId="{DFFDF338-B502-4C39-A012-D7F81F2BDD8C}" type="parTrans" cxnId="{82FA88D2-A595-4565-B65F-6FBE4539363A}">
      <dgm:prSet/>
      <dgm:spPr/>
      <dgm:t>
        <a:bodyPr/>
        <a:lstStyle/>
        <a:p>
          <a:endParaRPr lang="en-US"/>
        </a:p>
      </dgm:t>
    </dgm:pt>
    <dgm:pt modelId="{14415131-15CF-4D49-B65E-54C3325CDD13}" type="sibTrans" cxnId="{82FA88D2-A595-4565-B65F-6FBE4539363A}">
      <dgm:prSet/>
      <dgm:spPr/>
      <dgm:t>
        <a:bodyPr/>
        <a:lstStyle/>
        <a:p>
          <a:endParaRPr lang="en-US"/>
        </a:p>
      </dgm:t>
    </dgm:pt>
    <dgm:pt modelId="{F17676AF-EDE1-4F65-A852-2322537F9A45}" type="pres">
      <dgm:prSet presAssocID="{A1ED7399-1F38-40D4-9C79-0C7262004E56}" presName="linearFlow" presStyleCnt="0">
        <dgm:presLayoutVars>
          <dgm:dir/>
          <dgm:resizeHandles val="exact"/>
        </dgm:presLayoutVars>
      </dgm:prSet>
      <dgm:spPr/>
    </dgm:pt>
    <dgm:pt modelId="{489EA7BD-71F2-458C-A437-956893D1CF47}" type="pres">
      <dgm:prSet presAssocID="{DE75D054-44A0-4CEC-AA1A-A2B688E76A23}" presName="composite" presStyleCnt="0"/>
      <dgm:spPr/>
    </dgm:pt>
    <dgm:pt modelId="{123DDAAA-78ED-4531-A978-62B9B97EE43F}" type="pres">
      <dgm:prSet presAssocID="{DE75D054-44A0-4CEC-AA1A-A2B688E76A23}" presName="imgShp" presStyleLbl="fgImgPlace1" presStyleIdx="0" presStyleCnt="7" custLinFactNeighborY="-2532"/>
      <dgm:spPr>
        <a:solidFill>
          <a:srgbClr val="82D201"/>
        </a:solidFill>
      </dgm:spPr>
    </dgm:pt>
    <dgm:pt modelId="{DA6EF85D-BAE2-4DC5-B02E-35BB37BE25EB}" type="pres">
      <dgm:prSet presAssocID="{DE75D054-44A0-4CEC-AA1A-A2B688E76A23}" presName="txShp" presStyleLbl="node1" presStyleIdx="0" presStyleCnt="7">
        <dgm:presLayoutVars>
          <dgm:bulletEnabled val="1"/>
        </dgm:presLayoutVars>
      </dgm:prSet>
      <dgm:spPr/>
    </dgm:pt>
    <dgm:pt modelId="{73CC57F6-B105-4CC4-9918-8DD0EE801AA8}" type="pres">
      <dgm:prSet presAssocID="{5D876CA1-1525-49B3-A202-CAE7FF2EC988}" presName="spacing" presStyleCnt="0"/>
      <dgm:spPr/>
    </dgm:pt>
    <dgm:pt modelId="{189FFECD-BF62-4A66-AB40-5EC42E2EA8C7}" type="pres">
      <dgm:prSet presAssocID="{6201104B-A197-4243-A1D2-FEB5DF041093}" presName="composite" presStyleCnt="0"/>
      <dgm:spPr/>
    </dgm:pt>
    <dgm:pt modelId="{C57FF979-8FDD-4AE0-846C-5622A32450D8}" type="pres">
      <dgm:prSet presAssocID="{6201104B-A197-4243-A1D2-FEB5DF041093}" presName="imgShp" presStyleLbl="fgImgPlace1" presStyleIdx="1" presStyleCnt="7"/>
      <dgm:spPr>
        <a:solidFill>
          <a:srgbClr val="010066"/>
        </a:solidFill>
      </dgm:spPr>
    </dgm:pt>
    <dgm:pt modelId="{7DE1D331-E999-45B6-A5FC-2D0264E979E3}" type="pres">
      <dgm:prSet presAssocID="{6201104B-A197-4243-A1D2-FEB5DF041093}" presName="txShp" presStyleLbl="node1" presStyleIdx="1" presStyleCnt="7">
        <dgm:presLayoutVars>
          <dgm:bulletEnabled val="1"/>
        </dgm:presLayoutVars>
      </dgm:prSet>
      <dgm:spPr/>
    </dgm:pt>
    <dgm:pt modelId="{3ECAFD29-1BA9-467E-AC87-92C26A8692F1}" type="pres">
      <dgm:prSet presAssocID="{F4E94A19-BCCB-4DCB-8BA4-44FA19DD4445}" presName="spacing" presStyleCnt="0"/>
      <dgm:spPr/>
    </dgm:pt>
    <dgm:pt modelId="{9BB16385-98AF-46B2-AD06-356B13F08AC4}" type="pres">
      <dgm:prSet presAssocID="{964B4F2B-3C40-4302-AF4F-D0660D44FB97}" presName="composite" presStyleCnt="0"/>
      <dgm:spPr/>
    </dgm:pt>
    <dgm:pt modelId="{CD56F18C-5811-4700-B7D6-B99EB3140F35}" type="pres">
      <dgm:prSet presAssocID="{964B4F2B-3C40-4302-AF4F-D0660D44FB97}" presName="imgShp" presStyleLbl="fgImgPlace1" presStyleIdx="2" presStyleCnt="7"/>
      <dgm:spPr>
        <a:solidFill>
          <a:srgbClr val="FF6634"/>
        </a:solidFill>
      </dgm:spPr>
    </dgm:pt>
    <dgm:pt modelId="{967D44AB-51F4-4637-B2D0-1B6298FCB749}" type="pres">
      <dgm:prSet presAssocID="{964B4F2B-3C40-4302-AF4F-D0660D44FB97}" presName="txShp" presStyleLbl="node1" presStyleIdx="2" presStyleCnt="7">
        <dgm:presLayoutVars>
          <dgm:bulletEnabled val="1"/>
        </dgm:presLayoutVars>
      </dgm:prSet>
      <dgm:spPr/>
    </dgm:pt>
    <dgm:pt modelId="{4E763577-265B-4EAB-8DF5-4147BAAE88F6}" type="pres">
      <dgm:prSet presAssocID="{B38A1095-1A6D-46D2-8BA5-3101FFFE447E}" presName="spacing" presStyleCnt="0"/>
      <dgm:spPr/>
    </dgm:pt>
    <dgm:pt modelId="{A06DBBEC-0E8C-468A-90AA-5A4316268F9E}" type="pres">
      <dgm:prSet presAssocID="{55BDAE56-5940-45D6-8853-260BC41943A4}" presName="composite" presStyleCnt="0"/>
      <dgm:spPr/>
    </dgm:pt>
    <dgm:pt modelId="{ADF4C5D2-2588-4F1D-A41C-400277FB687D}" type="pres">
      <dgm:prSet presAssocID="{55BDAE56-5940-45D6-8853-260BC41943A4}" presName="imgShp" presStyleLbl="fgImgPlace1" presStyleIdx="3" presStyleCnt="7"/>
      <dgm:spPr>
        <a:solidFill>
          <a:srgbClr val="FB0102"/>
        </a:solidFill>
      </dgm:spPr>
    </dgm:pt>
    <dgm:pt modelId="{C29C44BC-3063-4F66-ADAA-6C5ED92D6C0A}" type="pres">
      <dgm:prSet presAssocID="{55BDAE56-5940-45D6-8853-260BC41943A4}" presName="txShp" presStyleLbl="node1" presStyleIdx="3" presStyleCnt="7">
        <dgm:presLayoutVars>
          <dgm:bulletEnabled val="1"/>
        </dgm:presLayoutVars>
      </dgm:prSet>
      <dgm:spPr/>
    </dgm:pt>
    <dgm:pt modelId="{327610FD-7CD6-49EC-A041-A437CDCCCD6F}" type="pres">
      <dgm:prSet presAssocID="{59B4EBD0-26A0-427E-9C97-5C51495344D0}" presName="spacing" presStyleCnt="0"/>
      <dgm:spPr/>
    </dgm:pt>
    <dgm:pt modelId="{9D10E35B-E894-4E7E-B1D7-17CC5EBF922B}" type="pres">
      <dgm:prSet presAssocID="{9D461B93-4A90-418A-ACA6-3D084F5D54F2}" presName="composite" presStyleCnt="0"/>
      <dgm:spPr/>
    </dgm:pt>
    <dgm:pt modelId="{BA77C234-1EA3-4C2E-B236-EBEB2900B2E1}" type="pres">
      <dgm:prSet presAssocID="{9D461B93-4A90-418A-ACA6-3D084F5D54F2}" presName="imgShp" presStyleLbl="fgImgPlace1" presStyleIdx="4" presStyleCnt="7"/>
      <dgm:spPr>
        <a:solidFill>
          <a:srgbClr val="FCCB0F"/>
        </a:solidFill>
      </dgm:spPr>
    </dgm:pt>
    <dgm:pt modelId="{EF4CC7DC-EE97-4767-8086-F4626F82D364}" type="pres">
      <dgm:prSet presAssocID="{9D461B93-4A90-418A-ACA6-3D084F5D54F2}" presName="txShp" presStyleLbl="node1" presStyleIdx="4" presStyleCnt="7">
        <dgm:presLayoutVars>
          <dgm:bulletEnabled val="1"/>
        </dgm:presLayoutVars>
      </dgm:prSet>
      <dgm:spPr/>
    </dgm:pt>
    <dgm:pt modelId="{45A516C7-0497-4407-8862-DDF92719EF64}" type="pres">
      <dgm:prSet presAssocID="{8CD5C0E5-5543-4853-84B2-539A1E8B8496}" presName="spacing" presStyleCnt="0"/>
      <dgm:spPr/>
    </dgm:pt>
    <dgm:pt modelId="{5D870528-F7BC-4A81-884C-5F786C793841}" type="pres">
      <dgm:prSet presAssocID="{1D9679DE-26B6-435C-8879-5C1872E99279}" presName="composite" presStyleCnt="0"/>
      <dgm:spPr/>
    </dgm:pt>
    <dgm:pt modelId="{20A8D3A9-06DA-410A-8BBF-9E576B6DF94B}" type="pres">
      <dgm:prSet presAssocID="{1D9679DE-26B6-435C-8879-5C1872E99279}" presName="imgShp" presStyleLbl="fgImgPlace1" presStyleIdx="5" presStyleCnt="7"/>
      <dgm:spPr>
        <a:solidFill>
          <a:srgbClr val="060606"/>
        </a:solidFill>
      </dgm:spPr>
    </dgm:pt>
    <dgm:pt modelId="{A6684ED6-1F07-4593-84DE-2105224A10C5}" type="pres">
      <dgm:prSet presAssocID="{1D9679DE-26B6-435C-8879-5C1872E99279}" presName="txShp" presStyleLbl="node1" presStyleIdx="5" presStyleCnt="7">
        <dgm:presLayoutVars>
          <dgm:bulletEnabled val="1"/>
        </dgm:presLayoutVars>
      </dgm:prSet>
      <dgm:spPr/>
    </dgm:pt>
    <dgm:pt modelId="{C9D8FF97-F38E-41A3-88DE-24D41704D39B}" type="pres">
      <dgm:prSet presAssocID="{1BF5744B-7AC0-4DB6-8468-C548B64AFABA}" presName="spacing" presStyleCnt="0"/>
      <dgm:spPr/>
    </dgm:pt>
    <dgm:pt modelId="{DBA78BD4-1AD0-4A9C-B69A-C9BCA949A11C}" type="pres">
      <dgm:prSet presAssocID="{03AFDAA9-7142-4D54-BF1B-582FC016007A}" presName="composite" presStyleCnt="0"/>
      <dgm:spPr/>
    </dgm:pt>
    <dgm:pt modelId="{CD77FAF4-D90C-44E3-923C-DD04295E7716}" type="pres">
      <dgm:prSet presAssocID="{03AFDAA9-7142-4D54-BF1B-582FC016007A}" presName="imgShp" presStyleLbl="fgImgPlace1" presStyleIdx="6" presStyleCnt="7"/>
      <dgm:spPr>
        <a:solidFill>
          <a:srgbClr val="723904"/>
        </a:solidFill>
      </dgm:spPr>
    </dgm:pt>
    <dgm:pt modelId="{ABEC49CE-3EB2-4027-87B1-C908C86EB733}" type="pres">
      <dgm:prSet presAssocID="{03AFDAA9-7142-4D54-BF1B-582FC016007A}" presName="txShp" presStyleLbl="node1" presStyleIdx="6" presStyleCnt="7">
        <dgm:presLayoutVars>
          <dgm:bulletEnabled val="1"/>
        </dgm:presLayoutVars>
      </dgm:prSet>
      <dgm:spPr/>
    </dgm:pt>
  </dgm:ptLst>
  <dgm:cxnLst>
    <dgm:cxn modelId="{49B41906-BC5A-4639-98A0-467843902B8C}" type="presOf" srcId="{55BDAE56-5940-45D6-8853-260BC41943A4}" destId="{C29C44BC-3063-4F66-ADAA-6C5ED92D6C0A}" srcOrd="0" destOrd="0" presId="urn:microsoft.com/office/officeart/2005/8/layout/vList3"/>
    <dgm:cxn modelId="{E31E750E-5389-45C9-AF4F-366E578A39F0}" type="presOf" srcId="{6201104B-A197-4243-A1D2-FEB5DF041093}" destId="{7DE1D331-E999-45B6-A5FC-2D0264E979E3}" srcOrd="0" destOrd="0" presId="urn:microsoft.com/office/officeart/2005/8/layout/vList3"/>
    <dgm:cxn modelId="{FF41E32C-3519-4574-8F26-643C04BFEC50}" type="presOf" srcId="{1D9679DE-26B6-435C-8879-5C1872E99279}" destId="{A6684ED6-1F07-4593-84DE-2105224A10C5}" srcOrd="0" destOrd="0" presId="urn:microsoft.com/office/officeart/2005/8/layout/vList3"/>
    <dgm:cxn modelId="{1E794C3C-68BA-4642-BFBF-E5D5CE520294}" type="presOf" srcId="{DE75D054-44A0-4CEC-AA1A-A2B688E76A23}" destId="{DA6EF85D-BAE2-4DC5-B02E-35BB37BE25EB}" srcOrd="0" destOrd="0" presId="urn:microsoft.com/office/officeart/2005/8/layout/vList3"/>
    <dgm:cxn modelId="{3E1AC95D-3A38-4839-8397-9912713E9EE3}" srcId="{A1ED7399-1F38-40D4-9C79-0C7262004E56}" destId="{9D461B93-4A90-418A-ACA6-3D084F5D54F2}" srcOrd="4" destOrd="0" parTransId="{553C6D07-E551-400E-A5F6-9333CE420FC8}" sibTransId="{8CD5C0E5-5543-4853-84B2-539A1E8B8496}"/>
    <dgm:cxn modelId="{B37C636D-BDB0-4D87-BDBE-E5013CAA56F7}" type="presOf" srcId="{A1ED7399-1F38-40D4-9C79-0C7262004E56}" destId="{F17676AF-EDE1-4F65-A852-2322537F9A45}" srcOrd="0" destOrd="0" presId="urn:microsoft.com/office/officeart/2005/8/layout/vList3"/>
    <dgm:cxn modelId="{DE3F668B-3E49-40B2-AEC3-2A59D741C26E}" srcId="{A1ED7399-1F38-40D4-9C79-0C7262004E56}" destId="{1D9679DE-26B6-435C-8879-5C1872E99279}" srcOrd="5" destOrd="0" parTransId="{6FC0A9D0-0D95-4EEA-B9B4-0F575F289E9A}" sibTransId="{1BF5744B-7AC0-4DB6-8468-C548B64AFABA}"/>
    <dgm:cxn modelId="{32033C9B-9831-4A76-B59A-A1960CFE1C7C}" srcId="{A1ED7399-1F38-40D4-9C79-0C7262004E56}" destId="{55BDAE56-5940-45D6-8853-260BC41943A4}" srcOrd="3" destOrd="0" parTransId="{1A1179B2-904E-4B4B-AF01-455E629F1E7B}" sibTransId="{59B4EBD0-26A0-427E-9C97-5C51495344D0}"/>
    <dgm:cxn modelId="{F10D9C9E-FCDA-4342-8780-4BBC6ABEF8F2}" srcId="{A1ED7399-1F38-40D4-9C79-0C7262004E56}" destId="{6201104B-A197-4243-A1D2-FEB5DF041093}" srcOrd="1" destOrd="0" parTransId="{A7548886-EB1C-46C6-9E2C-45249B3F27B3}" sibTransId="{F4E94A19-BCCB-4DCB-8BA4-44FA19DD4445}"/>
    <dgm:cxn modelId="{D5886ABD-AC4E-40D0-870E-AE3DBEF7624D}" type="presOf" srcId="{03AFDAA9-7142-4D54-BF1B-582FC016007A}" destId="{ABEC49CE-3EB2-4027-87B1-C908C86EB733}" srcOrd="0" destOrd="0" presId="urn:microsoft.com/office/officeart/2005/8/layout/vList3"/>
    <dgm:cxn modelId="{D8C48FBD-BAA6-4E90-B9AB-E3F9D0DF27F9}" srcId="{A1ED7399-1F38-40D4-9C79-0C7262004E56}" destId="{DE75D054-44A0-4CEC-AA1A-A2B688E76A23}" srcOrd="0" destOrd="0" parTransId="{774AC869-EA32-4E47-B01E-346B651953A2}" sibTransId="{5D876CA1-1525-49B3-A202-CAE7FF2EC988}"/>
    <dgm:cxn modelId="{45B5A2C0-8736-4CF9-847E-A843EAB071C9}" type="presOf" srcId="{964B4F2B-3C40-4302-AF4F-D0660D44FB97}" destId="{967D44AB-51F4-4637-B2D0-1B6298FCB749}" srcOrd="0" destOrd="0" presId="urn:microsoft.com/office/officeart/2005/8/layout/vList3"/>
    <dgm:cxn modelId="{82FA88D2-A595-4565-B65F-6FBE4539363A}" srcId="{A1ED7399-1F38-40D4-9C79-0C7262004E56}" destId="{03AFDAA9-7142-4D54-BF1B-582FC016007A}" srcOrd="6" destOrd="0" parTransId="{DFFDF338-B502-4C39-A012-D7F81F2BDD8C}" sibTransId="{14415131-15CF-4D49-B65E-54C3325CDD13}"/>
    <dgm:cxn modelId="{71DEE4DC-942E-4D55-9357-F283B270A8BB}" srcId="{A1ED7399-1F38-40D4-9C79-0C7262004E56}" destId="{964B4F2B-3C40-4302-AF4F-D0660D44FB97}" srcOrd="2" destOrd="0" parTransId="{F1629F48-20AD-4A2E-B71C-367063CB7903}" sibTransId="{B38A1095-1A6D-46D2-8BA5-3101FFFE447E}"/>
    <dgm:cxn modelId="{3F3D3EF2-BB27-4F5E-AF5F-868EC1D6FB9F}" type="presOf" srcId="{9D461B93-4A90-418A-ACA6-3D084F5D54F2}" destId="{EF4CC7DC-EE97-4767-8086-F4626F82D364}" srcOrd="0" destOrd="0" presId="urn:microsoft.com/office/officeart/2005/8/layout/vList3"/>
    <dgm:cxn modelId="{71CFA2E6-4D24-42B4-B075-9AE38C45EBD1}" type="presParOf" srcId="{F17676AF-EDE1-4F65-A852-2322537F9A45}" destId="{489EA7BD-71F2-458C-A437-956893D1CF47}" srcOrd="0" destOrd="0" presId="urn:microsoft.com/office/officeart/2005/8/layout/vList3"/>
    <dgm:cxn modelId="{AE40CAFE-A843-46DA-923A-536F2ECC8FC4}" type="presParOf" srcId="{489EA7BD-71F2-458C-A437-956893D1CF47}" destId="{123DDAAA-78ED-4531-A978-62B9B97EE43F}" srcOrd="0" destOrd="0" presId="urn:microsoft.com/office/officeart/2005/8/layout/vList3"/>
    <dgm:cxn modelId="{DC8B3EEF-D080-449E-AAF7-826F06B2C508}" type="presParOf" srcId="{489EA7BD-71F2-458C-A437-956893D1CF47}" destId="{DA6EF85D-BAE2-4DC5-B02E-35BB37BE25EB}" srcOrd="1" destOrd="0" presId="urn:microsoft.com/office/officeart/2005/8/layout/vList3"/>
    <dgm:cxn modelId="{235BFF12-3E71-4667-9B80-239C2AB9A8DD}" type="presParOf" srcId="{F17676AF-EDE1-4F65-A852-2322537F9A45}" destId="{73CC57F6-B105-4CC4-9918-8DD0EE801AA8}" srcOrd="1" destOrd="0" presId="urn:microsoft.com/office/officeart/2005/8/layout/vList3"/>
    <dgm:cxn modelId="{B24C2A4F-D647-4B1D-A8D3-6B4BFE5589EC}" type="presParOf" srcId="{F17676AF-EDE1-4F65-A852-2322537F9A45}" destId="{189FFECD-BF62-4A66-AB40-5EC42E2EA8C7}" srcOrd="2" destOrd="0" presId="urn:microsoft.com/office/officeart/2005/8/layout/vList3"/>
    <dgm:cxn modelId="{C31C9417-923B-46C3-921D-582EB921F130}" type="presParOf" srcId="{189FFECD-BF62-4A66-AB40-5EC42E2EA8C7}" destId="{C57FF979-8FDD-4AE0-846C-5622A32450D8}" srcOrd="0" destOrd="0" presId="urn:microsoft.com/office/officeart/2005/8/layout/vList3"/>
    <dgm:cxn modelId="{76378E21-B6CC-4563-81EB-4E4A83A31639}" type="presParOf" srcId="{189FFECD-BF62-4A66-AB40-5EC42E2EA8C7}" destId="{7DE1D331-E999-45B6-A5FC-2D0264E979E3}" srcOrd="1" destOrd="0" presId="urn:microsoft.com/office/officeart/2005/8/layout/vList3"/>
    <dgm:cxn modelId="{F8F14C57-CAD3-4763-81AC-27350252CAD9}" type="presParOf" srcId="{F17676AF-EDE1-4F65-A852-2322537F9A45}" destId="{3ECAFD29-1BA9-467E-AC87-92C26A8692F1}" srcOrd="3" destOrd="0" presId="urn:microsoft.com/office/officeart/2005/8/layout/vList3"/>
    <dgm:cxn modelId="{9F26E156-3817-4400-BDF0-65C4764111AC}" type="presParOf" srcId="{F17676AF-EDE1-4F65-A852-2322537F9A45}" destId="{9BB16385-98AF-46B2-AD06-356B13F08AC4}" srcOrd="4" destOrd="0" presId="urn:microsoft.com/office/officeart/2005/8/layout/vList3"/>
    <dgm:cxn modelId="{5B6B6C5B-3CE1-43DB-B1DF-FFCF958C9ABD}" type="presParOf" srcId="{9BB16385-98AF-46B2-AD06-356B13F08AC4}" destId="{CD56F18C-5811-4700-B7D6-B99EB3140F35}" srcOrd="0" destOrd="0" presId="urn:microsoft.com/office/officeart/2005/8/layout/vList3"/>
    <dgm:cxn modelId="{1807E3C4-20DE-4451-96F6-B89E09AF2E88}" type="presParOf" srcId="{9BB16385-98AF-46B2-AD06-356B13F08AC4}" destId="{967D44AB-51F4-4637-B2D0-1B6298FCB749}" srcOrd="1" destOrd="0" presId="urn:microsoft.com/office/officeart/2005/8/layout/vList3"/>
    <dgm:cxn modelId="{F1438632-7F2F-4CD2-8856-C8B5F2F5FBA4}" type="presParOf" srcId="{F17676AF-EDE1-4F65-A852-2322537F9A45}" destId="{4E763577-265B-4EAB-8DF5-4147BAAE88F6}" srcOrd="5" destOrd="0" presId="urn:microsoft.com/office/officeart/2005/8/layout/vList3"/>
    <dgm:cxn modelId="{1D548479-DA62-4967-B70C-EE6B7D92C0D4}" type="presParOf" srcId="{F17676AF-EDE1-4F65-A852-2322537F9A45}" destId="{A06DBBEC-0E8C-468A-90AA-5A4316268F9E}" srcOrd="6" destOrd="0" presId="urn:microsoft.com/office/officeart/2005/8/layout/vList3"/>
    <dgm:cxn modelId="{742F1403-D589-4AA9-A1C4-0E671EF21CC6}" type="presParOf" srcId="{A06DBBEC-0E8C-468A-90AA-5A4316268F9E}" destId="{ADF4C5D2-2588-4F1D-A41C-400277FB687D}" srcOrd="0" destOrd="0" presId="urn:microsoft.com/office/officeart/2005/8/layout/vList3"/>
    <dgm:cxn modelId="{3C9D30D8-1AEF-430E-AE05-560CDE21D625}" type="presParOf" srcId="{A06DBBEC-0E8C-468A-90AA-5A4316268F9E}" destId="{C29C44BC-3063-4F66-ADAA-6C5ED92D6C0A}" srcOrd="1" destOrd="0" presId="urn:microsoft.com/office/officeart/2005/8/layout/vList3"/>
    <dgm:cxn modelId="{407626D7-AF79-469E-B654-0B900436026A}" type="presParOf" srcId="{F17676AF-EDE1-4F65-A852-2322537F9A45}" destId="{327610FD-7CD6-49EC-A041-A437CDCCCD6F}" srcOrd="7" destOrd="0" presId="urn:microsoft.com/office/officeart/2005/8/layout/vList3"/>
    <dgm:cxn modelId="{A104332F-C247-4AF6-BA0A-480BED9697A6}" type="presParOf" srcId="{F17676AF-EDE1-4F65-A852-2322537F9A45}" destId="{9D10E35B-E894-4E7E-B1D7-17CC5EBF922B}" srcOrd="8" destOrd="0" presId="urn:microsoft.com/office/officeart/2005/8/layout/vList3"/>
    <dgm:cxn modelId="{48F492FB-1F47-4C6F-830F-77A8C1FDDF0E}" type="presParOf" srcId="{9D10E35B-E894-4E7E-B1D7-17CC5EBF922B}" destId="{BA77C234-1EA3-4C2E-B236-EBEB2900B2E1}" srcOrd="0" destOrd="0" presId="urn:microsoft.com/office/officeart/2005/8/layout/vList3"/>
    <dgm:cxn modelId="{35B7C203-7366-496C-8BDA-BCF263426DE8}" type="presParOf" srcId="{9D10E35B-E894-4E7E-B1D7-17CC5EBF922B}" destId="{EF4CC7DC-EE97-4767-8086-F4626F82D364}" srcOrd="1" destOrd="0" presId="urn:microsoft.com/office/officeart/2005/8/layout/vList3"/>
    <dgm:cxn modelId="{C0ED4669-0991-4F0C-A54B-DEA0C1EF4B90}" type="presParOf" srcId="{F17676AF-EDE1-4F65-A852-2322537F9A45}" destId="{45A516C7-0497-4407-8862-DDF92719EF64}" srcOrd="9" destOrd="0" presId="urn:microsoft.com/office/officeart/2005/8/layout/vList3"/>
    <dgm:cxn modelId="{2EE0841D-CAFF-481D-AA55-75CC6B6FC3A6}" type="presParOf" srcId="{F17676AF-EDE1-4F65-A852-2322537F9A45}" destId="{5D870528-F7BC-4A81-884C-5F786C793841}" srcOrd="10" destOrd="0" presId="urn:microsoft.com/office/officeart/2005/8/layout/vList3"/>
    <dgm:cxn modelId="{4A51CE50-29BF-4B41-98B3-3CDA887740B1}" type="presParOf" srcId="{5D870528-F7BC-4A81-884C-5F786C793841}" destId="{20A8D3A9-06DA-410A-8BBF-9E576B6DF94B}" srcOrd="0" destOrd="0" presId="urn:microsoft.com/office/officeart/2005/8/layout/vList3"/>
    <dgm:cxn modelId="{4FB87634-BF0C-4D16-A6D3-D3194BDCA4DC}" type="presParOf" srcId="{5D870528-F7BC-4A81-884C-5F786C793841}" destId="{A6684ED6-1F07-4593-84DE-2105224A10C5}" srcOrd="1" destOrd="0" presId="urn:microsoft.com/office/officeart/2005/8/layout/vList3"/>
    <dgm:cxn modelId="{110CDB4B-BDA1-43A0-8EF9-A5CA78CB89B1}" type="presParOf" srcId="{F17676AF-EDE1-4F65-A852-2322537F9A45}" destId="{C9D8FF97-F38E-41A3-88DE-24D41704D39B}" srcOrd="11" destOrd="0" presId="urn:microsoft.com/office/officeart/2005/8/layout/vList3"/>
    <dgm:cxn modelId="{0985F2FE-CF23-43ED-BDEE-434705FDAACB}" type="presParOf" srcId="{F17676AF-EDE1-4F65-A852-2322537F9A45}" destId="{DBA78BD4-1AD0-4A9C-B69A-C9BCA949A11C}" srcOrd="12" destOrd="0" presId="urn:microsoft.com/office/officeart/2005/8/layout/vList3"/>
    <dgm:cxn modelId="{E48BB7A8-15EF-4F27-A4A0-CDE2F44D36AF}" type="presParOf" srcId="{DBA78BD4-1AD0-4A9C-B69A-C9BCA949A11C}" destId="{CD77FAF4-D90C-44E3-923C-DD04295E7716}" srcOrd="0" destOrd="0" presId="urn:microsoft.com/office/officeart/2005/8/layout/vList3"/>
    <dgm:cxn modelId="{D728F319-62C8-4800-A239-F0F11167A1C6}" type="presParOf" srcId="{DBA78BD4-1AD0-4A9C-B69A-C9BCA949A11C}" destId="{ABEC49CE-3EB2-4027-87B1-C908C86EB733}"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7850E5-8A63-4BD5-A846-0F40B19FFF48}"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6E064B3E-116C-4717-84DB-3CC4678767BF}">
      <dgm:prSet phldrT="[Text]"/>
      <dgm:spPr>
        <a:solidFill>
          <a:srgbClr val="1F225E"/>
        </a:solidFill>
      </dgm:spPr>
      <dgm:t>
        <a:bodyPr/>
        <a:lstStyle/>
        <a:p>
          <a:r>
            <a:rPr lang="en-US" dirty="0"/>
            <a:t>IMPORTANCE</a:t>
          </a:r>
        </a:p>
      </dgm:t>
    </dgm:pt>
    <dgm:pt modelId="{3BE29523-48C7-4674-987D-764E438A57E8}" type="parTrans" cxnId="{527F1A80-0899-4A78-9919-AB7F5F41E116}">
      <dgm:prSet/>
      <dgm:spPr/>
      <dgm:t>
        <a:bodyPr/>
        <a:lstStyle/>
        <a:p>
          <a:endParaRPr lang="en-US"/>
        </a:p>
      </dgm:t>
    </dgm:pt>
    <dgm:pt modelId="{717D1140-1256-4626-8FA8-6875C16731BE}" type="sibTrans" cxnId="{527F1A80-0899-4A78-9919-AB7F5F41E116}">
      <dgm:prSet/>
      <dgm:spPr/>
      <dgm:t>
        <a:bodyPr/>
        <a:lstStyle/>
        <a:p>
          <a:endParaRPr lang="en-US"/>
        </a:p>
      </dgm:t>
    </dgm:pt>
    <dgm:pt modelId="{B3DD0105-3CBF-45DB-A3FE-CE3ADAA11FA9}">
      <dgm:prSet phldrT="[Text]"/>
      <dgm:spPr>
        <a:ln>
          <a:solidFill>
            <a:srgbClr val="1F225E"/>
          </a:solidFill>
        </a:ln>
      </dgm:spPr>
      <dgm:t>
        <a:bodyPr/>
        <a:lstStyle/>
        <a:p>
          <a:r>
            <a:rPr lang="en-US" b="1" dirty="0"/>
            <a:t>IF I value it and HOW I value it </a:t>
          </a:r>
        </a:p>
      </dgm:t>
    </dgm:pt>
    <dgm:pt modelId="{6890EB94-60CF-46FF-B096-FEA5140F9478}" type="parTrans" cxnId="{210FBD9C-7F88-43F1-AAAB-3B8FF4CF6A30}">
      <dgm:prSet/>
      <dgm:spPr/>
      <dgm:t>
        <a:bodyPr/>
        <a:lstStyle/>
        <a:p>
          <a:endParaRPr lang="en-US"/>
        </a:p>
      </dgm:t>
    </dgm:pt>
    <dgm:pt modelId="{721D452F-B64E-436A-97E3-A119A37DFFE6}" type="sibTrans" cxnId="{210FBD9C-7F88-43F1-AAAB-3B8FF4CF6A30}">
      <dgm:prSet/>
      <dgm:spPr/>
      <dgm:t>
        <a:bodyPr/>
        <a:lstStyle/>
        <a:p>
          <a:endParaRPr lang="en-US"/>
        </a:p>
      </dgm:t>
    </dgm:pt>
    <dgm:pt modelId="{5ACDFE0D-DD19-45DB-BF35-6EB72E366ABC}">
      <dgm:prSet phldrT="[Text]"/>
      <dgm:spPr>
        <a:ln>
          <a:solidFill>
            <a:srgbClr val="1F225E"/>
          </a:solidFill>
        </a:ln>
      </dgm:spPr>
      <dgm:t>
        <a:bodyPr/>
        <a:lstStyle/>
        <a:p>
          <a:r>
            <a:rPr lang="en-US" i="1" dirty="0"/>
            <a:t>determined by high or low scores</a:t>
          </a:r>
        </a:p>
      </dgm:t>
    </dgm:pt>
    <dgm:pt modelId="{E00034A3-15E2-4757-84B7-AD9444E3DDD0}" type="parTrans" cxnId="{4DEF006A-4B1D-48B5-82E4-A8B14CDEC9C4}">
      <dgm:prSet/>
      <dgm:spPr>
        <a:ln>
          <a:solidFill>
            <a:srgbClr val="1F225E"/>
          </a:solidFill>
        </a:ln>
      </dgm:spPr>
      <dgm:t>
        <a:bodyPr/>
        <a:lstStyle/>
        <a:p>
          <a:endParaRPr lang="en-US"/>
        </a:p>
      </dgm:t>
    </dgm:pt>
    <dgm:pt modelId="{CB42EEDE-E11C-421E-977E-2862E4542257}" type="sibTrans" cxnId="{4DEF006A-4B1D-48B5-82E4-A8B14CDEC9C4}">
      <dgm:prSet/>
      <dgm:spPr/>
      <dgm:t>
        <a:bodyPr/>
        <a:lstStyle/>
        <a:p>
          <a:endParaRPr lang="en-US"/>
        </a:p>
      </dgm:t>
    </dgm:pt>
    <dgm:pt modelId="{C3DB524E-2266-4519-A16C-1ADAA6A62688}">
      <dgm:prSet phldrT="[Text]"/>
      <dgm:spPr>
        <a:solidFill>
          <a:srgbClr val="FCCB0F"/>
        </a:solidFill>
      </dgm:spPr>
      <dgm:t>
        <a:bodyPr/>
        <a:lstStyle/>
        <a:p>
          <a:r>
            <a:rPr lang="en-US" dirty="0"/>
            <a:t>IMPACT</a:t>
          </a:r>
        </a:p>
      </dgm:t>
    </dgm:pt>
    <dgm:pt modelId="{79FA8571-8205-448B-B390-8CD8A639A72C}" type="parTrans" cxnId="{1CCD2584-211F-42CF-A456-3C4460520F5A}">
      <dgm:prSet/>
      <dgm:spPr/>
      <dgm:t>
        <a:bodyPr/>
        <a:lstStyle/>
        <a:p>
          <a:endParaRPr lang="en-US"/>
        </a:p>
      </dgm:t>
    </dgm:pt>
    <dgm:pt modelId="{6A458109-7E79-4BDA-BF5F-F8433B923780}" type="sibTrans" cxnId="{1CCD2584-211F-42CF-A456-3C4460520F5A}">
      <dgm:prSet/>
      <dgm:spPr/>
      <dgm:t>
        <a:bodyPr/>
        <a:lstStyle/>
        <a:p>
          <a:endParaRPr lang="en-US"/>
        </a:p>
      </dgm:t>
    </dgm:pt>
    <dgm:pt modelId="{EBE527AD-63F7-4D52-940F-7EA6A9410F58}">
      <dgm:prSet phldrT="[Text]"/>
      <dgm:spPr>
        <a:ln>
          <a:solidFill>
            <a:srgbClr val="FCCB0F"/>
          </a:solidFill>
        </a:ln>
      </dgm:spPr>
      <dgm:t>
        <a:bodyPr/>
        <a:lstStyle/>
        <a:p>
          <a:r>
            <a:rPr lang="en-US" b="1" dirty="0"/>
            <a:t>How it influences my decisions &amp; actions </a:t>
          </a:r>
        </a:p>
      </dgm:t>
    </dgm:pt>
    <dgm:pt modelId="{B17D3F75-7432-4DE7-B87F-CDC3EC9EEB6B}" type="parTrans" cxnId="{F599DD55-D5E6-43B5-8CB2-4352F33FBF48}">
      <dgm:prSet/>
      <dgm:spPr>
        <a:ln>
          <a:solidFill>
            <a:srgbClr val="FCCB0F"/>
          </a:solidFill>
        </a:ln>
      </dgm:spPr>
      <dgm:t>
        <a:bodyPr/>
        <a:lstStyle/>
        <a:p>
          <a:endParaRPr lang="en-US"/>
        </a:p>
      </dgm:t>
    </dgm:pt>
    <dgm:pt modelId="{1D948934-B7B2-4D5B-A728-2CCB69FBDA3C}" type="sibTrans" cxnId="{F599DD55-D5E6-43B5-8CB2-4352F33FBF48}">
      <dgm:prSet/>
      <dgm:spPr/>
      <dgm:t>
        <a:bodyPr/>
        <a:lstStyle/>
        <a:p>
          <a:endParaRPr lang="en-US"/>
        </a:p>
      </dgm:t>
    </dgm:pt>
    <dgm:pt modelId="{B83B2DF8-4171-4DB8-9201-3C0F77954D79}">
      <dgm:prSet phldrT="[Text]"/>
      <dgm:spPr>
        <a:ln>
          <a:solidFill>
            <a:srgbClr val="FCCB0F"/>
          </a:solidFill>
        </a:ln>
      </dgm:spPr>
      <dgm:t>
        <a:bodyPr/>
        <a:lstStyle/>
        <a:p>
          <a:r>
            <a:rPr lang="en-US" i="1" dirty="0"/>
            <a:t>determined by distance from norm – the ranking</a:t>
          </a:r>
        </a:p>
      </dgm:t>
    </dgm:pt>
    <dgm:pt modelId="{31A464B0-EEA1-4678-8C1E-1377F8875E87}" type="parTrans" cxnId="{31B4D8EC-9A6B-43CA-AAF1-9C5B896CE931}">
      <dgm:prSet/>
      <dgm:spPr>
        <a:ln>
          <a:solidFill>
            <a:srgbClr val="FCCB0F"/>
          </a:solidFill>
        </a:ln>
      </dgm:spPr>
      <dgm:t>
        <a:bodyPr/>
        <a:lstStyle/>
        <a:p>
          <a:endParaRPr lang="en-US"/>
        </a:p>
      </dgm:t>
    </dgm:pt>
    <dgm:pt modelId="{F9E05C8F-0051-4A7D-B6A7-FB127E6461D5}" type="sibTrans" cxnId="{31B4D8EC-9A6B-43CA-AAF1-9C5B896CE931}">
      <dgm:prSet/>
      <dgm:spPr/>
      <dgm:t>
        <a:bodyPr/>
        <a:lstStyle/>
        <a:p>
          <a:endParaRPr lang="en-US"/>
        </a:p>
      </dgm:t>
    </dgm:pt>
    <dgm:pt modelId="{3A864B7F-B557-416F-A908-8DFE740C0326}" type="pres">
      <dgm:prSet presAssocID="{347850E5-8A63-4BD5-A846-0F40B19FFF48}" presName="diagram" presStyleCnt="0">
        <dgm:presLayoutVars>
          <dgm:chPref val="1"/>
          <dgm:dir/>
          <dgm:animOne val="branch"/>
          <dgm:animLvl val="lvl"/>
          <dgm:resizeHandles/>
        </dgm:presLayoutVars>
      </dgm:prSet>
      <dgm:spPr/>
    </dgm:pt>
    <dgm:pt modelId="{2F300A7C-FDE9-4708-B722-E95095EFEFFB}" type="pres">
      <dgm:prSet presAssocID="{6E064B3E-116C-4717-84DB-3CC4678767BF}" presName="root" presStyleCnt="0"/>
      <dgm:spPr/>
    </dgm:pt>
    <dgm:pt modelId="{4641F9FE-5025-4EF5-8F81-1D392377FF2C}" type="pres">
      <dgm:prSet presAssocID="{6E064B3E-116C-4717-84DB-3CC4678767BF}" presName="rootComposite" presStyleCnt="0"/>
      <dgm:spPr/>
    </dgm:pt>
    <dgm:pt modelId="{396CAF66-5F4F-44A5-B846-9C6BD2B4A7AA}" type="pres">
      <dgm:prSet presAssocID="{6E064B3E-116C-4717-84DB-3CC4678767BF}" presName="rootText" presStyleLbl="node1" presStyleIdx="0" presStyleCnt="2"/>
      <dgm:spPr/>
    </dgm:pt>
    <dgm:pt modelId="{5CBA040D-675F-40FD-9C69-C46B08B07107}" type="pres">
      <dgm:prSet presAssocID="{6E064B3E-116C-4717-84DB-3CC4678767BF}" presName="rootConnector" presStyleLbl="node1" presStyleIdx="0" presStyleCnt="2"/>
      <dgm:spPr/>
    </dgm:pt>
    <dgm:pt modelId="{C153C357-9E86-47C1-AEED-A8D887937761}" type="pres">
      <dgm:prSet presAssocID="{6E064B3E-116C-4717-84DB-3CC4678767BF}" presName="childShape" presStyleCnt="0"/>
      <dgm:spPr/>
    </dgm:pt>
    <dgm:pt modelId="{71849C53-F907-456E-967A-4576588DB53F}" type="pres">
      <dgm:prSet presAssocID="{6890EB94-60CF-46FF-B096-FEA5140F9478}" presName="Name13" presStyleLbl="parChTrans1D2" presStyleIdx="0" presStyleCnt="4"/>
      <dgm:spPr/>
    </dgm:pt>
    <dgm:pt modelId="{EBF0E674-67DE-46A1-A315-DF04E0EED009}" type="pres">
      <dgm:prSet presAssocID="{B3DD0105-3CBF-45DB-A3FE-CE3ADAA11FA9}" presName="childText" presStyleLbl="bgAcc1" presStyleIdx="0" presStyleCnt="4">
        <dgm:presLayoutVars>
          <dgm:bulletEnabled val="1"/>
        </dgm:presLayoutVars>
      </dgm:prSet>
      <dgm:spPr/>
    </dgm:pt>
    <dgm:pt modelId="{72F72CD7-22F0-437B-9C7A-C02046AFEF41}" type="pres">
      <dgm:prSet presAssocID="{E00034A3-15E2-4757-84B7-AD9444E3DDD0}" presName="Name13" presStyleLbl="parChTrans1D2" presStyleIdx="1" presStyleCnt="4"/>
      <dgm:spPr/>
    </dgm:pt>
    <dgm:pt modelId="{1B352DDF-4939-418B-999C-20F203514FD6}" type="pres">
      <dgm:prSet presAssocID="{5ACDFE0D-DD19-45DB-BF35-6EB72E366ABC}" presName="childText" presStyleLbl="bgAcc1" presStyleIdx="1" presStyleCnt="4">
        <dgm:presLayoutVars>
          <dgm:bulletEnabled val="1"/>
        </dgm:presLayoutVars>
      </dgm:prSet>
      <dgm:spPr/>
    </dgm:pt>
    <dgm:pt modelId="{9FB3CF53-E608-4577-8D4C-B4DD163260C5}" type="pres">
      <dgm:prSet presAssocID="{C3DB524E-2266-4519-A16C-1ADAA6A62688}" presName="root" presStyleCnt="0"/>
      <dgm:spPr/>
    </dgm:pt>
    <dgm:pt modelId="{4F8742EF-A9B5-470D-A6D0-585D8AC50C8B}" type="pres">
      <dgm:prSet presAssocID="{C3DB524E-2266-4519-A16C-1ADAA6A62688}" presName="rootComposite" presStyleCnt="0"/>
      <dgm:spPr/>
    </dgm:pt>
    <dgm:pt modelId="{BA9DF530-1568-46B3-A92D-4AA5F6C34A27}" type="pres">
      <dgm:prSet presAssocID="{C3DB524E-2266-4519-A16C-1ADAA6A62688}" presName="rootText" presStyleLbl="node1" presStyleIdx="1" presStyleCnt="2"/>
      <dgm:spPr/>
    </dgm:pt>
    <dgm:pt modelId="{3CF1EF51-3A91-4F8D-BB05-D07D97576FB6}" type="pres">
      <dgm:prSet presAssocID="{C3DB524E-2266-4519-A16C-1ADAA6A62688}" presName="rootConnector" presStyleLbl="node1" presStyleIdx="1" presStyleCnt="2"/>
      <dgm:spPr/>
    </dgm:pt>
    <dgm:pt modelId="{B8E6F6F0-2A14-4404-84EE-69F5FC54EFC4}" type="pres">
      <dgm:prSet presAssocID="{C3DB524E-2266-4519-A16C-1ADAA6A62688}" presName="childShape" presStyleCnt="0"/>
      <dgm:spPr/>
    </dgm:pt>
    <dgm:pt modelId="{34F838BF-F3DD-4E72-98B3-C5DFA00CD072}" type="pres">
      <dgm:prSet presAssocID="{B17D3F75-7432-4DE7-B87F-CDC3EC9EEB6B}" presName="Name13" presStyleLbl="parChTrans1D2" presStyleIdx="2" presStyleCnt="4"/>
      <dgm:spPr/>
    </dgm:pt>
    <dgm:pt modelId="{3E613FC6-1536-4AC5-BD78-38884C363002}" type="pres">
      <dgm:prSet presAssocID="{EBE527AD-63F7-4D52-940F-7EA6A9410F58}" presName="childText" presStyleLbl="bgAcc1" presStyleIdx="2" presStyleCnt="4">
        <dgm:presLayoutVars>
          <dgm:bulletEnabled val="1"/>
        </dgm:presLayoutVars>
      </dgm:prSet>
      <dgm:spPr/>
    </dgm:pt>
    <dgm:pt modelId="{27A4357E-5AE1-4892-947F-EE169AF7D1F6}" type="pres">
      <dgm:prSet presAssocID="{31A464B0-EEA1-4678-8C1E-1377F8875E87}" presName="Name13" presStyleLbl="parChTrans1D2" presStyleIdx="3" presStyleCnt="4"/>
      <dgm:spPr/>
    </dgm:pt>
    <dgm:pt modelId="{1EE03B94-5B3A-421E-8686-2298568B33C8}" type="pres">
      <dgm:prSet presAssocID="{B83B2DF8-4171-4DB8-9201-3C0F77954D79}" presName="childText" presStyleLbl="bgAcc1" presStyleIdx="3" presStyleCnt="4">
        <dgm:presLayoutVars>
          <dgm:bulletEnabled val="1"/>
        </dgm:presLayoutVars>
      </dgm:prSet>
      <dgm:spPr/>
    </dgm:pt>
  </dgm:ptLst>
  <dgm:cxnLst>
    <dgm:cxn modelId="{A550020B-C718-4CBD-A8C9-373D3C3C74A6}" type="presOf" srcId="{C3DB524E-2266-4519-A16C-1ADAA6A62688}" destId="{BA9DF530-1568-46B3-A92D-4AA5F6C34A27}" srcOrd="0" destOrd="0" presId="urn:microsoft.com/office/officeart/2005/8/layout/hierarchy3"/>
    <dgm:cxn modelId="{A55FB810-2D77-42A1-89DE-F49354BF238A}" type="presOf" srcId="{B3DD0105-3CBF-45DB-A3FE-CE3ADAA11FA9}" destId="{EBF0E674-67DE-46A1-A315-DF04E0EED009}" srcOrd="0" destOrd="0" presId="urn:microsoft.com/office/officeart/2005/8/layout/hierarchy3"/>
    <dgm:cxn modelId="{807AAA37-56A9-439D-A4BA-1083CF7C717B}" type="presOf" srcId="{5ACDFE0D-DD19-45DB-BF35-6EB72E366ABC}" destId="{1B352DDF-4939-418B-999C-20F203514FD6}" srcOrd="0" destOrd="0" presId="urn:microsoft.com/office/officeart/2005/8/layout/hierarchy3"/>
    <dgm:cxn modelId="{BEED0F66-4267-4811-9828-8FFAE6BF4D01}" type="presOf" srcId="{EBE527AD-63F7-4D52-940F-7EA6A9410F58}" destId="{3E613FC6-1536-4AC5-BD78-38884C363002}" srcOrd="0" destOrd="0" presId="urn:microsoft.com/office/officeart/2005/8/layout/hierarchy3"/>
    <dgm:cxn modelId="{4DEF006A-4B1D-48B5-82E4-A8B14CDEC9C4}" srcId="{6E064B3E-116C-4717-84DB-3CC4678767BF}" destId="{5ACDFE0D-DD19-45DB-BF35-6EB72E366ABC}" srcOrd="1" destOrd="0" parTransId="{E00034A3-15E2-4757-84B7-AD9444E3DDD0}" sibTransId="{CB42EEDE-E11C-421E-977E-2862E4542257}"/>
    <dgm:cxn modelId="{88052A6B-21A2-47BE-9B88-30CF571D1262}" type="presOf" srcId="{347850E5-8A63-4BD5-A846-0F40B19FFF48}" destId="{3A864B7F-B557-416F-A908-8DFE740C0326}" srcOrd="0" destOrd="0" presId="urn:microsoft.com/office/officeart/2005/8/layout/hierarchy3"/>
    <dgm:cxn modelId="{CDF21D6C-124B-4B11-98DC-327F37291435}" type="presOf" srcId="{C3DB524E-2266-4519-A16C-1ADAA6A62688}" destId="{3CF1EF51-3A91-4F8D-BB05-D07D97576FB6}" srcOrd="1" destOrd="0" presId="urn:microsoft.com/office/officeart/2005/8/layout/hierarchy3"/>
    <dgm:cxn modelId="{F599DD55-D5E6-43B5-8CB2-4352F33FBF48}" srcId="{C3DB524E-2266-4519-A16C-1ADAA6A62688}" destId="{EBE527AD-63F7-4D52-940F-7EA6A9410F58}" srcOrd="0" destOrd="0" parTransId="{B17D3F75-7432-4DE7-B87F-CDC3EC9EEB6B}" sibTransId="{1D948934-B7B2-4D5B-A728-2CCB69FBDA3C}"/>
    <dgm:cxn modelId="{A558F459-1090-4E83-8ED9-49E2FCA47CEB}" type="presOf" srcId="{31A464B0-EEA1-4678-8C1E-1377F8875E87}" destId="{27A4357E-5AE1-4892-947F-EE169AF7D1F6}" srcOrd="0" destOrd="0" presId="urn:microsoft.com/office/officeart/2005/8/layout/hierarchy3"/>
    <dgm:cxn modelId="{527F1A80-0899-4A78-9919-AB7F5F41E116}" srcId="{347850E5-8A63-4BD5-A846-0F40B19FFF48}" destId="{6E064B3E-116C-4717-84DB-3CC4678767BF}" srcOrd="0" destOrd="0" parTransId="{3BE29523-48C7-4674-987D-764E438A57E8}" sibTransId="{717D1140-1256-4626-8FA8-6875C16731BE}"/>
    <dgm:cxn modelId="{1CCD2584-211F-42CF-A456-3C4460520F5A}" srcId="{347850E5-8A63-4BD5-A846-0F40B19FFF48}" destId="{C3DB524E-2266-4519-A16C-1ADAA6A62688}" srcOrd="1" destOrd="0" parTransId="{79FA8571-8205-448B-B390-8CD8A639A72C}" sibTransId="{6A458109-7E79-4BDA-BF5F-F8433B923780}"/>
    <dgm:cxn modelId="{210FBD9C-7F88-43F1-AAAB-3B8FF4CF6A30}" srcId="{6E064B3E-116C-4717-84DB-3CC4678767BF}" destId="{B3DD0105-3CBF-45DB-A3FE-CE3ADAA11FA9}" srcOrd="0" destOrd="0" parTransId="{6890EB94-60CF-46FF-B096-FEA5140F9478}" sibTransId="{721D452F-B64E-436A-97E3-A119A37DFFE6}"/>
    <dgm:cxn modelId="{9C42CEA5-5559-40AE-B0E5-51330FF782A9}" type="presOf" srcId="{B83B2DF8-4171-4DB8-9201-3C0F77954D79}" destId="{1EE03B94-5B3A-421E-8686-2298568B33C8}" srcOrd="0" destOrd="0" presId="urn:microsoft.com/office/officeart/2005/8/layout/hierarchy3"/>
    <dgm:cxn modelId="{681C34AA-F278-4A68-86B0-30AC6FD00D0B}" type="presOf" srcId="{B17D3F75-7432-4DE7-B87F-CDC3EC9EEB6B}" destId="{34F838BF-F3DD-4E72-98B3-C5DFA00CD072}" srcOrd="0" destOrd="0" presId="urn:microsoft.com/office/officeart/2005/8/layout/hierarchy3"/>
    <dgm:cxn modelId="{C78D8AAE-58E5-48C4-BFE9-82C97D7AC8C5}" type="presOf" srcId="{6E064B3E-116C-4717-84DB-3CC4678767BF}" destId="{5CBA040D-675F-40FD-9C69-C46B08B07107}" srcOrd="1" destOrd="0" presId="urn:microsoft.com/office/officeart/2005/8/layout/hierarchy3"/>
    <dgm:cxn modelId="{38ED75C4-6DBF-4AA0-8C01-4763FB726B42}" type="presOf" srcId="{E00034A3-15E2-4757-84B7-AD9444E3DDD0}" destId="{72F72CD7-22F0-437B-9C7A-C02046AFEF41}" srcOrd="0" destOrd="0" presId="urn:microsoft.com/office/officeart/2005/8/layout/hierarchy3"/>
    <dgm:cxn modelId="{A2DF3ED2-C8D1-41DE-9AD7-08E7F75ABF7A}" type="presOf" srcId="{6890EB94-60CF-46FF-B096-FEA5140F9478}" destId="{71849C53-F907-456E-967A-4576588DB53F}" srcOrd="0" destOrd="0" presId="urn:microsoft.com/office/officeart/2005/8/layout/hierarchy3"/>
    <dgm:cxn modelId="{CFC797EB-B97B-4409-BE7E-6D36CEB77D8A}" type="presOf" srcId="{6E064B3E-116C-4717-84DB-3CC4678767BF}" destId="{396CAF66-5F4F-44A5-B846-9C6BD2B4A7AA}" srcOrd="0" destOrd="0" presId="urn:microsoft.com/office/officeart/2005/8/layout/hierarchy3"/>
    <dgm:cxn modelId="{31B4D8EC-9A6B-43CA-AAF1-9C5B896CE931}" srcId="{C3DB524E-2266-4519-A16C-1ADAA6A62688}" destId="{B83B2DF8-4171-4DB8-9201-3C0F77954D79}" srcOrd="1" destOrd="0" parTransId="{31A464B0-EEA1-4678-8C1E-1377F8875E87}" sibTransId="{F9E05C8F-0051-4A7D-B6A7-FB127E6461D5}"/>
    <dgm:cxn modelId="{8A594E6A-A616-4EE7-ADFD-7860C736118B}" type="presParOf" srcId="{3A864B7F-B557-416F-A908-8DFE740C0326}" destId="{2F300A7C-FDE9-4708-B722-E95095EFEFFB}" srcOrd="0" destOrd="0" presId="urn:microsoft.com/office/officeart/2005/8/layout/hierarchy3"/>
    <dgm:cxn modelId="{36A7DBA7-84B6-4033-AE84-AC60BC26D8BE}" type="presParOf" srcId="{2F300A7C-FDE9-4708-B722-E95095EFEFFB}" destId="{4641F9FE-5025-4EF5-8F81-1D392377FF2C}" srcOrd="0" destOrd="0" presId="urn:microsoft.com/office/officeart/2005/8/layout/hierarchy3"/>
    <dgm:cxn modelId="{2A9FD59C-79ED-4D80-9F68-C9F4AEFEE2EA}" type="presParOf" srcId="{4641F9FE-5025-4EF5-8F81-1D392377FF2C}" destId="{396CAF66-5F4F-44A5-B846-9C6BD2B4A7AA}" srcOrd="0" destOrd="0" presId="urn:microsoft.com/office/officeart/2005/8/layout/hierarchy3"/>
    <dgm:cxn modelId="{EF4CC287-1AD3-4F24-8619-E1897F4C8250}" type="presParOf" srcId="{4641F9FE-5025-4EF5-8F81-1D392377FF2C}" destId="{5CBA040D-675F-40FD-9C69-C46B08B07107}" srcOrd="1" destOrd="0" presId="urn:microsoft.com/office/officeart/2005/8/layout/hierarchy3"/>
    <dgm:cxn modelId="{6CDC208F-504A-44A9-8AED-249E35322DF9}" type="presParOf" srcId="{2F300A7C-FDE9-4708-B722-E95095EFEFFB}" destId="{C153C357-9E86-47C1-AEED-A8D887937761}" srcOrd="1" destOrd="0" presId="urn:microsoft.com/office/officeart/2005/8/layout/hierarchy3"/>
    <dgm:cxn modelId="{B182D928-29B0-4F21-88F2-EC87323E805C}" type="presParOf" srcId="{C153C357-9E86-47C1-AEED-A8D887937761}" destId="{71849C53-F907-456E-967A-4576588DB53F}" srcOrd="0" destOrd="0" presId="urn:microsoft.com/office/officeart/2005/8/layout/hierarchy3"/>
    <dgm:cxn modelId="{80BD4875-EE41-43E6-AC8F-3F6C40085A3B}" type="presParOf" srcId="{C153C357-9E86-47C1-AEED-A8D887937761}" destId="{EBF0E674-67DE-46A1-A315-DF04E0EED009}" srcOrd="1" destOrd="0" presId="urn:microsoft.com/office/officeart/2005/8/layout/hierarchy3"/>
    <dgm:cxn modelId="{29211C85-53FD-4A5E-BD6B-D900451AAFF3}" type="presParOf" srcId="{C153C357-9E86-47C1-AEED-A8D887937761}" destId="{72F72CD7-22F0-437B-9C7A-C02046AFEF41}" srcOrd="2" destOrd="0" presId="urn:microsoft.com/office/officeart/2005/8/layout/hierarchy3"/>
    <dgm:cxn modelId="{6C48CB85-15AB-43DC-976C-083EC742A340}" type="presParOf" srcId="{C153C357-9E86-47C1-AEED-A8D887937761}" destId="{1B352DDF-4939-418B-999C-20F203514FD6}" srcOrd="3" destOrd="0" presId="urn:microsoft.com/office/officeart/2005/8/layout/hierarchy3"/>
    <dgm:cxn modelId="{96544C0F-2945-481B-B5C9-5A4782F49AE0}" type="presParOf" srcId="{3A864B7F-B557-416F-A908-8DFE740C0326}" destId="{9FB3CF53-E608-4577-8D4C-B4DD163260C5}" srcOrd="1" destOrd="0" presId="urn:microsoft.com/office/officeart/2005/8/layout/hierarchy3"/>
    <dgm:cxn modelId="{D2BDCDD9-7589-4F90-BF62-C0DDF9DD9F84}" type="presParOf" srcId="{9FB3CF53-E608-4577-8D4C-B4DD163260C5}" destId="{4F8742EF-A9B5-470D-A6D0-585D8AC50C8B}" srcOrd="0" destOrd="0" presId="urn:microsoft.com/office/officeart/2005/8/layout/hierarchy3"/>
    <dgm:cxn modelId="{25645C7B-D8A1-47EC-9258-B360B22ABDDB}" type="presParOf" srcId="{4F8742EF-A9B5-470D-A6D0-585D8AC50C8B}" destId="{BA9DF530-1568-46B3-A92D-4AA5F6C34A27}" srcOrd="0" destOrd="0" presId="urn:microsoft.com/office/officeart/2005/8/layout/hierarchy3"/>
    <dgm:cxn modelId="{95E05CE9-9880-40CD-85AA-00D8CD3C8417}" type="presParOf" srcId="{4F8742EF-A9B5-470D-A6D0-585D8AC50C8B}" destId="{3CF1EF51-3A91-4F8D-BB05-D07D97576FB6}" srcOrd="1" destOrd="0" presId="urn:microsoft.com/office/officeart/2005/8/layout/hierarchy3"/>
    <dgm:cxn modelId="{29E2D6C9-9232-4327-B7F2-8DB43693E71C}" type="presParOf" srcId="{9FB3CF53-E608-4577-8D4C-B4DD163260C5}" destId="{B8E6F6F0-2A14-4404-84EE-69F5FC54EFC4}" srcOrd="1" destOrd="0" presId="urn:microsoft.com/office/officeart/2005/8/layout/hierarchy3"/>
    <dgm:cxn modelId="{B006A86E-12AD-40A7-B5E3-3EA2008C9C50}" type="presParOf" srcId="{B8E6F6F0-2A14-4404-84EE-69F5FC54EFC4}" destId="{34F838BF-F3DD-4E72-98B3-C5DFA00CD072}" srcOrd="0" destOrd="0" presId="urn:microsoft.com/office/officeart/2005/8/layout/hierarchy3"/>
    <dgm:cxn modelId="{BEA55B2A-B2C0-4E5A-9E75-EC9C935A9C29}" type="presParOf" srcId="{B8E6F6F0-2A14-4404-84EE-69F5FC54EFC4}" destId="{3E613FC6-1536-4AC5-BD78-38884C363002}" srcOrd="1" destOrd="0" presId="urn:microsoft.com/office/officeart/2005/8/layout/hierarchy3"/>
    <dgm:cxn modelId="{514F4B0D-4AD1-4BF1-85DF-59E0671206FC}" type="presParOf" srcId="{B8E6F6F0-2A14-4404-84EE-69F5FC54EFC4}" destId="{27A4357E-5AE1-4892-947F-EE169AF7D1F6}" srcOrd="2" destOrd="0" presId="urn:microsoft.com/office/officeart/2005/8/layout/hierarchy3"/>
    <dgm:cxn modelId="{9DDC7B1B-C182-462D-8DE8-DD54E547B71A}" type="presParOf" srcId="{B8E6F6F0-2A14-4404-84EE-69F5FC54EFC4}" destId="{1EE03B94-5B3A-421E-8686-2298568B33C8}"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D98BD7-AEEF-4033-A3F7-20650198CDBA}">
      <dsp:nvSpPr>
        <dsp:cNvPr id="0" name=""/>
        <dsp:cNvSpPr/>
      </dsp:nvSpPr>
      <dsp:spPr>
        <a:xfrm>
          <a:off x="757" y="862755"/>
          <a:ext cx="3259311" cy="3911173"/>
        </a:xfrm>
        <a:prstGeom prst="roundRect">
          <a:avLst>
            <a:gd name="adj" fmla="val 5000"/>
          </a:avLst>
        </a:prstGeom>
        <a:solidFill>
          <a:srgbClr val="F5C51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6586" rIns="151130" bIns="0" numCol="1" spcCol="1270" anchor="t" anchorCtr="0">
          <a:noAutofit/>
        </a:bodyPr>
        <a:lstStyle/>
        <a:p>
          <a:pPr marL="0" lvl="0" indent="0" algn="r" defTabSz="1511300">
            <a:lnSpc>
              <a:spcPct val="90000"/>
            </a:lnSpc>
            <a:spcBef>
              <a:spcPct val="0"/>
            </a:spcBef>
            <a:spcAft>
              <a:spcPct val="35000"/>
            </a:spcAft>
            <a:buNone/>
          </a:pPr>
          <a:endParaRPr lang="en-US" sz="3400" kern="1200" dirty="0"/>
        </a:p>
      </dsp:txBody>
      <dsp:txXfrm rot="16200000">
        <a:off x="-1276892" y="2140405"/>
        <a:ext cx="3207162" cy="651862"/>
      </dsp:txXfrm>
    </dsp:sp>
    <dsp:sp modelId="{9C585939-9B1F-47EA-8BC5-A2BD201DC2AA}">
      <dsp:nvSpPr>
        <dsp:cNvPr id="0" name=""/>
        <dsp:cNvSpPr/>
      </dsp:nvSpPr>
      <dsp:spPr>
        <a:xfrm>
          <a:off x="652619" y="862755"/>
          <a:ext cx="2428186" cy="39111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3157" rIns="0" bIns="0" numCol="1" spcCol="1270" anchor="t" anchorCtr="0">
          <a:noAutofit/>
        </a:bodyPr>
        <a:lstStyle/>
        <a:p>
          <a:pPr marL="0" lvl="0" indent="0" algn="l" defTabSz="1466850">
            <a:lnSpc>
              <a:spcPct val="90000"/>
            </a:lnSpc>
            <a:spcBef>
              <a:spcPct val="0"/>
            </a:spcBef>
            <a:spcAft>
              <a:spcPct val="35000"/>
            </a:spcAft>
            <a:buNone/>
          </a:pPr>
          <a:r>
            <a:rPr lang="en-US" sz="3300" kern="1200" dirty="0">
              <a:latin typeface="Calibri" panose="020F0502020204030204" pitchFamily="34" charset="0"/>
              <a:ea typeface="MS Mincho"/>
              <a:cs typeface="Times New Roman" panose="02020603050405020304" pitchFamily="18" charset="0"/>
            </a:rPr>
            <a:t>Filter and guide decisions specifically toward results that reflect them</a:t>
          </a:r>
          <a:endParaRPr lang="en-US" sz="3300" kern="1200" dirty="0"/>
        </a:p>
      </dsp:txBody>
      <dsp:txXfrm>
        <a:off x="652619" y="862755"/>
        <a:ext cx="2428186" cy="3911173"/>
      </dsp:txXfrm>
    </dsp:sp>
    <dsp:sp modelId="{C97AF87A-8AD7-47C2-A9A1-6CA9C0785A91}">
      <dsp:nvSpPr>
        <dsp:cNvPr id="0" name=""/>
        <dsp:cNvSpPr/>
      </dsp:nvSpPr>
      <dsp:spPr>
        <a:xfrm>
          <a:off x="3374144" y="862755"/>
          <a:ext cx="3259311" cy="3911173"/>
        </a:xfrm>
        <a:prstGeom prst="roundRect">
          <a:avLst>
            <a:gd name="adj" fmla="val 5000"/>
          </a:avLst>
        </a:prstGeom>
        <a:solidFill>
          <a:srgbClr val="1F225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6586" rIns="151130" bIns="0" numCol="1" spcCol="1270" anchor="t" anchorCtr="0">
          <a:noAutofit/>
        </a:bodyPr>
        <a:lstStyle/>
        <a:p>
          <a:pPr marL="0" lvl="0" indent="0" algn="r" defTabSz="1511300">
            <a:lnSpc>
              <a:spcPct val="90000"/>
            </a:lnSpc>
            <a:spcBef>
              <a:spcPct val="0"/>
            </a:spcBef>
            <a:spcAft>
              <a:spcPct val="35000"/>
            </a:spcAft>
            <a:buNone/>
          </a:pPr>
          <a:endParaRPr lang="en-US" sz="3400" kern="1200" dirty="0"/>
        </a:p>
      </dsp:txBody>
      <dsp:txXfrm rot="16200000">
        <a:off x="2096494" y="2140405"/>
        <a:ext cx="3207162" cy="651862"/>
      </dsp:txXfrm>
    </dsp:sp>
    <dsp:sp modelId="{E925198E-B728-48DA-80C1-3047270588E6}">
      <dsp:nvSpPr>
        <dsp:cNvPr id="0" name=""/>
        <dsp:cNvSpPr/>
      </dsp:nvSpPr>
      <dsp:spPr>
        <a:xfrm rot="5400000">
          <a:off x="3102893" y="3973025"/>
          <a:ext cx="575094" cy="488896"/>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60F647-2BB3-4B7E-80F3-F407E08C8C71}">
      <dsp:nvSpPr>
        <dsp:cNvPr id="0" name=""/>
        <dsp:cNvSpPr/>
      </dsp:nvSpPr>
      <dsp:spPr>
        <a:xfrm>
          <a:off x="4026006" y="862755"/>
          <a:ext cx="2428186" cy="39111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3157" rIns="0" bIns="0" numCol="1" spcCol="1270" anchor="t" anchorCtr="0">
          <a:noAutofit/>
        </a:bodyPr>
        <a:lstStyle/>
        <a:p>
          <a:pPr marL="0" lvl="0" indent="0" algn="l" defTabSz="1466850">
            <a:lnSpc>
              <a:spcPct val="90000"/>
            </a:lnSpc>
            <a:spcBef>
              <a:spcPct val="0"/>
            </a:spcBef>
            <a:spcAft>
              <a:spcPct val="35000"/>
            </a:spcAft>
            <a:buNone/>
          </a:pPr>
          <a:r>
            <a:rPr lang="en-US" sz="3300" kern="1200" dirty="0">
              <a:latin typeface="Calibri" panose="020F0502020204030204" pitchFamily="34" charset="0"/>
              <a:ea typeface="MS Mincho"/>
              <a:cs typeface="Times New Roman" panose="02020603050405020304" pitchFamily="18" charset="0"/>
            </a:rPr>
            <a:t>Combine uniquely for each person to influence individual priorities and decision-making</a:t>
          </a:r>
          <a:endParaRPr lang="en-US" sz="3300" kern="1200" dirty="0"/>
        </a:p>
      </dsp:txBody>
      <dsp:txXfrm>
        <a:off x="4026006" y="862755"/>
        <a:ext cx="2428186" cy="3911173"/>
      </dsp:txXfrm>
    </dsp:sp>
    <dsp:sp modelId="{3AB3A624-BF44-41E6-994E-9E329CB9FEC4}">
      <dsp:nvSpPr>
        <dsp:cNvPr id="0" name=""/>
        <dsp:cNvSpPr/>
      </dsp:nvSpPr>
      <dsp:spPr>
        <a:xfrm>
          <a:off x="6747531" y="862755"/>
          <a:ext cx="3259311" cy="3911173"/>
        </a:xfrm>
        <a:prstGeom prst="roundRect">
          <a:avLst>
            <a:gd name="adj" fmla="val 5000"/>
          </a:avLst>
        </a:prstGeom>
        <a:solidFill>
          <a:srgbClr val="FD702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16586" rIns="151130" bIns="0" numCol="1" spcCol="1270" anchor="t" anchorCtr="0">
          <a:noAutofit/>
        </a:bodyPr>
        <a:lstStyle/>
        <a:p>
          <a:pPr marL="0" lvl="0" indent="0" algn="r" defTabSz="1511300">
            <a:lnSpc>
              <a:spcPct val="90000"/>
            </a:lnSpc>
            <a:spcBef>
              <a:spcPct val="0"/>
            </a:spcBef>
            <a:spcAft>
              <a:spcPct val="35000"/>
            </a:spcAft>
            <a:buNone/>
          </a:pPr>
          <a:endParaRPr lang="en-US" sz="3400" kern="1200"/>
        </a:p>
      </dsp:txBody>
      <dsp:txXfrm rot="16200000">
        <a:off x="5469881" y="2140405"/>
        <a:ext cx="3207162" cy="651862"/>
      </dsp:txXfrm>
    </dsp:sp>
    <dsp:sp modelId="{D93A83D4-186C-4D29-8291-6E9952E61B1B}">
      <dsp:nvSpPr>
        <dsp:cNvPr id="0" name=""/>
        <dsp:cNvSpPr/>
      </dsp:nvSpPr>
      <dsp:spPr>
        <a:xfrm rot="5400000">
          <a:off x="6476280" y="3973025"/>
          <a:ext cx="575094" cy="488896"/>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72AFA9-EE76-448D-8D18-011C09B696A5}">
      <dsp:nvSpPr>
        <dsp:cNvPr id="0" name=""/>
        <dsp:cNvSpPr/>
      </dsp:nvSpPr>
      <dsp:spPr>
        <a:xfrm>
          <a:off x="7399393" y="862755"/>
          <a:ext cx="2428186" cy="39111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3157" rIns="0" bIns="0" numCol="1" spcCol="1270" anchor="t" anchorCtr="0">
          <a:noAutofit/>
        </a:bodyPr>
        <a:lstStyle/>
        <a:p>
          <a:pPr marL="0" lvl="0" indent="0" algn="l" defTabSz="1466850">
            <a:lnSpc>
              <a:spcPct val="90000"/>
            </a:lnSpc>
            <a:spcBef>
              <a:spcPct val="0"/>
            </a:spcBef>
            <a:spcAft>
              <a:spcPct val="35000"/>
            </a:spcAft>
            <a:buNone/>
          </a:pPr>
          <a:r>
            <a:rPr lang="en-US" sz="3300" kern="1200" dirty="0">
              <a:latin typeface="Calibri" panose="020F0502020204030204" pitchFamily="34" charset="0"/>
              <a:ea typeface="MS Mincho"/>
              <a:cs typeface="Times New Roman" panose="02020603050405020304" pitchFamily="18" charset="0"/>
            </a:rPr>
            <a:t>Help people to better understand their unique value or belief system</a:t>
          </a:r>
          <a:endParaRPr lang="en-US" sz="3300" kern="1200" dirty="0"/>
        </a:p>
      </dsp:txBody>
      <dsp:txXfrm>
        <a:off x="7399393" y="862755"/>
        <a:ext cx="2428186" cy="39111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EF85D-BAE2-4DC5-B02E-35BB37BE25EB}">
      <dsp:nvSpPr>
        <dsp:cNvPr id="0" name=""/>
        <dsp:cNvSpPr/>
      </dsp:nvSpPr>
      <dsp:spPr>
        <a:xfrm rot="10800000">
          <a:off x="1905939" y="2848"/>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Aesthetic</a:t>
          </a:r>
          <a:r>
            <a:rPr lang="en-US" sz="1700" kern="1200" dirty="0">
              <a:solidFill>
                <a:schemeClr val="tx1"/>
              </a:solidFill>
            </a:rPr>
            <a:t> – A drive for balance, harmony, and form.</a:t>
          </a:r>
        </a:p>
      </dsp:txBody>
      <dsp:txXfrm rot="10800000">
        <a:off x="2029520" y="2848"/>
        <a:ext cx="6952645" cy="494325"/>
      </dsp:txXfrm>
    </dsp:sp>
    <dsp:sp modelId="{123DDAAA-78ED-4531-A978-62B9B97EE43F}">
      <dsp:nvSpPr>
        <dsp:cNvPr id="0" name=""/>
        <dsp:cNvSpPr/>
      </dsp:nvSpPr>
      <dsp:spPr>
        <a:xfrm>
          <a:off x="1658776" y="0"/>
          <a:ext cx="494325" cy="494325"/>
        </a:xfrm>
        <a:prstGeom prst="ellipse">
          <a:avLst/>
        </a:prstGeom>
        <a:solidFill>
          <a:srgbClr val="82D20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E1D331-E999-45B6-A5FC-2D0264E979E3}">
      <dsp:nvSpPr>
        <dsp:cNvPr id="0" name=""/>
        <dsp:cNvSpPr/>
      </dsp:nvSpPr>
      <dsp:spPr>
        <a:xfrm rot="10800000">
          <a:off x="1905939" y="644734"/>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Economic</a:t>
          </a:r>
          <a:r>
            <a:rPr lang="en-US" sz="1700" kern="1200" dirty="0">
              <a:solidFill>
                <a:schemeClr val="tx1"/>
              </a:solidFill>
            </a:rPr>
            <a:t> – A drive for return on investment.</a:t>
          </a:r>
        </a:p>
      </dsp:txBody>
      <dsp:txXfrm rot="10800000">
        <a:off x="2029520" y="644734"/>
        <a:ext cx="6952645" cy="494325"/>
      </dsp:txXfrm>
    </dsp:sp>
    <dsp:sp modelId="{C57FF979-8FDD-4AE0-846C-5622A32450D8}">
      <dsp:nvSpPr>
        <dsp:cNvPr id="0" name=""/>
        <dsp:cNvSpPr/>
      </dsp:nvSpPr>
      <dsp:spPr>
        <a:xfrm>
          <a:off x="1658776" y="644734"/>
          <a:ext cx="494325" cy="494325"/>
        </a:xfrm>
        <a:prstGeom prst="ellipse">
          <a:avLst/>
        </a:prstGeom>
        <a:solidFill>
          <a:srgbClr val="0100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7D44AB-51F4-4637-B2D0-1B6298FCB749}">
      <dsp:nvSpPr>
        <dsp:cNvPr id="0" name=""/>
        <dsp:cNvSpPr/>
      </dsp:nvSpPr>
      <dsp:spPr>
        <a:xfrm rot="10800000">
          <a:off x="1905939" y="1286620"/>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Individualistic</a:t>
          </a:r>
          <a:r>
            <a:rPr lang="en-US" sz="1700" kern="1200" dirty="0">
              <a:solidFill>
                <a:schemeClr val="tx1"/>
              </a:solidFill>
            </a:rPr>
            <a:t> – A drive to stand out as independent and unique.</a:t>
          </a:r>
        </a:p>
      </dsp:txBody>
      <dsp:txXfrm rot="10800000">
        <a:off x="2029520" y="1286620"/>
        <a:ext cx="6952645" cy="494325"/>
      </dsp:txXfrm>
    </dsp:sp>
    <dsp:sp modelId="{CD56F18C-5811-4700-B7D6-B99EB3140F35}">
      <dsp:nvSpPr>
        <dsp:cNvPr id="0" name=""/>
        <dsp:cNvSpPr/>
      </dsp:nvSpPr>
      <dsp:spPr>
        <a:xfrm>
          <a:off x="1658776" y="1286620"/>
          <a:ext cx="494325" cy="494325"/>
        </a:xfrm>
        <a:prstGeom prst="ellipse">
          <a:avLst/>
        </a:prstGeom>
        <a:solidFill>
          <a:srgbClr val="FF66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9C44BC-3063-4F66-ADAA-6C5ED92D6C0A}">
      <dsp:nvSpPr>
        <dsp:cNvPr id="0" name=""/>
        <dsp:cNvSpPr/>
      </dsp:nvSpPr>
      <dsp:spPr>
        <a:xfrm rot="10800000">
          <a:off x="1905939" y="1928506"/>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Power</a:t>
          </a:r>
          <a:r>
            <a:rPr lang="en-US" sz="1700" kern="1200" dirty="0">
              <a:solidFill>
                <a:schemeClr val="tx1"/>
              </a:solidFill>
            </a:rPr>
            <a:t> – A drive to be in control or have influence.</a:t>
          </a:r>
        </a:p>
      </dsp:txBody>
      <dsp:txXfrm rot="10800000">
        <a:off x="2029520" y="1928506"/>
        <a:ext cx="6952645" cy="494325"/>
      </dsp:txXfrm>
    </dsp:sp>
    <dsp:sp modelId="{ADF4C5D2-2588-4F1D-A41C-400277FB687D}">
      <dsp:nvSpPr>
        <dsp:cNvPr id="0" name=""/>
        <dsp:cNvSpPr/>
      </dsp:nvSpPr>
      <dsp:spPr>
        <a:xfrm>
          <a:off x="1658776" y="1928506"/>
          <a:ext cx="494325" cy="494325"/>
        </a:xfrm>
        <a:prstGeom prst="ellipse">
          <a:avLst/>
        </a:prstGeom>
        <a:solidFill>
          <a:srgbClr val="FB010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4CC7DC-EE97-4767-8086-F4626F82D364}">
      <dsp:nvSpPr>
        <dsp:cNvPr id="0" name=""/>
        <dsp:cNvSpPr/>
      </dsp:nvSpPr>
      <dsp:spPr>
        <a:xfrm rot="10800000">
          <a:off x="1905939" y="2570391"/>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Altruistic</a:t>
          </a:r>
          <a:r>
            <a:rPr lang="en-US" sz="1700" kern="1200" dirty="0">
              <a:solidFill>
                <a:schemeClr val="tx1"/>
              </a:solidFill>
            </a:rPr>
            <a:t> – A drive to help others at the expense of self.</a:t>
          </a:r>
        </a:p>
      </dsp:txBody>
      <dsp:txXfrm rot="10800000">
        <a:off x="2029520" y="2570391"/>
        <a:ext cx="6952645" cy="494325"/>
      </dsp:txXfrm>
    </dsp:sp>
    <dsp:sp modelId="{BA77C234-1EA3-4C2E-B236-EBEB2900B2E1}">
      <dsp:nvSpPr>
        <dsp:cNvPr id="0" name=""/>
        <dsp:cNvSpPr/>
      </dsp:nvSpPr>
      <dsp:spPr>
        <a:xfrm>
          <a:off x="1658776" y="2570391"/>
          <a:ext cx="494325" cy="494325"/>
        </a:xfrm>
        <a:prstGeom prst="ellipse">
          <a:avLst/>
        </a:prstGeom>
        <a:solidFill>
          <a:srgbClr val="FCCB0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684ED6-1F07-4593-84DE-2105224A10C5}">
      <dsp:nvSpPr>
        <dsp:cNvPr id="0" name=""/>
        <dsp:cNvSpPr/>
      </dsp:nvSpPr>
      <dsp:spPr>
        <a:xfrm rot="10800000">
          <a:off x="1905939" y="3212277"/>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Regulatory</a:t>
          </a:r>
          <a:r>
            <a:rPr lang="en-US" sz="1700" kern="1200" dirty="0">
              <a:solidFill>
                <a:schemeClr val="tx1"/>
              </a:solidFill>
            </a:rPr>
            <a:t> – A drive to establish order, routine and structure.</a:t>
          </a:r>
        </a:p>
      </dsp:txBody>
      <dsp:txXfrm rot="10800000">
        <a:off x="2029520" y="3212277"/>
        <a:ext cx="6952645" cy="494325"/>
      </dsp:txXfrm>
    </dsp:sp>
    <dsp:sp modelId="{20A8D3A9-06DA-410A-8BBF-9E576B6DF94B}">
      <dsp:nvSpPr>
        <dsp:cNvPr id="0" name=""/>
        <dsp:cNvSpPr/>
      </dsp:nvSpPr>
      <dsp:spPr>
        <a:xfrm>
          <a:off x="1658776" y="3212277"/>
          <a:ext cx="494325" cy="494325"/>
        </a:xfrm>
        <a:prstGeom prst="ellipse">
          <a:avLst/>
        </a:prstGeom>
        <a:solidFill>
          <a:srgbClr val="06060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EC49CE-3EB2-4027-87B1-C908C86EB733}">
      <dsp:nvSpPr>
        <dsp:cNvPr id="0" name=""/>
        <dsp:cNvSpPr/>
      </dsp:nvSpPr>
      <dsp:spPr>
        <a:xfrm rot="10800000">
          <a:off x="1905939" y="3854163"/>
          <a:ext cx="7076226" cy="494325"/>
        </a:xfrm>
        <a:prstGeom prst="homePlat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7984" tIns="64770" rIns="120904" bIns="64770" numCol="1" spcCol="1270" anchor="ctr" anchorCtr="0">
          <a:noAutofit/>
        </a:bodyPr>
        <a:lstStyle/>
        <a:p>
          <a:pPr marL="0" lvl="0" indent="0" algn="l" defTabSz="755650">
            <a:lnSpc>
              <a:spcPct val="90000"/>
            </a:lnSpc>
            <a:spcBef>
              <a:spcPct val="0"/>
            </a:spcBef>
            <a:spcAft>
              <a:spcPct val="35000"/>
            </a:spcAft>
            <a:buNone/>
          </a:pPr>
          <a:r>
            <a:rPr lang="en-US" sz="1700" b="1" kern="1200" dirty="0">
              <a:solidFill>
                <a:schemeClr val="tx1"/>
              </a:solidFill>
            </a:rPr>
            <a:t>Theoretical</a:t>
          </a:r>
          <a:r>
            <a:rPr lang="en-US" sz="1700" kern="1200" dirty="0">
              <a:solidFill>
                <a:schemeClr val="tx1"/>
              </a:solidFill>
            </a:rPr>
            <a:t> – A drive for knowledge learning, and understanding.</a:t>
          </a:r>
        </a:p>
      </dsp:txBody>
      <dsp:txXfrm rot="10800000">
        <a:off x="2029520" y="3854163"/>
        <a:ext cx="6952645" cy="494325"/>
      </dsp:txXfrm>
    </dsp:sp>
    <dsp:sp modelId="{CD77FAF4-D90C-44E3-923C-DD04295E7716}">
      <dsp:nvSpPr>
        <dsp:cNvPr id="0" name=""/>
        <dsp:cNvSpPr/>
      </dsp:nvSpPr>
      <dsp:spPr>
        <a:xfrm>
          <a:off x="1658776" y="3854163"/>
          <a:ext cx="494325" cy="494325"/>
        </a:xfrm>
        <a:prstGeom prst="ellipse">
          <a:avLst/>
        </a:prstGeom>
        <a:solidFill>
          <a:srgbClr val="72390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6CAF66-5F4F-44A5-B846-9C6BD2B4A7AA}">
      <dsp:nvSpPr>
        <dsp:cNvPr id="0" name=""/>
        <dsp:cNvSpPr/>
      </dsp:nvSpPr>
      <dsp:spPr>
        <a:xfrm>
          <a:off x="1733033" y="2244"/>
          <a:ext cx="2692858" cy="1346429"/>
        </a:xfrm>
        <a:prstGeom prst="roundRect">
          <a:avLst>
            <a:gd name="adj" fmla="val 10000"/>
          </a:avLst>
        </a:prstGeom>
        <a:solidFill>
          <a:srgbClr val="1F22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IMPORTANCE</a:t>
          </a:r>
        </a:p>
      </dsp:txBody>
      <dsp:txXfrm>
        <a:off x="1772469" y="41680"/>
        <a:ext cx="2613986" cy="1267557"/>
      </dsp:txXfrm>
    </dsp:sp>
    <dsp:sp modelId="{71849C53-F907-456E-967A-4576588DB53F}">
      <dsp:nvSpPr>
        <dsp:cNvPr id="0" name=""/>
        <dsp:cNvSpPr/>
      </dsp:nvSpPr>
      <dsp:spPr>
        <a:xfrm>
          <a:off x="2002319" y="1348673"/>
          <a:ext cx="269285" cy="1009822"/>
        </a:xfrm>
        <a:custGeom>
          <a:avLst/>
          <a:gdLst/>
          <a:ahLst/>
          <a:cxnLst/>
          <a:rect l="0" t="0" r="0" b="0"/>
          <a:pathLst>
            <a:path>
              <a:moveTo>
                <a:pt x="0" y="0"/>
              </a:moveTo>
              <a:lnTo>
                <a:pt x="0" y="1009822"/>
              </a:lnTo>
              <a:lnTo>
                <a:pt x="269285" y="100982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F0E674-67DE-46A1-A315-DF04E0EED009}">
      <dsp:nvSpPr>
        <dsp:cNvPr id="0" name=""/>
        <dsp:cNvSpPr/>
      </dsp:nvSpPr>
      <dsp:spPr>
        <a:xfrm>
          <a:off x="2271605" y="1685281"/>
          <a:ext cx="2154287" cy="1346429"/>
        </a:xfrm>
        <a:prstGeom prst="roundRect">
          <a:avLst>
            <a:gd name="adj" fmla="val 10000"/>
          </a:avLst>
        </a:prstGeom>
        <a:solidFill>
          <a:schemeClr val="lt1">
            <a:alpha val="90000"/>
            <a:hueOff val="0"/>
            <a:satOff val="0"/>
            <a:lumOff val="0"/>
            <a:alphaOff val="0"/>
          </a:schemeClr>
        </a:solidFill>
        <a:ln w="12700" cap="flat" cmpd="sng" algn="ctr">
          <a:solidFill>
            <a:srgbClr val="1F225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IF I value it and HOW I value it </a:t>
          </a:r>
        </a:p>
      </dsp:txBody>
      <dsp:txXfrm>
        <a:off x="2311041" y="1724717"/>
        <a:ext cx="2075415" cy="1267557"/>
      </dsp:txXfrm>
    </dsp:sp>
    <dsp:sp modelId="{72F72CD7-22F0-437B-9C7A-C02046AFEF41}">
      <dsp:nvSpPr>
        <dsp:cNvPr id="0" name=""/>
        <dsp:cNvSpPr/>
      </dsp:nvSpPr>
      <dsp:spPr>
        <a:xfrm>
          <a:off x="2002319" y="1348673"/>
          <a:ext cx="269285" cy="2692858"/>
        </a:xfrm>
        <a:custGeom>
          <a:avLst/>
          <a:gdLst/>
          <a:ahLst/>
          <a:cxnLst/>
          <a:rect l="0" t="0" r="0" b="0"/>
          <a:pathLst>
            <a:path>
              <a:moveTo>
                <a:pt x="0" y="0"/>
              </a:moveTo>
              <a:lnTo>
                <a:pt x="0" y="2692858"/>
              </a:lnTo>
              <a:lnTo>
                <a:pt x="269285" y="2692858"/>
              </a:lnTo>
            </a:path>
          </a:pathLst>
        </a:custGeom>
        <a:noFill/>
        <a:ln w="12700" cap="flat" cmpd="sng" algn="ctr">
          <a:solidFill>
            <a:srgbClr val="1F225E"/>
          </a:solidFill>
          <a:prstDash val="solid"/>
          <a:miter lim="800000"/>
        </a:ln>
        <a:effectLst/>
      </dsp:spPr>
      <dsp:style>
        <a:lnRef idx="2">
          <a:scrgbClr r="0" g="0" b="0"/>
        </a:lnRef>
        <a:fillRef idx="0">
          <a:scrgbClr r="0" g="0" b="0"/>
        </a:fillRef>
        <a:effectRef idx="0">
          <a:scrgbClr r="0" g="0" b="0"/>
        </a:effectRef>
        <a:fontRef idx="minor"/>
      </dsp:style>
    </dsp:sp>
    <dsp:sp modelId="{1B352DDF-4939-418B-999C-20F203514FD6}">
      <dsp:nvSpPr>
        <dsp:cNvPr id="0" name=""/>
        <dsp:cNvSpPr/>
      </dsp:nvSpPr>
      <dsp:spPr>
        <a:xfrm>
          <a:off x="2271605" y="3368318"/>
          <a:ext cx="2154287" cy="1346429"/>
        </a:xfrm>
        <a:prstGeom prst="roundRect">
          <a:avLst>
            <a:gd name="adj" fmla="val 10000"/>
          </a:avLst>
        </a:prstGeom>
        <a:solidFill>
          <a:schemeClr val="lt1">
            <a:alpha val="90000"/>
            <a:hueOff val="0"/>
            <a:satOff val="0"/>
            <a:lumOff val="0"/>
            <a:alphaOff val="0"/>
          </a:schemeClr>
        </a:solidFill>
        <a:ln w="12700" cap="flat" cmpd="sng" algn="ctr">
          <a:solidFill>
            <a:srgbClr val="1F225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i="1" kern="1200" dirty="0"/>
            <a:t>determined by high or low scores</a:t>
          </a:r>
        </a:p>
      </dsp:txBody>
      <dsp:txXfrm>
        <a:off x="2311041" y="3407754"/>
        <a:ext cx="2075415" cy="1267557"/>
      </dsp:txXfrm>
    </dsp:sp>
    <dsp:sp modelId="{BA9DF530-1568-46B3-A92D-4AA5F6C34A27}">
      <dsp:nvSpPr>
        <dsp:cNvPr id="0" name=""/>
        <dsp:cNvSpPr/>
      </dsp:nvSpPr>
      <dsp:spPr>
        <a:xfrm>
          <a:off x="5099107" y="2244"/>
          <a:ext cx="2692858" cy="1346429"/>
        </a:xfrm>
        <a:prstGeom prst="roundRect">
          <a:avLst>
            <a:gd name="adj" fmla="val 10000"/>
          </a:avLst>
        </a:prstGeom>
        <a:solidFill>
          <a:srgbClr val="FCCB0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IMPACT</a:t>
          </a:r>
        </a:p>
      </dsp:txBody>
      <dsp:txXfrm>
        <a:off x="5138543" y="41680"/>
        <a:ext cx="2613986" cy="1267557"/>
      </dsp:txXfrm>
    </dsp:sp>
    <dsp:sp modelId="{34F838BF-F3DD-4E72-98B3-C5DFA00CD072}">
      <dsp:nvSpPr>
        <dsp:cNvPr id="0" name=""/>
        <dsp:cNvSpPr/>
      </dsp:nvSpPr>
      <dsp:spPr>
        <a:xfrm>
          <a:off x="5368393" y="1348673"/>
          <a:ext cx="269285" cy="1009822"/>
        </a:xfrm>
        <a:custGeom>
          <a:avLst/>
          <a:gdLst/>
          <a:ahLst/>
          <a:cxnLst/>
          <a:rect l="0" t="0" r="0" b="0"/>
          <a:pathLst>
            <a:path>
              <a:moveTo>
                <a:pt x="0" y="0"/>
              </a:moveTo>
              <a:lnTo>
                <a:pt x="0" y="1009822"/>
              </a:lnTo>
              <a:lnTo>
                <a:pt x="269285" y="1009822"/>
              </a:lnTo>
            </a:path>
          </a:pathLst>
        </a:custGeom>
        <a:noFill/>
        <a:ln w="12700" cap="flat" cmpd="sng" algn="ctr">
          <a:solidFill>
            <a:srgbClr val="FCCB0F"/>
          </a:solidFill>
          <a:prstDash val="solid"/>
          <a:miter lim="800000"/>
        </a:ln>
        <a:effectLst/>
      </dsp:spPr>
      <dsp:style>
        <a:lnRef idx="2">
          <a:scrgbClr r="0" g="0" b="0"/>
        </a:lnRef>
        <a:fillRef idx="0">
          <a:scrgbClr r="0" g="0" b="0"/>
        </a:fillRef>
        <a:effectRef idx="0">
          <a:scrgbClr r="0" g="0" b="0"/>
        </a:effectRef>
        <a:fontRef idx="minor"/>
      </dsp:style>
    </dsp:sp>
    <dsp:sp modelId="{3E613FC6-1536-4AC5-BD78-38884C363002}">
      <dsp:nvSpPr>
        <dsp:cNvPr id="0" name=""/>
        <dsp:cNvSpPr/>
      </dsp:nvSpPr>
      <dsp:spPr>
        <a:xfrm>
          <a:off x="5637679" y="1685281"/>
          <a:ext cx="2154287" cy="1346429"/>
        </a:xfrm>
        <a:prstGeom prst="roundRect">
          <a:avLst>
            <a:gd name="adj" fmla="val 10000"/>
          </a:avLst>
        </a:prstGeom>
        <a:solidFill>
          <a:schemeClr val="lt1">
            <a:alpha val="90000"/>
            <a:hueOff val="0"/>
            <a:satOff val="0"/>
            <a:lumOff val="0"/>
            <a:alphaOff val="0"/>
          </a:schemeClr>
        </a:solidFill>
        <a:ln w="12700" cap="flat" cmpd="sng" algn="ctr">
          <a:solidFill>
            <a:srgbClr val="FCCB0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How it influences my decisions &amp; actions </a:t>
          </a:r>
        </a:p>
      </dsp:txBody>
      <dsp:txXfrm>
        <a:off x="5677115" y="1724717"/>
        <a:ext cx="2075415" cy="1267557"/>
      </dsp:txXfrm>
    </dsp:sp>
    <dsp:sp modelId="{27A4357E-5AE1-4892-947F-EE169AF7D1F6}">
      <dsp:nvSpPr>
        <dsp:cNvPr id="0" name=""/>
        <dsp:cNvSpPr/>
      </dsp:nvSpPr>
      <dsp:spPr>
        <a:xfrm>
          <a:off x="5368393" y="1348673"/>
          <a:ext cx="269285" cy="2692858"/>
        </a:xfrm>
        <a:custGeom>
          <a:avLst/>
          <a:gdLst/>
          <a:ahLst/>
          <a:cxnLst/>
          <a:rect l="0" t="0" r="0" b="0"/>
          <a:pathLst>
            <a:path>
              <a:moveTo>
                <a:pt x="0" y="0"/>
              </a:moveTo>
              <a:lnTo>
                <a:pt x="0" y="2692858"/>
              </a:lnTo>
              <a:lnTo>
                <a:pt x="269285" y="2692858"/>
              </a:lnTo>
            </a:path>
          </a:pathLst>
        </a:custGeom>
        <a:noFill/>
        <a:ln w="12700" cap="flat" cmpd="sng" algn="ctr">
          <a:solidFill>
            <a:srgbClr val="FCCB0F"/>
          </a:solidFill>
          <a:prstDash val="solid"/>
          <a:miter lim="800000"/>
        </a:ln>
        <a:effectLst/>
      </dsp:spPr>
      <dsp:style>
        <a:lnRef idx="2">
          <a:scrgbClr r="0" g="0" b="0"/>
        </a:lnRef>
        <a:fillRef idx="0">
          <a:scrgbClr r="0" g="0" b="0"/>
        </a:fillRef>
        <a:effectRef idx="0">
          <a:scrgbClr r="0" g="0" b="0"/>
        </a:effectRef>
        <a:fontRef idx="minor"/>
      </dsp:style>
    </dsp:sp>
    <dsp:sp modelId="{1EE03B94-5B3A-421E-8686-2298568B33C8}">
      <dsp:nvSpPr>
        <dsp:cNvPr id="0" name=""/>
        <dsp:cNvSpPr/>
      </dsp:nvSpPr>
      <dsp:spPr>
        <a:xfrm>
          <a:off x="5637679" y="3368318"/>
          <a:ext cx="2154287" cy="1346429"/>
        </a:xfrm>
        <a:prstGeom prst="roundRect">
          <a:avLst>
            <a:gd name="adj" fmla="val 10000"/>
          </a:avLst>
        </a:prstGeom>
        <a:solidFill>
          <a:schemeClr val="lt1">
            <a:alpha val="90000"/>
            <a:hueOff val="0"/>
            <a:satOff val="0"/>
            <a:lumOff val="0"/>
            <a:alphaOff val="0"/>
          </a:schemeClr>
        </a:solidFill>
        <a:ln w="12700" cap="flat" cmpd="sng" algn="ctr">
          <a:solidFill>
            <a:srgbClr val="FCCB0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i="1" kern="1200" dirty="0"/>
            <a:t>determined by distance from norm – the ranking</a:t>
          </a:r>
        </a:p>
      </dsp:txBody>
      <dsp:txXfrm>
        <a:off x="5677115" y="3407754"/>
        <a:ext cx="2075415" cy="126755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58E466-47E7-472D-AC34-BD50788CFBD4}" type="datetimeFigureOut">
              <a:rPr lang="en-US" smtClean="0"/>
              <a:t>6/15/2020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9A222A-7EE5-461B-AB51-4E1740066219}" type="slidenum">
              <a:rPr lang="en-US" smtClean="0"/>
              <a:t>‹#›</a:t>
            </a:fld>
            <a:endParaRPr lang="en-US" dirty="0"/>
          </a:p>
        </p:txBody>
      </p:sp>
    </p:spTree>
    <p:extLst>
      <p:ext uri="{BB962C8B-B14F-4D97-AF65-F5344CB8AC3E}">
        <p14:creationId xmlns:p14="http://schemas.microsoft.com/office/powerpoint/2010/main" val="425125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1</a:t>
            </a:fld>
            <a:endParaRPr lang="en-US" dirty="0"/>
          </a:p>
        </p:txBody>
      </p:sp>
    </p:spTree>
    <p:extLst>
      <p:ext uri="{BB962C8B-B14F-4D97-AF65-F5344CB8AC3E}">
        <p14:creationId xmlns:p14="http://schemas.microsoft.com/office/powerpoint/2010/main" val="328267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Motivators</a:t>
            </a:r>
            <a:r>
              <a:rPr lang="en-US" sz="1200" kern="1200" dirty="0">
                <a:solidFill>
                  <a:schemeClr val="tx1"/>
                </a:solidFill>
                <a:effectLst/>
                <a:latin typeface="+mn-lt"/>
                <a:ea typeface="+mn-ea"/>
                <a:cs typeface="+mn-cs"/>
              </a:rPr>
              <a:t> help people to better understand their unique value hierarchy or belief system pertaining to what motivates them, what they are most drawn to and where their passions lie. </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There are many benefits of learning what Motivators influence us.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Motivators filter and guide decisions specifically toward results that will reflect them; they combine uniquely for each person to influence individual priorities and decision-making. It is vital for optimal performance that our motivations are satisfied by what we do. They drive our passions, reduce fatigue, and inspire us. </a:t>
            </a:r>
          </a:p>
          <a:p>
            <a:endParaRPr lang="en-US" dirty="0"/>
          </a:p>
        </p:txBody>
      </p:sp>
      <p:sp>
        <p:nvSpPr>
          <p:cNvPr id="4" name="Slide Number Placeholder 3"/>
          <p:cNvSpPr>
            <a:spLocks noGrp="1"/>
          </p:cNvSpPr>
          <p:nvPr>
            <p:ph type="sldNum" sz="quarter" idx="5"/>
          </p:nvPr>
        </p:nvSpPr>
        <p:spPr/>
        <p:txBody>
          <a:bodyPr/>
          <a:lstStyle/>
          <a:p>
            <a:fld id="{FA9A222A-7EE5-461B-AB51-4E1740066219}" type="slidenum">
              <a:rPr lang="en-US" smtClean="0"/>
              <a:t>2</a:t>
            </a:fld>
            <a:endParaRPr lang="en-US" dirty="0"/>
          </a:p>
        </p:txBody>
      </p:sp>
    </p:spTree>
    <p:extLst>
      <p:ext uri="{BB962C8B-B14F-4D97-AF65-F5344CB8AC3E}">
        <p14:creationId xmlns:p14="http://schemas.microsoft.com/office/powerpoint/2010/main" val="1650058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While it’s important to explore each motivator and what they mean, it is critical to remember that they cannot be separated. They can only be distinguished. Through</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 understanding of the motivators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we can begin to see how to maximize performance by achieving stronger alignment between our motivators, our choices, and our actions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7 Motivators:</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Aesthetic </a:t>
            </a:r>
            <a:r>
              <a:rPr lang="en-US" sz="1200" kern="1200" dirty="0">
                <a:solidFill>
                  <a:schemeClr val="tx1"/>
                </a:solidFill>
                <a:effectLst/>
                <a:latin typeface="+mn-lt"/>
                <a:ea typeface="+mn-ea"/>
                <a:cs typeface="+mn-cs"/>
              </a:rPr>
              <a:t>- a drive for balance, harmony, and form </a:t>
            </a:r>
          </a:p>
          <a:p>
            <a:pPr lvl="0"/>
            <a:r>
              <a:rPr lang="en-US" sz="1200" b="1" kern="1200" dirty="0">
                <a:solidFill>
                  <a:schemeClr val="tx1"/>
                </a:solidFill>
                <a:effectLst/>
                <a:latin typeface="+mn-lt"/>
                <a:ea typeface="+mn-ea"/>
                <a:cs typeface="+mn-cs"/>
              </a:rPr>
              <a:t>Economic -</a:t>
            </a:r>
            <a:r>
              <a:rPr lang="en-US" sz="1200" kern="1200" dirty="0">
                <a:solidFill>
                  <a:schemeClr val="tx1"/>
                </a:solidFill>
                <a:effectLst/>
                <a:latin typeface="+mn-lt"/>
                <a:ea typeface="+mn-ea"/>
                <a:cs typeface="+mn-cs"/>
              </a:rPr>
              <a:t> a drive for a return on investment</a:t>
            </a:r>
          </a:p>
          <a:p>
            <a:pPr lvl="0"/>
            <a:r>
              <a:rPr lang="en-US" sz="1200" b="1" kern="1200" dirty="0">
                <a:solidFill>
                  <a:schemeClr val="tx1"/>
                </a:solidFill>
                <a:effectLst/>
                <a:latin typeface="+mn-lt"/>
                <a:ea typeface="+mn-ea"/>
                <a:cs typeface="+mn-cs"/>
              </a:rPr>
              <a:t>Individualistic </a:t>
            </a:r>
            <a:r>
              <a:rPr lang="en-US" sz="1200" kern="1200" dirty="0">
                <a:solidFill>
                  <a:schemeClr val="tx1"/>
                </a:solidFill>
                <a:effectLst/>
                <a:latin typeface="+mn-lt"/>
                <a:ea typeface="+mn-ea"/>
                <a:cs typeface="+mn-cs"/>
              </a:rPr>
              <a:t>- a drive to stand out as independent and unique</a:t>
            </a:r>
          </a:p>
          <a:p>
            <a:pPr lvl="0"/>
            <a:r>
              <a:rPr lang="en-US" sz="1200" b="1" kern="1200" dirty="0">
                <a:solidFill>
                  <a:schemeClr val="tx1"/>
                </a:solidFill>
                <a:effectLst/>
                <a:latin typeface="+mn-lt"/>
                <a:ea typeface="+mn-ea"/>
                <a:cs typeface="+mn-cs"/>
              </a:rPr>
              <a:t>Power</a:t>
            </a:r>
            <a:r>
              <a:rPr lang="en-US" sz="1200" kern="1200" dirty="0">
                <a:solidFill>
                  <a:schemeClr val="tx1"/>
                </a:solidFill>
                <a:effectLst/>
                <a:latin typeface="+mn-lt"/>
                <a:ea typeface="+mn-ea"/>
                <a:cs typeface="+mn-cs"/>
              </a:rPr>
              <a:t> - a drive to be in control or have influence</a:t>
            </a:r>
          </a:p>
          <a:p>
            <a:pPr lvl="0"/>
            <a:r>
              <a:rPr lang="en-US" sz="1200" b="1" kern="1200" dirty="0">
                <a:solidFill>
                  <a:schemeClr val="tx1"/>
                </a:solidFill>
                <a:effectLst/>
                <a:latin typeface="+mn-lt"/>
                <a:ea typeface="+mn-ea"/>
                <a:cs typeface="+mn-cs"/>
              </a:rPr>
              <a:t>Altruistic</a:t>
            </a:r>
            <a:r>
              <a:rPr lang="en-US" sz="1200" kern="1200" dirty="0">
                <a:solidFill>
                  <a:schemeClr val="tx1"/>
                </a:solidFill>
                <a:effectLst/>
                <a:latin typeface="+mn-lt"/>
                <a:ea typeface="+mn-ea"/>
                <a:cs typeface="+mn-cs"/>
              </a:rPr>
              <a:t> - a drive to help others at the expense of self</a:t>
            </a:r>
          </a:p>
          <a:p>
            <a:pPr lvl="0"/>
            <a:r>
              <a:rPr lang="en-US" sz="1200" b="1" kern="1200" dirty="0">
                <a:solidFill>
                  <a:schemeClr val="tx1"/>
                </a:solidFill>
                <a:effectLst/>
                <a:latin typeface="+mn-lt"/>
                <a:ea typeface="+mn-ea"/>
                <a:cs typeface="+mn-cs"/>
              </a:rPr>
              <a:t>Regulatory</a:t>
            </a:r>
            <a:r>
              <a:rPr lang="en-US" sz="1200" kern="1200" dirty="0">
                <a:solidFill>
                  <a:schemeClr val="tx1"/>
                </a:solidFill>
                <a:effectLst/>
                <a:latin typeface="+mn-lt"/>
                <a:ea typeface="+mn-ea"/>
                <a:cs typeface="+mn-cs"/>
              </a:rPr>
              <a:t> - a drive to establish order, routine, and structure</a:t>
            </a:r>
          </a:p>
          <a:p>
            <a:pPr lvl="0"/>
            <a:r>
              <a:rPr lang="en-US" sz="1200" b="1" kern="1200" dirty="0">
                <a:solidFill>
                  <a:schemeClr val="tx1"/>
                </a:solidFill>
                <a:effectLst/>
                <a:latin typeface="+mn-lt"/>
                <a:ea typeface="+mn-ea"/>
                <a:cs typeface="+mn-cs"/>
              </a:rPr>
              <a:t>Theoretical </a:t>
            </a:r>
            <a:r>
              <a:rPr lang="en-US" sz="1200" kern="1200" dirty="0">
                <a:solidFill>
                  <a:schemeClr val="tx1"/>
                </a:solidFill>
                <a:effectLst/>
                <a:latin typeface="+mn-lt"/>
                <a:ea typeface="+mn-ea"/>
                <a:cs typeface="+mn-cs"/>
              </a:rPr>
              <a:t>- a drive for knowledge, learning, and understanding</a:t>
            </a:r>
          </a:p>
          <a:p>
            <a:endParaRPr lang="en-US" dirty="0"/>
          </a:p>
        </p:txBody>
      </p:sp>
      <p:sp>
        <p:nvSpPr>
          <p:cNvPr id="4" name="Slide Number Placeholder 3"/>
          <p:cNvSpPr>
            <a:spLocks noGrp="1"/>
          </p:cNvSpPr>
          <p:nvPr>
            <p:ph type="sldNum" sz="quarter" idx="5"/>
          </p:nvPr>
        </p:nvSpPr>
        <p:spPr/>
        <p:txBody>
          <a:bodyPr/>
          <a:lstStyle/>
          <a:p>
            <a:fld id="{FA9A222A-7EE5-461B-AB51-4E1740066219}" type="slidenum">
              <a:rPr lang="en-US" smtClean="0"/>
              <a:t>3</a:t>
            </a:fld>
            <a:endParaRPr lang="en-US" dirty="0"/>
          </a:p>
        </p:txBody>
      </p:sp>
    </p:spTree>
    <p:extLst>
      <p:ext uri="{BB962C8B-B14F-4D97-AF65-F5344CB8AC3E}">
        <p14:creationId xmlns:p14="http://schemas.microsoft.com/office/powerpoint/2010/main" val="2904540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concepts are incredibly important in Motivators. While connected, there are different concepts to consider when reviewing the Motivators. </a:t>
            </a:r>
          </a:p>
          <a:p>
            <a:endParaRPr lang="en-US" dirty="0"/>
          </a:p>
          <a:p>
            <a:r>
              <a:rPr lang="en-US" b="1" dirty="0"/>
              <a:t>IMPORTANCE</a:t>
            </a:r>
            <a:r>
              <a:rPr lang="en-US" dirty="0"/>
              <a:t> is determined by the score and comes in two parts – it explains </a:t>
            </a:r>
            <a:r>
              <a:rPr lang="en-US" b="1" dirty="0"/>
              <a:t>IF I value </a:t>
            </a:r>
            <a:r>
              <a:rPr lang="en-US" dirty="0"/>
              <a:t>the dimension and </a:t>
            </a:r>
            <a:r>
              <a:rPr lang="en-US" b="1" dirty="0"/>
              <a:t>HOW I value </a:t>
            </a:r>
            <a:r>
              <a:rPr lang="en-US" dirty="0"/>
              <a:t>it. </a:t>
            </a:r>
          </a:p>
          <a:p>
            <a:r>
              <a:rPr lang="en-US" b="1" i="1" dirty="0"/>
              <a:t>Let’s look at IF I value it first – </a:t>
            </a:r>
            <a:br>
              <a:rPr lang="en-US" b="1" i="1" dirty="0"/>
            </a:br>
            <a:r>
              <a:rPr lang="en-US" b="1" i="1" dirty="0"/>
              <a:t>A High Score means that the expression of this Motivator is very important to me. </a:t>
            </a:r>
            <a:br>
              <a:rPr lang="en-US" i="1" dirty="0"/>
            </a:br>
            <a:r>
              <a:rPr lang="en-US" i="1" dirty="0"/>
              <a:t>Example: If I am High Economic – getting a return on my investment is VERY Important. </a:t>
            </a:r>
          </a:p>
          <a:p>
            <a:r>
              <a:rPr lang="en-US" b="1" i="1" dirty="0"/>
              <a:t>A LOW Score means that this Motivators is not important to me. </a:t>
            </a:r>
            <a:br>
              <a:rPr lang="en-US" i="1" dirty="0"/>
            </a:br>
            <a:r>
              <a:rPr lang="en-US" i="1" dirty="0"/>
              <a:t>Example: If I am Low Economic, a return on my investment is NOT important to me. </a:t>
            </a:r>
          </a:p>
          <a:p>
            <a:endParaRPr lang="en-US" dirty="0"/>
          </a:p>
          <a:p>
            <a:r>
              <a:rPr lang="en-US" b="1" i="1" dirty="0"/>
              <a:t>Now, how I value it. </a:t>
            </a:r>
            <a:r>
              <a:rPr lang="en-US" b="0" dirty="0"/>
              <a:t>My score (whether high or low) reveals a descriptor of HOW I value the dimension. (We’ll see these later on the word sketch). When we are looking at HOW I value it: </a:t>
            </a:r>
          </a:p>
          <a:p>
            <a:r>
              <a:rPr lang="en-US" b="1" i="1" dirty="0"/>
              <a:t>A High ECO score shows Competitive. This is HOW I interact with this Motivator or the “thing” that drives me. </a:t>
            </a:r>
          </a:p>
          <a:p>
            <a:r>
              <a:rPr lang="en-US" b="1" i="1" dirty="0"/>
              <a:t>A Low ECO score shows Satisfied. This is HOW I interact with this Motivator or the “thing” that drives me.</a:t>
            </a:r>
          </a:p>
          <a:p>
            <a:r>
              <a:rPr lang="en-US" b="1" i="1" dirty="0"/>
              <a:t>If I am driven by competition, then everything becomes an opportunity for me to fight for the win. If I am satisfied, I won’t fight for the win, but rather take what is presented to me as it comes and make the best of it. </a:t>
            </a:r>
          </a:p>
          <a:p>
            <a:endParaRPr lang="en-US" b="1" i="1" dirty="0"/>
          </a:p>
          <a:p>
            <a:endParaRPr lang="en-US" b="1"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dirty="0">
                <a:latin typeface="Calibri" panose="020F0502020204030204" pitchFamily="34" charset="0"/>
                <a:ea typeface="Times New Roman" panose="02020603050405020304" pitchFamily="18" charset="0"/>
              </a:rPr>
              <a:t>IMPACT</a:t>
            </a:r>
            <a:r>
              <a:rPr lang="en-US" sz="1200" b="0" i="0" u="none" dirty="0">
                <a:latin typeface="Calibri" panose="020F0502020204030204" pitchFamily="34" charset="0"/>
                <a:ea typeface="Times New Roman" panose="02020603050405020304" pitchFamily="18" charset="0"/>
              </a:rPr>
              <a:t> is how it influences my decisions and actions and is determined by distance from norm shown as a ranking. When exploring impact there are few things to know as well: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dirty="0">
              <a:latin typeface="Calibri" panose="020F0502020204030204" pitchFamily="34" charset="0"/>
              <a:ea typeface="Calibri" panose="020F0502020204030204" pitchFamily="34" charset="0"/>
            </a:endParaRPr>
          </a:p>
          <a:p>
            <a:pPr marL="742950" marR="0" lvl="1" indent="-285750">
              <a:spcBef>
                <a:spcPts val="0"/>
              </a:spcBef>
              <a:spcAft>
                <a:spcPts val="0"/>
              </a:spcAft>
              <a:buFont typeface="Courier New" panose="02070309020205020404" pitchFamily="49" charset="0"/>
              <a:buChar char="o"/>
            </a:pPr>
            <a:r>
              <a:rPr lang="en-US" sz="1800" dirty="0">
                <a:latin typeface="Calibri" panose="020F0502020204030204" pitchFamily="34" charset="0"/>
                <a:ea typeface="Times New Roman" panose="02020603050405020304" pitchFamily="18" charset="0"/>
              </a:rPr>
              <a:t>Impact is determined by how far your score is away from NORMAL. Scores that fall within the Average will have less impact because the needs are </a:t>
            </a:r>
            <a:r>
              <a:rPr lang="en-US" sz="1800" i="1" dirty="0">
                <a:latin typeface="Calibri" panose="020F0502020204030204" pitchFamily="34" charset="0"/>
                <a:ea typeface="Times New Roman" panose="02020603050405020304" pitchFamily="18" charset="0"/>
              </a:rPr>
              <a:t>without passion</a:t>
            </a:r>
            <a:r>
              <a:rPr lang="en-US" sz="1800" dirty="0">
                <a:latin typeface="Calibri" panose="020F0502020204030204" pitchFamily="34" charset="0"/>
                <a:ea typeface="Times New Roman" panose="02020603050405020304" pitchFamily="18" charset="0"/>
              </a:rPr>
              <a:t>, where scores that are higher or lower have more passion </a:t>
            </a:r>
            <a:r>
              <a:rPr lang="en-US" sz="1800" b="1" dirty="0">
                <a:latin typeface="Calibri" panose="020F0502020204030204" pitchFamily="34" charset="0"/>
                <a:ea typeface="Times New Roman" panose="02020603050405020304" pitchFamily="18" charset="0"/>
              </a:rPr>
              <a:t>for</a:t>
            </a:r>
            <a:r>
              <a:rPr lang="en-US" sz="1800" dirty="0">
                <a:latin typeface="Calibri" panose="020F0502020204030204" pitchFamily="34" charset="0"/>
                <a:ea typeface="Times New Roman" panose="02020603050405020304" pitchFamily="18" charset="0"/>
              </a:rPr>
              <a:t> or </a:t>
            </a:r>
            <a:r>
              <a:rPr lang="en-US" sz="1800" b="1" dirty="0">
                <a:latin typeface="Calibri" panose="020F0502020204030204" pitchFamily="34" charset="0"/>
                <a:ea typeface="Times New Roman" panose="02020603050405020304" pitchFamily="18" charset="0"/>
              </a:rPr>
              <a:t>away from</a:t>
            </a:r>
            <a:r>
              <a:rPr lang="en-US" sz="1800" dirty="0">
                <a:latin typeface="Calibri" panose="020F0502020204030204" pitchFamily="34" charset="0"/>
                <a:ea typeface="Times New Roman" panose="02020603050405020304" pitchFamily="18" charset="0"/>
              </a:rPr>
              <a:t>. Those in the middle could go either way, depending on the situation.</a:t>
            </a:r>
          </a:p>
          <a:p>
            <a:pPr marL="457200" marR="0" lvl="1" indent="0">
              <a:spcBef>
                <a:spcPts val="0"/>
              </a:spcBef>
              <a:spcAft>
                <a:spcPts val="0"/>
              </a:spcAft>
              <a:buFont typeface="Courier New" panose="02070309020205020404" pitchFamily="49" charset="0"/>
              <a:buNone/>
            </a:pPr>
            <a:endParaRPr lang="en-US" sz="1800" dirty="0">
              <a:latin typeface="Calibri" panose="020F0502020204030204" pitchFamily="34" charset="0"/>
              <a:ea typeface="Calibri" panose="020F0502020204030204" pitchFamily="34" charset="0"/>
            </a:endParaRPr>
          </a:p>
          <a:p>
            <a:pPr marL="457200" marR="0" lvl="1" indent="0">
              <a:spcBef>
                <a:spcPts val="0"/>
              </a:spcBef>
              <a:spcAft>
                <a:spcPts val="0"/>
              </a:spcAft>
              <a:buFont typeface="Courier New" panose="02070309020205020404" pitchFamily="49" charset="0"/>
              <a:buNone/>
            </a:pPr>
            <a:r>
              <a:rPr lang="en-US" sz="1800" dirty="0">
                <a:latin typeface="Calibri" panose="020F0502020204030204" pitchFamily="34" charset="0"/>
                <a:ea typeface="Calibri" panose="020F0502020204030204" pitchFamily="34" charset="0"/>
              </a:rPr>
              <a:t>If Impact tells us how that Motivators will affect our decisions and actions, it’s helpful to remember some people are driven to be LIKE others, and some are driven to be DIFFERENT. </a:t>
            </a:r>
          </a:p>
          <a:p>
            <a:pPr marL="742950" marR="0" lvl="1" indent="-285750">
              <a:spcBef>
                <a:spcPts val="0"/>
              </a:spcBef>
              <a:spcAft>
                <a:spcPts val="0"/>
              </a:spcAft>
              <a:buFont typeface="Courier New" panose="02070309020205020404" pitchFamily="49" charset="0"/>
              <a:buChar char="o"/>
            </a:pPr>
            <a:r>
              <a:rPr lang="en-US" sz="1800" dirty="0">
                <a:latin typeface="Calibri" panose="020F0502020204030204" pitchFamily="34" charset="0"/>
                <a:ea typeface="Times New Roman" panose="02020603050405020304" pitchFamily="18" charset="0"/>
              </a:rPr>
              <a:t>If 7 out of 10 people are all doing things the same way, the only person who will be noticed (and also feel out of place) will be the outlier, doing things in a way others haven’t.</a:t>
            </a:r>
          </a:p>
          <a:p>
            <a:pPr marL="742950" marR="0" lvl="1" indent="-285750">
              <a:spcBef>
                <a:spcPts val="0"/>
              </a:spcBef>
              <a:spcAft>
                <a:spcPts val="0"/>
              </a:spcAft>
              <a:buFont typeface="Courier New" panose="02070309020205020404" pitchFamily="49" charset="0"/>
              <a:buChar char="o"/>
            </a:pPr>
            <a:endParaRPr lang="en-US" sz="1800" dirty="0">
              <a:latin typeface="Calibri" panose="020F0502020204030204" pitchFamily="34" charset="0"/>
              <a:ea typeface="Times New Roman" panose="02020603050405020304" pitchFamily="18" charset="0"/>
            </a:endParaRPr>
          </a:p>
          <a:p>
            <a:pPr marL="742950" marR="0" lvl="1" indent="-285750">
              <a:spcBef>
                <a:spcPts val="0"/>
              </a:spcBef>
              <a:spcAft>
                <a:spcPts val="0"/>
              </a:spcAft>
              <a:buFont typeface="Courier New" panose="02070309020205020404" pitchFamily="49" charset="0"/>
              <a:buChar char="o"/>
            </a:pPr>
            <a:r>
              <a:rPr lang="en-US" sz="1800" dirty="0">
                <a:latin typeface="Calibri" panose="020F0502020204030204" pitchFamily="34" charset="0"/>
                <a:ea typeface="Times New Roman" panose="02020603050405020304" pitchFamily="18" charset="0"/>
              </a:rPr>
              <a:t>Because all people are looking to balance an individual existence with a shared/community existence, being </a:t>
            </a:r>
            <a:r>
              <a:rPr lang="en-US" sz="1800" b="1" dirty="0">
                <a:latin typeface="Calibri" panose="020F0502020204030204" pitchFamily="34" charset="0"/>
                <a:ea typeface="Times New Roman" panose="02020603050405020304" pitchFamily="18" charset="0"/>
              </a:rPr>
              <a:t>like</a:t>
            </a:r>
            <a:r>
              <a:rPr lang="en-US" sz="1800" dirty="0">
                <a:latin typeface="Calibri" panose="020F0502020204030204" pitchFamily="34" charset="0"/>
                <a:ea typeface="Times New Roman" panose="02020603050405020304" pitchFamily="18" charset="0"/>
              </a:rPr>
              <a:t> the population can have a great deal of impact on how we choose to behave. If we don’t want to stand out, we may choose what would make us seem alike, rather than stand out. </a:t>
            </a:r>
          </a:p>
          <a:p>
            <a:pPr marL="457200" marR="0" lvl="1" indent="0">
              <a:spcBef>
                <a:spcPts val="0"/>
              </a:spcBef>
              <a:spcAft>
                <a:spcPts val="0"/>
              </a:spcAft>
              <a:buFont typeface="Courier New" panose="02070309020205020404" pitchFamily="49" charset="0"/>
              <a:buNone/>
            </a:pPr>
            <a:endParaRPr lang="en-US" sz="1800" b="1" i="0" dirty="0">
              <a:latin typeface="Calibri" panose="020F0502020204030204" pitchFamily="34" charset="0"/>
            </a:endParaRPr>
          </a:p>
          <a:p>
            <a:pPr marL="457200" marR="0" lvl="1" indent="0">
              <a:spcBef>
                <a:spcPts val="0"/>
              </a:spcBef>
              <a:spcAft>
                <a:spcPts val="0"/>
              </a:spcAft>
              <a:buFont typeface="Courier New" panose="02070309020205020404" pitchFamily="49" charset="0"/>
              <a:buNone/>
            </a:pPr>
            <a:r>
              <a:rPr lang="en-US" sz="1800" b="1" i="0" dirty="0">
                <a:latin typeface="Calibri" panose="020F0502020204030204" pitchFamily="34" charset="0"/>
              </a:rPr>
              <a:t>We’ll talk more about these concepts again when we look at report scoring, but remember these are crucial to understanding how and why our Motivators drive us. </a:t>
            </a:r>
          </a:p>
          <a:p>
            <a:endParaRPr lang="en-US" dirty="0"/>
          </a:p>
        </p:txBody>
      </p:sp>
      <p:sp>
        <p:nvSpPr>
          <p:cNvPr id="4" name="Slide Number Placeholder 3"/>
          <p:cNvSpPr>
            <a:spLocks noGrp="1"/>
          </p:cNvSpPr>
          <p:nvPr>
            <p:ph type="sldNum" sz="quarter" idx="5"/>
          </p:nvPr>
        </p:nvSpPr>
        <p:spPr/>
        <p:txBody>
          <a:bodyPr/>
          <a:lstStyle/>
          <a:p>
            <a:fld id="{FA9A222A-7EE5-461B-AB51-4E1740066219}" type="slidenum">
              <a:rPr lang="en-US" smtClean="0"/>
              <a:t>4</a:t>
            </a:fld>
            <a:endParaRPr lang="en-US" dirty="0"/>
          </a:p>
        </p:txBody>
      </p:sp>
    </p:spTree>
    <p:extLst>
      <p:ext uri="{BB962C8B-B14F-4D97-AF65-F5344CB8AC3E}">
        <p14:creationId xmlns:p14="http://schemas.microsoft.com/office/powerpoint/2010/main" val="926209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Slide – show each of the 5 steps.</a:t>
            </a:r>
          </a:p>
          <a:p>
            <a:endParaRPr lang="en-US" dirty="0"/>
          </a:p>
        </p:txBody>
      </p:sp>
      <p:sp>
        <p:nvSpPr>
          <p:cNvPr id="4" name="Slide Number Placeholder 3"/>
          <p:cNvSpPr>
            <a:spLocks noGrp="1"/>
          </p:cNvSpPr>
          <p:nvPr>
            <p:ph type="sldNum" sz="quarter" idx="5"/>
          </p:nvPr>
        </p:nvSpPr>
        <p:spPr/>
        <p:txBody>
          <a:bodyPr/>
          <a:lstStyle/>
          <a:p>
            <a:fld id="{FA9A222A-7EE5-461B-AB51-4E1740066219}" type="slidenum">
              <a:rPr lang="en-US" smtClean="0"/>
              <a:t>5</a:t>
            </a:fld>
            <a:endParaRPr lang="en-US" dirty="0"/>
          </a:p>
        </p:txBody>
      </p:sp>
    </p:spTree>
    <p:extLst>
      <p:ext uri="{BB962C8B-B14F-4D97-AF65-F5344CB8AC3E}">
        <p14:creationId xmlns:p14="http://schemas.microsoft.com/office/powerpoint/2010/main" val="209604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There are five score options for Motivators:</a:t>
            </a:r>
            <a:r>
              <a:rPr lang="en-US" b="1" baseline="0" dirty="0"/>
              <a:t> </a:t>
            </a:r>
          </a:p>
          <a:p>
            <a:r>
              <a:rPr lang="en-US" sz="1200" b="1" i="1" kern="1200" dirty="0">
                <a:solidFill>
                  <a:schemeClr val="tx1"/>
                </a:solidFill>
                <a:effectLst/>
                <a:latin typeface="+mn-lt"/>
                <a:ea typeface="+mn-ea"/>
                <a:cs typeface="+mn-cs"/>
              </a:rPr>
              <a:t>Very Low, </a:t>
            </a:r>
            <a:r>
              <a:rPr lang="en-US" sz="1200" b="1" i="1" kern="1200" baseline="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Low,  Average, High, Very High</a:t>
            </a:r>
          </a:p>
          <a:p>
            <a:endParaRPr lang="en-US" sz="1200" b="1" i="1" kern="1200" dirty="0">
              <a:solidFill>
                <a:schemeClr val="tx1"/>
              </a:solidFill>
              <a:effectLst/>
              <a:latin typeface="+mn-lt"/>
              <a:ea typeface="+mn-ea"/>
              <a:cs typeface="+mn-cs"/>
            </a:endParaRPr>
          </a:p>
          <a:p>
            <a:endParaRPr lang="en-US" sz="1200" b="1" i="1"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Both low and high scores can have an influence on the choices we make. Average scores (in the mid-range noted by a grey box plot in the report) create a </a:t>
            </a:r>
            <a:r>
              <a:rPr lang="en-US" sz="1200" b="1" kern="1200" dirty="0">
                <a:solidFill>
                  <a:schemeClr val="tx1"/>
                </a:solidFill>
                <a:effectLst/>
                <a:latin typeface="+mn-lt"/>
                <a:ea typeface="+mn-ea"/>
                <a:cs typeface="+mn-cs"/>
              </a:rPr>
              <a:t>normal degree</a:t>
            </a:r>
            <a:r>
              <a:rPr lang="en-US" sz="1200" kern="1200" dirty="0">
                <a:solidFill>
                  <a:schemeClr val="tx1"/>
                </a:solidFill>
                <a:effectLst/>
                <a:latin typeface="+mn-lt"/>
                <a:ea typeface="+mn-ea"/>
                <a:cs typeface="+mn-cs"/>
              </a:rPr>
              <a:t> of influence which is typically not noticeable.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very high and very low are "red zones" or danger zones.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Whether scores are high or low, the motivators with the </a:t>
            </a:r>
            <a:r>
              <a:rPr lang="en-US" sz="1200" b="1" kern="1200" dirty="0">
                <a:solidFill>
                  <a:schemeClr val="tx1"/>
                </a:solidFill>
                <a:effectLst/>
                <a:latin typeface="+mn-lt"/>
                <a:ea typeface="+mn-ea"/>
                <a:cs typeface="+mn-cs"/>
              </a:rPr>
              <a:t>furthest distance above or below the mean </a:t>
            </a:r>
            <a:r>
              <a:rPr lang="en-US" sz="1200" kern="1200" dirty="0">
                <a:solidFill>
                  <a:schemeClr val="tx1"/>
                </a:solidFill>
                <a:effectLst/>
                <a:latin typeface="+mn-lt"/>
                <a:ea typeface="+mn-ea"/>
                <a:cs typeface="+mn-cs"/>
              </a:rPr>
              <a:t>(or norm - the grey line in the center of the box plot) will be the highest influencers leading to the greatest impact on the decisions being made. The impact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will be specific</a:t>
            </a:r>
            <a:r>
              <a:rPr lang="en-US" sz="1200" kern="1200" baseline="0" dirty="0">
                <a:solidFill>
                  <a:schemeClr val="tx1"/>
                </a:solidFill>
                <a:effectLst/>
                <a:latin typeface="+mn-lt"/>
                <a:ea typeface="+mn-ea"/>
                <a:cs typeface="+mn-cs"/>
              </a:rPr>
              <a:t> to the </a:t>
            </a:r>
            <a:r>
              <a:rPr lang="en-US" sz="1200" kern="1200" dirty="0">
                <a:solidFill>
                  <a:schemeClr val="tx1"/>
                </a:solidFill>
                <a:effectLst/>
                <a:latin typeface="+mn-lt"/>
                <a:ea typeface="+mn-ea"/>
                <a:cs typeface="+mn-cs"/>
              </a:rPr>
              <a:t>score (high</a:t>
            </a:r>
            <a:r>
              <a:rPr lang="en-US" sz="1200" kern="1200" baseline="0" dirty="0">
                <a:solidFill>
                  <a:schemeClr val="tx1"/>
                </a:solidFill>
                <a:effectLst/>
                <a:latin typeface="+mn-lt"/>
                <a:ea typeface="+mn-ea"/>
                <a:cs typeface="+mn-cs"/>
              </a:rPr>
              <a:t> means different than</a:t>
            </a:r>
            <a:r>
              <a:rPr lang="en-US" sz="1200" kern="1200" dirty="0">
                <a:solidFill>
                  <a:schemeClr val="tx1"/>
                </a:solidFill>
                <a:effectLst/>
                <a:latin typeface="+mn-lt"/>
                <a:ea typeface="+mn-ea"/>
                <a:cs typeface="+mn-cs"/>
              </a:rPr>
              <a:t> low)</a:t>
            </a:r>
            <a:r>
              <a:rPr lang="en-US" sz="1200" kern="1200" baseline="0" dirty="0">
                <a:solidFill>
                  <a:schemeClr val="tx1"/>
                </a:solidFill>
                <a:effectLst/>
                <a:latin typeface="+mn-lt"/>
                <a:ea typeface="+mn-ea"/>
                <a:cs typeface="+mn-cs"/>
              </a:rPr>
              <a:t> but the influence will be as powerful whether the score is above the line or below.</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A9A222A-7EE5-461B-AB51-4E1740066219}" type="slidenum">
              <a:rPr lang="en-US" smtClean="0"/>
              <a:t>6</a:t>
            </a:fld>
            <a:endParaRPr lang="en-US" dirty="0"/>
          </a:p>
        </p:txBody>
      </p:sp>
    </p:spTree>
    <p:extLst>
      <p:ext uri="{BB962C8B-B14F-4D97-AF65-F5344CB8AC3E}">
        <p14:creationId xmlns:p14="http://schemas.microsoft.com/office/powerpoint/2010/main" val="1261211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9A222A-7EE5-461B-AB51-4E1740066219}" type="slidenum">
              <a:rPr lang="en-US" smtClean="0"/>
              <a:t>10</a:t>
            </a:fld>
            <a:endParaRPr lang="en-US" dirty="0"/>
          </a:p>
        </p:txBody>
      </p:sp>
    </p:spTree>
    <p:extLst>
      <p:ext uri="{BB962C8B-B14F-4D97-AF65-F5344CB8AC3E}">
        <p14:creationId xmlns:p14="http://schemas.microsoft.com/office/powerpoint/2010/main" val="35743824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itle 6">
            <a:extLst>
              <a:ext uri="{FF2B5EF4-FFF2-40B4-BE49-F238E27FC236}">
                <a16:creationId xmlns:a16="http://schemas.microsoft.com/office/drawing/2014/main" id="{F69D0F8D-4E2A-440C-98AA-DC81C77CAD8B}"/>
              </a:ext>
            </a:extLst>
          </p:cNvPr>
          <p:cNvSpPr>
            <a:spLocks noGrp="1"/>
          </p:cNvSpPr>
          <p:nvPr>
            <p:ph type="title" hasCustomPrompt="1"/>
          </p:nvPr>
        </p:nvSpPr>
        <p:spPr/>
        <p:txBody>
          <a:bodyPr/>
          <a:lstStyle/>
          <a:p>
            <a:r>
              <a:rPr lang="en-US" dirty="0"/>
              <a:t>TITLE </a:t>
            </a:r>
          </a:p>
        </p:txBody>
      </p:sp>
      <p:sp>
        <p:nvSpPr>
          <p:cNvPr id="8" name="Slide Number Placeholder 7">
            <a:extLst>
              <a:ext uri="{FF2B5EF4-FFF2-40B4-BE49-F238E27FC236}">
                <a16:creationId xmlns:a16="http://schemas.microsoft.com/office/drawing/2014/main" id="{20754BBF-F63D-44FD-8EA2-1F50BE465755}"/>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2562425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lang="en-US" sz="4400" kern="1200" cap="all" baseline="0" dirty="0" smtClean="0">
                <a:solidFill>
                  <a:schemeClr val="tx1">
                    <a:lumMod val="65000"/>
                    <a:lumOff val="35000"/>
                  </a:schemeClr>
                </a:solidFill>
                <a:latin typeface="+mj-lt"/>
                <a:ea typeface="+mj-ea"/>
                <a:cs typeface="Adobe Devanagari" panose="02040503050201020203" pitchFamily="18"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C6E55F7E-2462-4707-B284-0575F64CBA12}"/>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1342818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lang="en-US" sz="4400" kern="1200" cap="all" baseline="0" dirty="0" smtClean="0">
                <a:solidFill>
                  <a:schemeClr val="tx1">
                    <a:lumMod val="65000"/>
                    <a:lumOff val="35000"/>
                  </a:schemeClr>
                </a:solidFill>
                <a:latin typeface="+mj-lt"/>
                <a:ea typeface="+mj-ea"/>
                <a:cs typeface="Adobe Devanagari" panose="02040503050201020203" pitchFamily="18"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C6E55F7E-2462-4707-B284-0575F64CBA12}"/>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3669902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0DB1A-E5DE-45D9-8B8F-B1557AED7373}"/>
              </a:ext>
            </a:extLst>
          </p:cNvPr>
          <p:cNvSpPr>
            <a:spLocks noGrp="1"/>
          </p:cNvSpPr>
          <p:nvPr>
            <p:ph type="title" hasCustomPrompt="1"/>
          </p:nvPr>
        </p:nvSpPr>
        <p:spPr/>
        <p:txBody>
          <a:bodyPr/>
          <a:lstStyle>
            <a:lvl1pPr>
              <a:defRPr baseline="0">
                <a:solidFill>
                  <a:schemeClr val="tx1">
                    <a:lumMod val="65000"/>
                    <a:lumOff val="3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53BF4CC-4E63-49D0-9152-084D942D8984}"/>
              </a:ext>
            </a:extLst>
          </p:cNvPr>
          <p:cNvSpPr>
            <a:spLocks noGrp="1"/>
          </p:cNvSpPr>
          <p:nvPr>
            <p:ph idx="1"/>
          </p:nvPr>
        </p:nvSpPr>
        <p:spPr>
          <a:xfrm>
            <a:off x="838200" y="1825625"/>
            <a:ext cx="10515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0A318FA-CBF0-4780-A8E4-E219BB5E4913}"/>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355826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0DB1A-E5DE-45D9-8B8F-B1557AED7373}"/>
              </a:ext>
            </a:extLst>
          </p:cNvPr>
          <p:cNvSpPr>
            <a:spLocks noGrp="1"/>
          </p:cNvSpPr>
          <p:nvPr>
            <p:ph type="title" hasCustomPrompt="1"/>
          </p:nvPr>
        </p:nvSpPr>
        <p:spPr/>
        <p:txBody>
          <a:bodyPr/>
          <a:lstStyle>
            <a:lvl1pPr>
              <a:defRPr baseline="0">
                <a:solidFill>
                  <a:schemeClr val="tx1">
                    <a:lumMod val="65000"/>
                    <a:lumOff val="3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53BF4CC-4E63-49D0-9152-084D942D8984}"/>
              </a:ext>
            </a:extLst>
          </p:cNvPr>
          <p:cNvSpPr>
            <a:spLocks noGrp="1"/>
          </p:cNvSpPr>
          <p:nvPr>
            <p:ph idx="1"/>
          </p:nvPr>
        </p:nvSpPr>
        <p:spPr>
          <a:xfrm>
            <a:off x="838200" y="1825625"/>
            <a:ext cx="10515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0A318FA-CBF0-4780-A8E4-E219BB5E4913}"/>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1242687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0DB1A-E5DE-45D9-8B8F-B1557AED7373}"/>
              </a:ext>
            </a:extLst>
          </p:cNvPr>
          <p:cNvSpPr>
            <a:spLocks noGrp="1"/>
          </p:cNvSpPr>
          <p:nvPr>
            <p:ph type="title" hasCustomPrompt="1"/>
          </p:nvPr>
        </p:nvSpPr>
        <p:spPr/>
        <p:txBody>
          <a:bodyPr/>
          <a:lstStyle>
            <a:lvl1pPr>
              <a:defRPr baseline="0">
                <a:solidFill>
                  <a:schemeClr val="tx1">
                    <a:lumMod val="65000"/>
                    <a:lumOff val="3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53BF4CC-4E63-49D0-9152-084D942D8984}"/>
              </a:ext>
            </a:extLst>
          </p:cNvPr>
          <p:cNvSpPr>
            <a:spLocks noGrp="1"/>
          </p:cNvSpPr>
          <p:nvPr>
            <p:ph idx="1"/>
          </p:nvPr>
        </p:nvSpPr>
        <p:spPr>
          <a:xfrm>
            <a:off x="838200" y="1825625"/>
            <a:ext cx="10515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0A318FA-CBF0-4780-A8E4-E219BB5E4913}"/>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84543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0DB1A-E5DE-45D9-8B8F-B1557AED7373}"/>
              </a:ext>
            </a:extLst>
          </p:cNvPr>
          <p:cNvSpPr>
            <a:spLocks noGrp="1"/>
          </p:cNvSpPr>
          <p:nvPr>
            <p:ph type="title" hasCustomPrompt="1"/>
          </p:nvPr>
        </p:nvSpPr>
        <p:spPr/>
        <p:txBody>
          <a:bodyPr/>
          <a:lstStyle>
            <a:lvl1pPr>
              <a:defRPr baseline="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53BF4CC-4E63-49D0-9152-084D942D8984}"/>
              </a:ext>
            </a:extLst>
          </p:cNvPr>
          <p:cNvSpPr>
            <a:spLocks noGrp="1"/>
          </p:cNvSpPr>
          <p:nvPr>
            <p:ph idx="1"/>
          </p:nvPr>
        </p:nvSpPr>
        <p:spPr>
          <a:xfrm>
            <a:off x="838200" y="1825625"/>
            <a:ext cx="10515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0A318FA-CBF0-4780-A8E4-E219BB5E4913}"/>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3214097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0DB1A-E5DE-45D9-8B8F-B1557AED7373}"/>
              </a:ext>
            </a:extLst>
          </p:cNvPr>
          <p:cNvSpPr>
            <a:spLocks noGrp="1"/>
          </p:cNvSpPr>
          <p:nvPr>
            <p:ph type="title" hasCustomPrompt="1"/>
          </p:nvPr>
        </p:nvSpPr>
        <p:spPr>
          <a:xfrm>
            <a:off x="838200" y="365125"/>
            <a:ext cx="9024991" cy="1325563"/>
          </a:xfrm>
        </p:spPr>
        <p:txBody>
          <a:bodyPr/>
          <a:lstStyle>
            <a:lvl1pPr>
              <a:defRPr baseline="0">
                <a:solidFill>
                  <a:schemeClr val="tx1">
                    <a:lumMod val="65000"/>
                    <a:lumOff val="3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53BF4CC-4E63-49D0-9152-084D942D8984}"/>
              </a:ext>
            </a:extLst>
          </p:cNvPr>
          <p:cNvSpPr>
            <a:spLocks noGrp="1"/>
          </p:cNvSpPr>
          <p:nvPr>
            <p:ph idx="1"/>
          </p:nvPr>
        </p:nvSpPr>
        <p:spPr>
          <a:xfrm>
            <a:off x="838200" y="1825625"/>
            <a:ext cx="9024991"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0A318FA-CBF0-4780-A8E4-E219BB5E4913}"/>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420548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67A0BD-F397-4183-9CC2-5F5AB0773AAB}"/>
              </a:ext>
            </a:extLst>
          </p:cNvPr>
          <p:cNvSpPr>
            <a:spLocks noGrp="1"/>
          </p:cNvSpPr>
          <p:nvPr>
            <p:ph type="sldNum" sz="quarter" idx="10"/>
          </p:nvPr>
        </p:nvSpPr>
        <p:spPr/>
        <p:txBody>
          <a:bodyPr/>
          <a:lstStyle/>
          <a:p>
            <a:fld id="{F7E5495E-82E8-4D88-BE4B-165F6636701C}" type="slidenum">
              <a:rPr lang="en-US" smtClean="0"/>
              <a:t>‹#›</a:t>
            </a:fld>
            <a:endParaRPr lang="en-US"/>
          </a:p>
        </p:txBody>
      </p:sp>
      <p:sp>
        <p:nvSpPr>
          <p:cNvPr id="3" name="Title 1">
            <a:extLst>
              <a:ext uri="{FF2B5EF4-FFF2-40B4-BE49-F238E27FC236}">
                <a16:creationId xmlns:a16="http://schemas.microsoft.com/office/drawing/2014/main" id="{2E324AF2-9B1E-4876-B10F-3A795309A4B5}"/>
              </a:ext>
            </a:extLst>
          </p:cNvPr>
          <p:cNvSpPr>
            <a:spLocks noGrp="1"/>
          </p:cNvSpPr>
          <p:nvPr>
            <p:ph type="title" hasCustomPrompt="1"/>
          </p:nvPr>
        </p:nvSpPr>
        <p:spPr>
          <a:xfrm>
            <a:off x="355314" y="406221"/>
            <a:ext cx="5336569" cy="1073257"/>
          </a:xfrm>
        </p:spPr>
        <p:txBody>
          <a:bodyPr/>
          <a:lstStyle>
            <a:lvl1pPr>
              <a:defRPr baseline="0">
                <a:solidFill>
                  <a:schemeClr val="tx1">
                    <a:lumMod val="65000"/>
                    <a:lumOff val="35000"/>
                  </a:schemeClr>
                </a:solidFill>
              </a:defRPr>
            </a:lvl1pPr>
          </a:lstStyle>
          <a:p>
            <a:r>
              <a:rPr lang="en-US" dirty="0"/>
              <a:t>Title</a:t>
            </a:r>
          </a:p>
        </p:txBody>
      </p:sp>
      <p:sp>
        <p:nvSpPr>
          <p:cNvPr id="5" name="Content Placeholder 2">
            <a:extLst>
              <a:ext uri="{FF2B5EF4-FFF2-40B4-BE49-F238E27FC236}">
                <a16:creationId xmlns:a16="http://schemas.microsoft.com/office/drawing/2014/main" id="{46B7F9B0-9FC1-40F7-ACA2-1B83A9A02C81}"/>
              </a:ext>
            </a:extLst>
          </p:cNvPr>
          <p:cNvSpPr>
            <a:spLocks noGrp="1"/>
          </p:cNvSpPr>
          <p:nvPr>
            <p:ph idx="1"/>
          </p:nvPr>
        </p:nvSpPr>
        <p:spPr>
          <a:xfrm>
            <a:off x="355314" y="1825625"/>
            <a:ext cx="5336569" cy="4351338"/>
          </a:xfrm>
        </p:spPr>
        <p:txBody>
          <a:bodyPr/>
          <a:lstStyle>
            <a:lvl1pPr marL="0" indent="0">
              <a:buNone/>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DE3F0183-66FB-4C92-904E-F4A5749EE79B}"/>
              </a:ext>
            </a:extLst>
          </p:cNvPr>
          <p:cNvSpPr>
            <a:spLocks noGrp="1"/>
          </p:cNvSpPr>
          <p:nvPr>
            <p:ph idx="11"/>
          </p:nvPr>
        </p:nvSpPr>
        <p:spPr>
          <a:xfrm>
            <a:off x="6751085" y="1825625"/>
            <a:ext cx="5336569" cy="4351338"/>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66EBFEAF-54C9-4ADF-A7A5-E0E77B48D68B}"/>
              </a:ext>
            </a:extLst>
          </p:cNvPr>
          <p:cNvSpPr>
            <a:spLocks noGrp="1"/>
          </p:cNvSpPr>
          <p:nvPr>
            <p:ph type="body" sz="quarter" idx="12"/>
          </p:nvPr>
        </p:nvSpPr>
        <p:spPr>
          <a:xfrm>
            <a:off x="6791236" y="406328"/>
            <a:ext cx="5268913" cy="1073150"/>
          </a:xfrm>
        </p:spPr>
        <p:txBody>
          <a:bodyPr anchor="ctr">
            <a:normAutofit/>
          </a:bodyPr>
          <a:lstStyle>
            <a:lvl1pPr marL="0" indent="0">
              <a:buNone/>
              <a:defRPr lang="en-US" sz="4800" b="1" kern="1200" cap="all" baseline="0" dirty="0">
                <a:solidFill>
                  <a:schemeClr val="bg1"/>
                </a:solidFill>
                <a:latin typeface="+mj-lt"/>
                <a:ea typeface="+mj-ea"/>
                <a:cs typeface="+mj-cs"/>
              </a:defRPr>
            </a:lvl1pPr>
          </a:lstStyle>
          <a:p>
            <a:pPr lvl="0"/>
            <a:r>
              <a:rPr lang="en-US" dirty="0"/>
              <a:t>Click to edit</a:t>
            </a:r>
          </a:p>
        </p:txBody>
      </p:sp>
    </p:spTree>
    <p:extLst>
      <p:ext uri="{BB962C8B-B14F-4D97-AF65-F5344CB8AC3E}">
        <p14:creationId xmlns:p14="http://schemas.microsoft.com/office/powerpoint/2010/main" val="280645972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67A0BD-F397-4183-9CC2-5F5AB0773AAB}"/>
              </a:ext>
            </a:extLst>
          </p:cNvPr>
          <p:cNvSpPr>
            <a:spLocks noGrp="1"/>
          </p:cNvSpPr>
          <p:nvPr>
            <p:ph type="sldNum" sz="quarter" idx="10"/>
          </p:nvPr>
        </p:nvSpPr>
        <p:spPr/>
        <p:txBody>
          <a:bodyPr/>
          <a:lstStyle/>
          <a:p>
            <a:fld id="{F7E5495E-82E8-4D88-BE4B-165F6636701C}" type="slidenum">
              <a:rPr lang="en-US" smtClean="0"/>
              <a:t>‹#›</a:t>
            </a:fld>
            <a:endParaRPr lang="en-US"/>
          </a:p>
        </p:txBody>
      </p:sp>
      <p:sp>
        <p:nvSpPr>
          <p:cNvPr id="3" name="Title 1">
            <a:extLst>
              <a:ext uri="{FF2B5EF4-FFF2-40B4-BE49-F238E27FC236}">
                <a16:creationId xmlns:a16="http://schemas.microsoft.com/office/drawing/2014/main" id="{2E324AF2-9B1E-4876-B10F-3A795309A4B5}"/>
              </a:ext>
            </a:extLst>
          </p:cNvPr>
          <p:cNvSpPr>
            <a:spLocks noGrp="1"/>
          </p:cNvSpPr>
          <p:nvPr>
            <p:ph type="title" hasCustomPrompt="1"/>
          </p:nvPr>
        </p:nvSpPr>
        <p:spPr>
          <a:xfrm>
            <a:off x="355314" y="406221"/>
            <a:ext cx="5336569" cy="1073257"/>
          </a:xfrm>
        </p:spPr>
        <p:txBody>
          <a:bodyPr/>
          <a:lstStyle>
            <a:lvl1pPr>
              <a:defRPr baseline="0">
                <a:solidFill>
                  <a:schemeClr val="tx1">
                    <a:lumMod val="65000"/>
                    <a:lumOff val="35000"/>
                  </a:schemeClr>
                </a:solidFill>
              </a:defRPr>
            </a:lvl1pPr>
          </a:lstStyle>
          <a:p>
            <a:r>
              <a:rPr lang="en-US" dirty="0"/>
              <a:t>Title</a:t>
            </a:r>
          </a:p>
        </p:txBody>
      </p:sp>
      <p:sp>
        <p:nvSpPr>
          <p:cNvPr id="5" name="Content Placeholder 2">
            <a:extLst>
              <a:ext uri="{FF2B5EF4-FFF2-40B4-BE49-F238E27FC236}">
                <a16:creationId xmlns:a16="http://schemas.microsoft.com/office/drawing/2014/main" id="{46B7F9B0-9FC1-40F7-ACA2-1B83A9A02C81}"/>
              </a:ext>
            </a:extLst>
          </p:cNvPr>
          <p:cNvSpPr>
            <a:spLocks noGrp="1"/>
          </p:cNvSpPr>
          <p:nvPr>
            <p:ph idx="1"/>
          </p:nvPr>
        </p:nvSpPr>
        <p:spPr>
          <a:xfrm>
            <a:off x="355314" y="1825625"/>
            <a:ext cx="5336569" cy="4351338"/>
          </a:xfrm>
        </p:spPr>
        <p:txBody>
          <a:bodyPr/>
          <a:lstStyle>
            <a:lvl1pPr marL="0" indent="0">
              <a:buNone/>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DE3F0183-66FB-4C92-904E-F4A5749EE79B}"/>
              </a:ext>
            </a:extLst>
          </p:cNvPr>
          <p:cNvSpPr>
            <a:spLocks noGrp="1"/>
          </p:cNvSpPr>
          <p:nvPr>
            <p:ph idx="11"/>
          </p:nvPr>
        </p:nvSpPr>
        <p:spPr>
          <a:xfrm>
            <a:off x="6723580" y="1825625"/>
            <a:ext cx="5336569" cy="4351338"/>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a:extLst>
              <a:ext uri="{FF2B5EF4-FFF2-40B4-BE49-F238E27FC236}">
                <a16:creationId xmlns:a16="http://schemas.microsoft.com/office/drawing/2014/main" id="{60892FD2-0BFD-405D-9743-74BC7E966C22}"/>
              </a:ext>
            </a:extLst>
          </p:cNvPr>
          <p:cNvSpPr>
            <a:spLocks noGrp="1"/>
          </p:cNvSpPr>
          <p:nvPr>
            <p:ph type="body" sz="quarter" idx="12"/>
          </p:nvPr>
        </p:nvSpPr>
        <p:spPr>
          <a:xfrm>
            <a:off x="6723580" y="406400"/>
            <a:ext cx="5336658" cy="1165225"/>
          </a:xfrm>
        </p:spPr>
        <p:txBody>
          <a:bodyPr anchor="ctr">
            <a:noAutofit/>
          </a:bodyPr>
          <a:lstStyle>
            <a:lvl1pPr marL="0" indent="0">
              <a:buNone/>
              <a:defRPr sz="4800" b="1" cap="all" baseline="0">
                <a:solidFill>
                  <a:schemeClr val="bg1"/>
                </a:solidFill>
                <a:latin typeface="+mj-lt"/>
              </a:defRPr>
            </a:lvl1pPr>
          </a:lstStyle>
          <a:p>
            <a:pPr lvl="0"/>
            <a:r>
              <a:rPr lang="en-US" dirty="0"/>
              <a:t>Click to edit</a:t>
            </a:r>
          </a:p>
        </p:txBody>
      </p:sp>
    </p:spTree>
    <p:extLst>
      <p:ext uri="{BB962C8B-B14F-4D97-AF65-F5344CB8AC3E}">
        <p14:creationId xmlns:p14="http://schemas.microsoft.com/office/powerpoint/2010/main" val="301489956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8EB5E7-711A-4860-8EF2-713D51035C84}"/>
              </a:ext>
            </a:extLst>
          </p:cNvPr>
          <p:cNvSpPr>
            <a:spLocks noGrp="1"/>
          </p:cNvSpPr>
          <p:nvPr>
            <p:ph type="sldNum" sz="quarter" idx="10"/>
          </p:nvPr>
        </p:nvSpPr>
        <p:spPr/>
        <p:txBody>
          <a:bodyPr/>
          <a:lstStyle/>
          <a:p>
            <a:fld id="{F7E5495E-82E8-4D88-BE4B-165F6636701C}" type="slidenum">
              <a:rPr lang="en-US" smtClean="0"/>
              <a:t>‹#›</a:t>
            </a:fld>
            <a:endParaRPr lang="en-US"/>
          </a:p>
        </p:txBody>
      </p:sp>
    </p:spTree>
    <p:extLst>
      <p:ext uri="{BB962C8B-B14F-4D97-AF65-F5344CB8AC3E}">
        <p14:creationId xmlns:p14="http://schemas.microsoft.com/office/powerpoint/2010/main" val="16864088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478AA82F-B974-4576-9872-73E9676512A7}"/>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a:stretch/>
        </p:blipFill>
        <p:spPr>
          <a:xfrm>
            <a:off x="301657" y="6350709"/>
            <a:ext cx="2293856" cy="353693"/>
          </a:xfrm>
          <a:prstGeom prst="rect">
            <a:avLst/>
          </a:prstGeom>
        </p:spPr>
      </p:pic>
      <p:sp>
        <p:nvSpPr>
          <p:cNvPr id="8" name="Slide Number Placeholder 7">
            <a:extLst>
              <a:ext uri="{FF2B5EF4-FFF2-40B4-BE49-F238E27FC236}">
                <a16:creationId xmlns:a16="http://schemas.microsoft.com/office/drawing/2014/main" id="{1DDA2359-F582-4B85-B6C7-5E0085E63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E5495E-82E8-4D88-BE4B-165F6636701C}" type="slidenum">
              <a:rPr lang="en-US" smtClean="0"/>
              <a:t>‹#›</a:t>
            </a:fld>
            <a:endParaRPr lang="en-US"/>
          </a:p>
        </p:txBody>
      </p:sp>
    </p:spTree>
    <p:extLst>
      <p:ext uri="{BB962C8B-B14F-4D97-AF65-F5344CB8AC3E}">
        <p14:creationId xmlns:p14="http://schemas.microsoft.com/office/powerpoint/2010/main" val="2445069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0" r:id="rId4"/>
    <p:sldLayoutId id="2147483663" r:id="rId5"/>
    <p:sldLayoutId id="2147483668" r:id="rId6"/>
    <p:sldLayoutId id="2147483667" r:id="rId7"/>
    <p:sldLayoutId id="2147483666" r:id="rId8"/>
    <p:sldLayoutId id="2147483655" r:id="rId9"/>
    <p:sldLayoutId id="2147483664" r:id="rId10"/>
    <p:sldLayoutId id="2147483661" r:id="rId11"/>
  </p:sldLayoutIdLst>
  <p:hf hdr="0" ftr="0" dt="0"/>
  <p:txStyles>
    <p:titleStyle>
      <a:lvl1pPr algn="l" defTabSz="914400" rtl="0" eaLnBrk="1" latinLnBrk="0" hangingPunct="1">
        <a:lnSpc>
          <a:spcPct val="90000"/>
        </a:lnSpc>
        <a:spcBef>
          <a:spcPct val="0"/>
        </a:spcBef>
        <a:buNone/>
        <a:defRPr sz="4800" b="1" kern="1200" cap="all" baseline="0">
          <a:solidFill>
            <a:schemeClr val="tx1">
              <a:lumMod val="65000"/>
              <a:lumOff val="35000"/>
            </a:schemeClr>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83AD9F8-7D8E-4C5E-A71F-1DA3AC4A9F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50272" y="410000"/>
            <a:ext cx="6037520" cy="6037520"/>
          </a:xfrm>
          <a:prstGeom prst="rect">
            <a:avLst/>
          </a:prstGeom>
        </p:spPr>
      </p:pic>
      <p:sp>
        <p:nvSpPr>
          <p:cNvPr id="19" name="Freeform 8">
            <a:extLst>
              <a:ext uri="{FF2B5EF4-FFF2-40B4-BE49-F238E27FC236}">
                <a16:creationId xmlns:a16="http://schemas.microsoft.com/office/drawing/2014/main" id="{B83ED68E-10BE-4ADD-86BC-9E944EA5A29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11">
            <a:extLst>
              <a:ext uri="{FF2B5EF4-FFF2-40B4-BE49-F238E27FC236}">
                <a16:creationId xmlns:a16="http://schemas.microsoft.com/office/drawing/2014/main" id="{1ADCEC2C-1761-4D19-9709-41992C2908CA}"/>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 y="-479"/>
            <a:ext cx="8078052" cy="6858478"/>
          </a:xfrm>
          <a:custGeom>
            <a:avLst/>
            <a:gdLst>
              <a:gd name="connsiteX0" fmla="*/ 0 w 8078052"/>
              <a:gd name="connsiteY0" fmla="*/ 0 h 6858478"/>
              <a:gd name="connsiteX1" fmla="*/ 3829872 w 8078052"/>
              <a:gd name="connsiteY1" fmla="*/ 0 h 6858478"/>
              <a:gd name="connsiteX2" fmla="*/ 4896100 w 8078052"/>
              <a:gd name="connsiteY2" fmla="*/ 0 h 6858478"/>
              <a:gd name="connsiteX3" fmla="*/ 4901677 w 8078052"/>
              <a:gd name="connsiteY3" fmla="*/ 0 h 6858478"/>
              <a:gd name="connsiteX4" fmla="*/ 8078052 w 8078052"/>
              <a:gd name="connsiteY4" fmla="*/ 6858478 h 6858478"/>
              <a:gd name="connsiteX5" fmla="*/ 653497 w 8078052"/>
              <a:gd name="connsiteY5" fmla="*/ 6858478 h 6858478"/>
              <a:gd name="connsiteX6" fmla="*/ 653757 w 8078052"/>
              <a:gd name="connsiteY6" fmla="*/ 6857916 h 6858478"/>
              <a:gd name="connsiteX7" fmla="*/ 0 w 8078052"/>
              <a:gd name="connsiteY7" fmla="*/ 6857916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2" h="6858478">
                <a:moveTo>
                  <a:pt x="0" y="0"/>
                </a:moveTo>
                <a:lnTo>
                  <a:pt x="3829872" y="0"/>
                </a:lnTo>
                <a:lnTo>
                  <a:pt x="4896100" y="0"/>
                </a:lnTo>
                <a:lnTo>
                  <a:pt x="4901677" y="0"/>
                </a:lnTo>
                <a:lnTo>
                  <a:pt x="8078052" y="6858478"/>
                </a:lnTo>
                <a:lnTo>
                  <a:pt x="653497" y="6858478"/>
                </a:lnTo>
                <a:lnTo>
                  <a:pt x="653757" y="6857916"/>
                </a:lnTo>
                <a:lnTo>
                  <a:pt x="0" y="6857916"/>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69392" y="4425950"/>
            <a:ext cx="6358128" cy="2295525"/>
          </a:xfrm>
        </p:spPr>
        <p:txBody>
          <a:bodyPr vert="horz" lIns="91440" tIns="45720" rIns="91440" bIns="45720" rtlCol="0" anchor="t">
            <a:normAutofit/>
          </a:bodyPr>
          <a:lstStyle/>
          <a:p>
            <a:r>
              <a:rPr lang="en-US" b="1" dirty="0"/>
              <a:t>MOTIVATORS introduction:</a:t>
            </a:r>
            <a:br>
              <a:rPr lang="en-US" sz="5400" b="1" dirty="0"/>
            </a:br>
            <a:r>
              <a:rPr lang="en-US" sz="2200" b="0" i="1" dirty="0"/>
              <a:t>Understanding WHAT MOVES US</a:t>
            </a:r>
            <a:br>
              <a:rPr lang="en-US" sz="2200" b="1" i="1" dirty="0"/>
            </a:br>
            <a:endParaRPr lang="en-US" sz="2200" dirty="0"/>
          </a:p>
        </p:txBody>
      </p:sp>
      <p:sp>
        <p:nvSpPr>
          <p:cNvPr id="4" name="Slide Number Placeholder 3">
            <a:extLst>
              <a:ext uri="{FF2B5EF4-FFF2-40B4-BE49-F238E27FC236}">
                <a16:creationId xmlns:a16="http://schemas.microsoft.com/office/drawing/2014/main" id="{D1D4A8F1-0715-45F7-80A6-CF7C88C78B5F}"/>
              </a:ext>
            </a:extLst>
          </p:cNvPr>
          <p:cNvSpPr>
            <a:spLocks noGrp="1"/>
          </p:cNvSpPr>
          <p:nvPr>
            <p:ph type="sldNum" sz="quarter" idx="10"/>
          </p:nvPr>
        </p:nvSpPr>
        <p:spPr/>
        <p:txBody>
          <a:bodyPr/>
          <a:lstStyle/>
          <a:p>
            <a:fld id="{F7E5495E-82E8-4D88-BE4B-165F6636701C}" type="slidenum">
              <a:rPr lang="en-US" smtClean="0"/>
              <a:t>1</a:t>
            </a:fld>
            <a:endParaRPr lang="en-US"/>
          </a:p>
        </p:txBody>
      </p:sp>
    </p:spTree>
    <p:extLst>
      <p:ext uri="{BB962C8B-B14F-4D97-AF65-F5344CB8AC3E}">
        <p14:creationId xmlns:p14="http://schemas.microsoft.com/office/powerpoint/2010/main" val="234052048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7926-38E4-4B5A-945D-A7445A381471}"/>
              </a:ext>
            </a:extLst>
          </p:cNvPr>
          <p:cNvSpPr>
            <a:spLocks noGrp="1"/>
          </p:cNvSpPr>
          <p:nvPr>
            <p:ph type="title"/>
          </p:nvPr>
        </p:nvSpPr>
        <p:spPr/>
        <p:txBody>
          <a:bodyPr/>
          <a:lstStyle/>
          <a:p>
            <a:r>
              <a:rPr lang="en-US" dirty="0"/>
              <a:t>Motivators Overview</a:t>
            </a:r>
          </a:p>
        </p:txBody>
      </p:sp>
      <p:sp>
        <p:nvSpPr>
          <p:cNvPr id="4" name="Slide Number Placeholder 3">
            <a:extLst>
              <a:ext uri="{FF2B5EF4-FFF2-40B4-BE49-F238E27FC236}">
                <a16:creationId xmlns:a16="http://schemas.microsoft.com/office/drawing/2014/main" id="{DFCC189C-2525-40D3-83E2-B6F06D576401}"/>
              </a:ext>
            </a:extLst>
          </p:cNvPr>
          <p:cNvSpPr>
            <a:spLocks noGrp="1"/>
          </p:cNvSpPr>
          <p:nvPr>
            <p:ph type="sldNum" sz="quarter" idx="10"/>
          </p:nvPr>
        </p:nvSpPr>
        <p:spPr/>
        <p:txBody>
          <a:bodyPr/>
          <a:lstStyle/>
          <a:p>
            <a:fld id="{F7E5495E-82E8-4D88-BE4B-165F6636701C}" type="slidenum">
              <a:rPr lang="en-US" smtClean="0"/>
              <a:t>2</a:t>
            </a:fld>
            <a:endParaRPr lang="en-US"/>
          </a:p>
        </p:txBody>
      </p:sp>
      <p:graphicFrame>
        <p:nvGraphicFramePr>
          <p:cNvPr id="6" name="Diagram 5">
            <a:extLst>
              <a:ext uri="{FF2B5EF4-FFF2-40B4-BE49-F238E27FC236}">
                <a16:creationId xmlns:a16="http://schemas.microsoft.com/office/drawing/2014/main" id="{AD8470EF-3477-480B-AD94-4814737DC66B}"/>
              </a:ext>
            </a:extLst>
          </p:cNvPr>
          <p:cNvGraphicFramePr/>
          <p:nvPr>
            <p:extLst>
              <p:ext uri="{D42A27DB-BD31-4B8C-83A1-F6EECF244321}">
                <p14:modId xmlns:p14="http://schemas.microsoft.com/office/powerpoint/2010/main" val="3617552453"/>
              </p:ext>
            </p:extLst>
          </p:nvPr>
        </p:nvGraphicFramePr>
        <p:xfrm>
          <a:off x="635000" y="1043516"/>
          <a:ext cx="10007600" cy="56366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504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2FD98BD7-AEEF-4033-A3F7-20650198CDBA}"/>
                                            </p:graphicEl>
                                          </p:spTgt>
                                        </p:tgtEl>
                                        <p:attrNameLst>
                                          <p:attrName>style.visibility</p:attrName>
                                        </p:attrNameLst>
                                      </p:cBhvr>
                                      <p:to>
                                        <p:strVal val="visible"/>
                                      </p:to>
                                    </p:set>
                                    <p:anim calcmode="lin" valueType="num">
                                      <p:cBhvr additive="base">
                                        <p:cTn id="7" dur="1250" fill="hold"/>
                                        <p:tgtEl>
                                          <p:spTgt spid="6">
                                            <p:graphicEl>
                                              <a:dgm id="{2FD98BD7-AEEF-4033-A3F7-20650198CDBA}"/>
                                            </p:graphicEl>
                                          </p:spTgt>
                                        </p:tgtEl>
                                        <p:attrNameLst>
                                          <p:attrName>ppt_x</p:attrName>
                                        </p:attrNameLst>
                                      </p:cBhvr>
                                      <p:tavLst>
                                        <p:tav tm="0">
                                          <p:val>
                                            <p:strVal val="0-#ppt_w/2"/>
                                          </p:val>
                                        </p:tav>
                                        <p:tav tm="100000">
                                          <p:val>
                                            <p:strVal val="#ppt_x"/>
                                          </p:val>
                                        </p:tav>
                                      </p:tavLst>
                                    </p:anim>
                                    <p:anim calcmode="lin" valueType="num">
                                      <p:cBhvr additive="base">
                                        <p:cTn id="8" dur="1250" fill="hold"/>
                                        <p:tgtEl>
                                          <p:spTgt spid="6">
                                            <p:graphicEl>
                                              <a:dgm id="{2FD98BD7-AEEF-4033-A3F7-20650198CDBA}"/>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graphicEl>
                                              <a:dgm id="{9C585939-9B1F-47EA-8BC5-A2BD201DC2AA}"/>
                                            </p:graphicEl>
                                          </p:spTgt>
                                        </p:tgtEl>
                                        <p:attrNameLst>
                                          <p:attrName>style.visibility</p:attrName>
                                        </p:attrNameLst>
                                      </p:cBhvr>
                                      <p:to>
                                        <p:strVal val="visible"/>
                                      </p:to>
                                    </p:set>
                                    <p:anim calcmode="lin" valueType="num">
                                      <p:cBhvr additive="base">
                                        <p:cTn id="11" dur="1250" fill="hold"/>
                                        <p:tgtEl>
                                          <p:spTgt spid="6">
                                            <p:graphicEl>
                                              <a:dgm id="{9C585939-9B1F-47EA-8BC5-A2BD201DC2AA}"/>
                                            </p:graphicEl>
                                          </p:spTgt>
                                        </p:tgtEl>
                                        <p:attrNameLst>
                                          <p:attrName>ppt_x</p:attrName>
                                        </p:attrNameLst>
                                      </p:cBhvr>
                                      <p:tavLst>
                                        <p:tav tm="0">
                                          <p:val>
                                            <p:strVal val="0-#ppt_w/2"/>
                                          </p:val>
                                        </p:tav>
                                        <p:tav tm="100000">
                                          <p:val>
                                            <p:strVal val="#ppt_x"/>
                                          </p:val>
                                        </p:tav>
                                      </p:tavLst>
                                    </p:anim>
                                    <p:anim calcmode="lin" valueType="num">
                                      <p:cBhvr additive="base">
                                        <p:cTn id="12" dur="1250" fill="hold"/>
                                        <p:tgtEl>
                                          <p:spTgt spid="6">
                                            <p:graphicEl>
                                              <a:dgm id="{9C585939-9B1F-47EA-8BC5-A2BD201DC2AA}"/>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graphicEl>
                                              <a:dgm id="{E925198E-B728-48DA-80C1-3047270588E6}"/>
                                            </p:graphicEl>
                                          </p:spTgt>
                                        </p:tgtEl>
                                        <p:attrNameLst>
                                          <p:attrName>style.visibility</p:attrName>
                                        </p:attrNameLst>
                                      </p:cBhvr>
                                      <p:to>
                                        <p:strVal val="visible"/>
                                      </p:to>
                                    </p:set>
                                    <p:anim calcmode="lin" valueType="num">
                                      <p:cBhvr additive="base">
                                        <p:cTn id="17" dur="1250" fill="hold"/>
                                        <p:tgtEl>
                                          <p:spTgt spid="6">
                                            <p:graphicEl>
                                              <a:dgm id="{E925198E-B728-48DA-80C1-3047270588E6}"/>
                                            </p:graphicEl>
                                          </p:spTgt>
                                        </p:tgtEl>
                                        <p:attrNameLst>
                                          <p:attrName>ppt_x</p:attrName>
                                        </p:attrNameLst>
                                      </p:cBhvr>
                                      <p:tavLst>
                                        <p:tav tm="0">
                                          <p:val>
                                            <p:strVal val="0-#ppt_w/2"/>
                                          </p:val>
                                        </p:tav>
                                        <p:tav tm="100000">
                                          <p:val>
                                            <p:strVal val="#ppt_x"/>
                                          </p:val>
                                        </p:tav>
                                      </p:tavLst>
                                    </p:anim>
                                    <p:anim calcmode="lin" valueType="num">
                                      <p:cBhvr additive="base">
                                        <p:cTn id="18" dur="1250" fill="hold"/>
                                        <p:tgtEl>
                                          <p:spTgt spid="6">
                                            <p:graphicEl>
                                              <a:dgm id="{E925198E-B728-48DA-80C1-3047270588E6}"/>
                                            </p:graphic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
                                            <p:graphicEl>
                                              <a:dgm id="{C97AF87A-8AD7-47C2-A9A1-6CA9C0785A91}"/>
                                            </p:graphicEl>
                                          </p:spTgt>
                                        </p:tgtEl>
                                        <p:attrNameLst>
                                          <p:attrName>style.visibility</p:attrName>
                                        </p:attrNameLst>
                                      </p:cBhvr>
                                      <p:to>
                                        <p:strVal val="visible"/>
                                      </p:to>
                                    </p:set>
                                    <p:anim calcmode="lin" valueType="num">
                                      <p:cBhvr additive="base">
                                        <p:cTn id="21" dur="1250" fill="hold"/>
                                        <p:tgtEl>
                                          <p:spTgt spid="6">
                                            <p:graphicEl>
                                              <a:dgm id="{C97AF87A-8AD7-47C2-A9A1-6CA9C0785A91}"/>
                                            </p:graphicEl>
                                          </p:spTgt>
                                        </p:tgtEl>
                                        <p:attrNameLst>
                                          <p:attrName>ppt_x</p:attrName>
                                        </p:attrNameLst>
                                      </p:cBhvr>
                                      <p:tavLst>
                                        <p:tav tm="0">
                                          <p:val>
                                            <p:strVal val="0-#ppt_w/2"/>
                                          </p:val>
                                        </p:tav>
                                        <p:tav tm="100000">
                                          <p:val>
                                            <p:strVal val="#ppt_x"/>
                                          </p:val>
                                        </p:tav>
                                      </p:tavLst>
                                    </p:anim>
                                    <p:anim calcmode="lin" valueType="num">
                                      <p:cBhvr additive="base">
                                        <p:cTn id="22" dur="1250" fill="hold"/>
                                        <p:tgtEl>
                                          <p:spTgt spid="6">
                                            <p:graphicEl>
                                              <a:dgm id="{C97AF87A-8AD7-47C2-A9A1-6CA9C0785A91}"/>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6">
                                            <p:graphicEl>
                                              <a:dgm id="{4460F647-2BB3-4B7E-80F3-F407E08C8C71}"/>
                                            </p:graphicEl>
                                          </p:spTgt>
                                        </p:tgtEl>
                                        <p:attrNameLst>
                                          <p:attrName>style.visibility</p:attrName>
                                        </p:attrNameLst>
                                      </p:cBhvr>
                                      <p:to>
                                        <p:strVal val="visible"/>
                                      </p:to>
                                    </p:set>
                                    <p:anim calcmode="lin" valueType="num">
                                      <p:cBhvr additive="base">
                                        <p:cTn id="25" dur="1250" fill="hold"/>
                                        <p:tgtEl>
                                          <p:spTgt spid="6">
                                            <p:graphicEl>
                                              <a:dgm id="{4460F647-2BB3-4B7E-80F3-F407E08C8C71}"/>
                                            </p:graphicEl>
                                          </p:spTgt>
                                        </p:tgtEl>
                                        <p:attrNameLst>
                                          <p:attrName>ppt_x</p:attrName>
                                        </p:attrNameLst>
                                      </p:cBhvr>
                                      <p:tavLst>
                                        <p:tav tm="0">
                                          <p:val>
                                            <p:strVal val="0-#ppt_w/2"/>
                                          </p:val>
                                        </p:tav>
                                        <p:tav tm="100000">
                                          <p:val>
                                            <p:strVal val="#ppt_x"/>
                                          </p:val>
                                        </p:tav>
                                      </p:tavLst>
                                    </p:anim>
                                    <p:anim calcmode="lin" valueType="num">
                                      <p:cBhvr additive="base">
                                        <p:cTn id="26" dur="1250" fill="hold"/>
                                        <p:tgtEl>
                                          <p:spTgt spid="6">
                                            <p:graphicEl>
                                              <a:dgm id="{4460F647-2BB3-4B7E-80F3-F407E08C8C71}"/>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graphicEl>
                                              <a:dgm id="{D93A83D4-186C-4D29-8291-6E9952E61B1B}"/>
                                            </p:graphicEl>
                                          </p:spTgt>
                                        </p:tgtEl>
                                        <p:attrNameLst>
                                          <p:attrName>style.visibility</p:attrName>
                                        </p:attrNameLst>
                                      </p:cBhvr>
                                      <p:to>
                                        <p:strVal val="visible"/>
                                      </p:to>
                                    </p:set>
                                    <p:anim calcmode="lin" valueType="num">
                                      <p:cBhvr additive="base">
                                        <p:cTn id="31" dur="1250" fill="hold"/>
                                        <p:tgtEl>
                                          <p:spTgt spid="6">
                                            <p:graphicEl>
                                              <a:dgm id="{D93A83D4-186C-4D29-8291-6E9952E61B1B}"/>
                                            </p:graphicEl>
                                          </p:spTgt>
                                        </p:tgtEl>
                                        <p:attrNameLst>
                                          <p:attrName>ppt_x</p:attrName>
                                        </p:attrNameLst>
                                      </p:cBhvr>
                                      <p:tavLst>
                                        <p:tav tm="0">
                                          <p:val>
                                            <p:strVal val="0-#ppt_w/2"/>
                                          </p:val>
                                        </p:tav>
                                        <p:tav tm="100000">
                                          <p:val>
                                            <p:strVal val="#ppt_x"/>
                                          </p:val>
                                        </p:tav>
                                      </p:tavLst>
                                    </p:anim>
                                    <p:anim calcmode="lin" valueType="num">
                                      <p:cBhvr additive="base">
                                        <p:cTn id="32" dur="1250" fill="hold"/>
                                        <p:tgtEl>
                                          <p:spTgt spid="6">
                                            <p:graphicEl>
                                              <a:dgm id="{D93A83D4-186C-4D29-8291-6E9952E61B1B}"/>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6">
                                            <p:graphicEl>
                                              <a:dgm id="{3AB3A624-BF44-41E6-994E-9E329CB9FEC4}"/>
                                            </p:graphicEl>
                                          </p:spTgt>
                                        </p:tgtEl>
                                        <p:attrNameLst>
                                          <p:attrName>style.visibility</p:attrName>
                                        </p:attrNameLst>
                                      </p:cBhvr>
                                      <p:to>
                                        <p:strVal val="visible"/>
                                      </p:to>
                                    </p:set>
                                    <p:anim calcmode="lin" valueType="num">
                                      <p:cBhvr additive="base">
                                        <p:cTn id="35" dur="1250" fill="hold"/>
                                        <p:tgtEl>
                                          <p:spTgt spid="6">
                                            <p:graphicEl>
                                              <a:dgm id="{3AB3A624-BF44-41E6-994E-9E329CB9FEC4}"/>
                                            </p:graphicEl>
                                          </p:spTgt>
                                        </p:tgtEl>
                                        <p:attrNameLst>
                                          <p:attrName>ppt_x</p:attrName>
                                        </p:attrNameLst>
                                      </p:cBhvr>
                                      <p:tavLst>
                                        <p:tav tm="0">
                                          <p:val>
                                            <p:strVal val="0-#ppt_w/2"/>
                                          </p:val>
                                        </p:tav>
                                        <p:tav tm="100000">
                                          <p:val>
                                            <p:strVal val="#ppt_x"/>
                                          </p:val>
                                        </p:tav>
                                      </p:tavLst>
                                    </p:anim>
                                    <p:anim calcmode="lin" valueType="num">
                                      <p:cBhvr additive="base">
                                        <p:cTn id="36" dur="1250" fill="hold"/>
                                        <p:tgtEl>
                                          <p:spTgt spid="6">
                                            <p:graphicEl>
                                              <a:dgm id="{3AB3A624-BF44-41E6-994E-9E329CB9FEC4}"/>
                                            </p:graphic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6">
                                            <p:graphicEl>
                                              <a:dgm id="{4672AFA9-EE76-448D-8D18-011C09B696A5}"/>
                                            </p:graphicEl>
                                          </p:spTgt>
                                        </p:tgtEl>
                                        <p:attrNameLst>
                                          <p:attrName>style.visibility</p:attrName>
                                        </p:attrNameLst>
                                      </p:cBhvr>
                                      <p:to>
                                        <p:strVal val="visible"/>
                                      </p:to>
                                    </p:set>
                                    <p:anim calcmode="lin" valueType="num">
                                      <p:cBhvr additive="base">
                                        <p:cTn id="39" dur="1250" fill="hold"/>
                                        <p:tgtEl>
                                          <p:spTgt spid="6">
                                            <p:graphicEl>
                                              <a:dgm id="{4672AFA9-EE76-448D-8D18-011C09B696A5}"/>
                                            </p:graphicEl>
                                          </p:spTgt>
                                        </p:tgtEl>
                                        <p:attrNameLst>
                                          <p:attrName>ppt_x</p:attrName>
                                        </p:attrNameLst>
                                      </p:cBhvr>
                                      <p:tavLst>
                                        <p:tav tm="0">
                                          <p:val>
                                            <p:strVal val="0-#ppt_w/2"/>
                                          </p:val>
                                        </p:tav>
                                        <p:tav tm="100000">
                                          <p:val>
                                            <p:strVal val="#ppt_x"/>
                                          </p:val>
                                        </p:tav>
                                      </p:tavLst>
                                    </p:anim>
                                    <p:anim calcmode="lin" valueType="num">
                                      <p:cBhvr additive="base">
                                        <p:cTn id="40" dur="1250" fill="hold"/>
                                        <p:tgtEl>
                                          <p:spTgt spid="6">
                                            <p:graphicEl>
                                              <a:dgm id="{4672AFA9-EE76-448D-8D18-011C09B696A5}"/>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153D96-FA2D-49EC-987E-FAF69280B778}"/>
              </a:ext>
            </a:extLst>
          </p:cNvPr>
          <p:cNvSpPr>
            <a:spLocks noGrp="1"/>
          </p:cNvSpPr>
          <p:nvPr>
            <p:ph type="title"/>
          </p:nvPr>
        </p:nvSpPr>
        <p:spPr/>
        <p:txBody>
          <a:bodyPr>
            <a:normAutofit fontScale="90000"/>
          </a:bodyPr>
          <a:lstStyle/>
          <a:p>
            <a:r>
              <a:rPr lang="en-US" dirty="0"/>
              <a:t>The Seven Dimensions of Motivation</a:t>
            </a:r>
          </a:p>
        </p:txBody>
      </p:sp>
      <p:sp>
        <p:nvSpPr>
          <p:cNvPr id="2" name="Slide Number Placeholder 1">
            <a:extLst>
              <a:ext uri="{FF2B5EF4-FFF2-40B4-BE49-F238E27FC236}">
                <a16:creationId xmlns:a16="http://schemas.microsoft.com/office/drawing/2014/main" id="{58A9337F-F627-4A72-9097-BDF7613C3E66}"/>
              </a:ext>
            </a:extLst>
          </p:cNvPr>
          <p:cNvSpPr>
            <a:spLocks noGrp="1"/>
          </p:cNvSpPr>
          <p:nvPr>
            <p:ph type="sldNum" sz="quarter" idx="10"/>
          </p:nvPr>
        </p:nvSpPr>
        <p:spPr/>
        <p:txBody>
          <a:bodyPr/>
          <a:lstStyle/>
          <a:p>
            <a:fld id="{F7E5495E-82E8-4D88-BE4B-165F6636701C}" type="slidenum">
              <a:rPr lang="en-US" smtClean="0"/>
              <a:t>3</a:t>
            </a:fld>
            <a:endParaRPr lang="en-US"/>
          </a:p>
        </p:txBody>
      </p:sp>
      <p:graphicFrame>
        <p:nvGraphicFramePr>
          <p:cNvPr id="5" name="Diagram 4">
            <a:extLst>
              <a:ext uri="{FF2B5EF4-FFF2-40B4-BE49-F238E27FC236}">
                <a16:creationId xmlns:a16="http://schemas.microsoft.com/office/drawing/2014/main" id="{C0201F8C-5CE5-483B-9F18-5F0232D82981}"/>
              </a:ext>
            </a:extLst>
          </p:cNvPr>
          <p:cNvGraphicFramePr/>
          <p:nvPr>
            <p:extLst>
              <p:ext uri="{D42A27DB-BD31-4B8C-83A1-F6EECF244321}">
                <p14:modId xmlns:p14="http://schemas.microsoft.com/office/powerpoint/2010/main" val="1502036190"/>
              </p:ext>
            </p:extLst>
          </p:nvPr>
        </p:nvGraphicFramePr>
        <p:xfrm>
          <a:off x="139701" y="1874838"/>
          <a:ext cx="10640942"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069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123DDAAA-78ED-4531-A978-62B9B97EE43F}"/>
                                            </p:graphicEl>
                                          </p:spTgt>
                                        </p:tgtEl>
                                        <p:attrNameLst>
                                          <p:attrName>style.visibility</p:attrName>
                                        </p:attrNameLst>
                                      </p:cBhvr>
                                      <p:to>
                                        <p:strVal val="visible"/>
                                      </p:to>
                                    </p:set>
                                    <p:anim calcmode="lin" valueType="num">
                                      <p:cBhvr additive="base">
                                        <p:cTn id="7" dur="500" fill="hold"/>
                                        <p:tgtEl>
                                          <p:spTgt spid="5">
                                            <p:graphicEl>
                                              <a:dgm id="{123DDAAA-78ED-4531-A978-62B9B97EE43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123DDAAA-78ED-4531-A978-62B9B97EE43F}"/>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graphicEl>
                                              <a:dgm id="{DA6EF85D-BAE2-4DC5-B02E-35BB37BE25EB}"/>
                                            </p:graphicEl>
                                          </p:spTgt>
                                        </p:tgtEl>
                                        <p:attrNameLst>
                                          <p:attrName>style.visibility</p:attrName>
                                        </p:attrNameLst>
                                      </p:cBhvr>
                                      <p:to>
                                        <p:strVal val="visible"/>
                                      </p:to>
                                    </p:set>
                                    <p:anim calcmode="lin" valueType="num">
                                      <p:cBhvr additive="base">
                                        <p:cTn id="11" dur="500" fill="hold"/>
                                        <p:tgtEl>
                                          <p:spTgt spid="5">
                                            <p:graphicEl>
                                              <a:dgm id="{DA6EF85D-BAE2-4DC5-B02E-35BB37BE25EB}"/>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graphicEl>
                                              <a:dgm id="{DA6EF85D-BAE2-4DC5-B02E-35BB37BE25EB}"/>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graphicEl>
                                              <a:dgm id="{C57FF979-8FDD-4AE0-846C-5622A32450D8}"/>
                                            </p:graphicEl>
                                          </p:spTgt>
                                        </p:tgtEl>
                                        <p:attrNameLst>
                                          <p:attrName>style.visibility</p:attrName>
                                        </p:attrNameLst>
                                      </p:cBhvr>
                                      <p:to>
                                        <p:strVal val="visible"/>
                                      </p:to>
                                    </p:set>
                                    <p:anim calcmode="lin" valueType="num">
                                      <p:cBhvr additive="base">
                                        <p:cTn id="17" dur="500" fill="hold"/>
                                        <p:tgtEl>
                                          <p:spTgt spid="5">
                                            <p:graphicEl>
                                              <a:dgm id="{C57FF979-8FDD-4AE0-846C-5622A32450D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graphicEl>
                                              <a:dgm id="{C57FF979-8FDD-4AE0-846C-5622A32450D8}"/>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graphicEl>
                                              <a:dgm id="{7DE1D331-E999-45B6-A5FC-2D0264E979E3}"/>
                                            </p:graphicEl>
                                          </p:spTgt>
                                        </p:tgtEl>
                                        <p:attrNameLst>
                                          <p:attrName>style.visibility</p:attrName>
                                        </p:attrNameLst>
                                      </p:cBhvr>
                                      <p:to>
                                        <p:strVal val="visible"/>
                                      </p:to>
                                    </p:set>
                                    <p:anim calcmode="lin" valueType="num">
                                      <p:cBhvr additive="base">
                                        <p:cTn id="21" dur="500" fill="hold"/>
                                        <p:tgtEl>
                                          <p:spTgt spid="5">
                                            <p:graphicEl>
                                              <a:dgm id="{7DE1D331-E999-45B6-A5FC-2D0264E979E3}"/>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graphicEl>
                                              <a:dgm id="{7DE1D331-E999-45B6-A5FC-2D0264E979E3}"/>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graphicEl>
                                              <a:dgm id="{CD56F18C-5811-4700-B7D6-B99EB3140F35}"/>
                                            </p:graphicEl>
                                          </p:spTgt>
                                        </p:tgtEl>
                                        <p:attrNameLst>
                                          <p:attrName>style.visibility</p:attrName>
                                        </p:attrNameLst>
                                      </p:cBhvr>
                                      <p:to>
                                        <p:strVal val="visible"/>
                                      </p:to>
                                    </p:set>
                                    <p:anim calcmode="lin" valueType="num">
                                      <p:cBhvr additive="base">
                                        <p:cTn id="27" dur="500" fill="hold"/>
                                        <p:tgtEl>
                                          <p:spTgt spid="5">
                                            <p:graphicEl>
                                              <a:dgm id="{CD56F18C-5811-4700-B7D6-B99EB3140F3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graphicEl>
                                              <a:dgm id="{CD56F18C-5811-4700-B7D6-B99EB3140F3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graphicEl>
                                              <a:dgm id="{967D44AB-51F4-4637-B2D0-1B6298FCB749}"/>
                                            </p:graphicEl>
                                          </p:spTgt>
                                        </p:tgtEl>
                                        <p:attrNameLst>
                                          <p:attrName>style.visibility</p:attrName>
                                        </p:attrNameLst>
                                      </p:cBhvr>
                                      <p:to>
                                        <p:strVal val="visible"/>
                                      </p:to>
                                    </p:set>
                                    <p:anim calcmode="lin" valueType="num">
                                      <p:cBhvr additive="base">
                                        <p:cTn id="31" dur="500" fill="hold"/>
                                        <p:tgtEl>
                                          <p:spTgt spid="5">
                                            <p:graphicEl>
                                              <a:dgm id="{967D44AB-51F4-4637-B2D0-1B6298FCB749}"/>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graphicEl>
                                              <a:dgm id="{967D44AB-51F4-4637-B2D0-1B6298FCB749}"/>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graphicEl>
                                              <a:dgm id="{ADF4C5D2-2588-4F1D-A41C-400277FB687D}"/>
                                            </p:graphicEl>
                                          </p:spTgt>
                                        </p:tgtEl>
                                        <p:attrNameLst>
                                          <p:attrName>style.visibility</p:attrName>
                                        </p:attrNameLst>
                                      </p:cBhvr>
                                      <p:to>
                                        <p:strVal val="visible"/>
                                      </p:to>
                                    </p:set>
                                    <p:anim calcmode="lin" valueType="num">
                                      <p:cBhvr additive="base">
                                        <p:cTn id="37" dur="500" fill="hold"/>
                                        <p:tgtEl>
                                          <p:spTgt spid="5">
                                            <p:graphicEl>
                                              <a:dgm id="{ADF4C5D2-2588-4F1D-A41C-400277FB687D}"/>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graphicEl>
                                              <a:dgm id="{ADF4C5D2-2588-4F1D-A41C-400277FB687D}"/>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
                                            <p:graphicEl>
                                              <a:dgm id="{C29C44BC-3063-4F66-ADAA-6C5ED92D6C0A}"/>
                                            </p:graphicEl>
                                          </p:spTgt>
                                        </p:tgtEl>
                                        <p:attrNameLst>
                                          <p:attrName>style.visibility</p:attrName>
                                        </p:attrNameLst>
                                      </p:cBhvr>
                                      <p:to>
                                        <p:strVal val="visible"/>
                                      </p:to>
                                    </p:set>
                                    <p:anim calcmode="lin" valueType="num">
                                      <p:cBhvr additive="base">
                                        <p:cTn id="41" dur="500" fill="hold"/>
                                        <p:tgtEl>
                                          <p:spTgt spid="5">
                                            <p:graphicEl>
                                              <a:dgm id="{C29C44BC-3063-4F66-ADAA-6C5ED92D6C0A}"/>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graphicEl>
                                              <a:dgm id="{C29C44BC-3063-4F66-ADAA-6C5ED92D6C0A}"/>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
                                            <p:graphicEl>
                                              <a:dgm id="{BA77C234-1EA3-4C2E-B236-EBEB2900B2E1}"/>
                                            </p:graphicEl>
                                          </p:spTgt>
                                        </p:tgtEl>
                                        <p:attrNameLst>
                                          <p:attrName>style.visibility</p:attrName>
                                        </p:attrNameLst>
                                      </p:cBhvr>
                                      <p:to>
                                        <p:strVal val="visible"/>
                                      </p:to>
                                    </p:set>
                                    <p:anim calcmode="lin" valueType="num">
                                      <p:cBhvr additive="base">
                                        <p:cTn id="47" dur="500" fill="hold"/>
                                        <p:tgtEl>
                                          <p:spTgt spid="5">
                                            <p:graphicEl>
                                              <a:dgm id="{BA77C234-1EA3-4C2E-B236-EBEB2900B2E1}"/>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graphicEl>
                                              <a:dgm id="{BA77C234-1EA3-4C2E-B236-EBEB2900B2E1}"/>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
                                            <p:graphicEl>
                                              <a:dgm id="{EF4CC7DC-EE97-4767-8086-F4626F82D364}"/>
                                            </p:graphicEl>
                                          </p:spTgt>
                                        </p:tgtEl>
                                        <p:attrNameLst>
                                          <p:attrName>style.visibility</p:attrName>
                                        </p:attrNameLst>
                                      </p:cBhvr>
                                      <p:to>
                                        <p:strVal val="visible"/>
                                      </p:to>
                                    </p:set>
                                    <p:anim calcmode="lin" valueType="num">
                                      <p:cBhvr additive="base">
                                        <p:cTn id="51" dur="500" fill="hold"/>
                                        <p:tgtEl>
                                          <p:spTgt spid="5">
                                            <p:graphicEl>
                                              <a:dgm id="{EF4CC7DC-EE97-4767-8086-F4626F82D364}"/>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5">
                                            <p:graphicEl>
                                              <a:dgm id="{EF4CC7DC-EE97-4767-8086-F4626F82D364}"/>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
                                            <p:graphicEl>
                                              <a:dgm id="{20A8D3A9-06DA-410A-8BBF-9E576B6DF94B}"/>
                                            </p:graphicEl>
                                          </p:spTgt>
                                        </p:tgtEl>
                                        <p:attrNameLst>
                                          <p:attrName>style.visibility</p:attrName>
                                        </p:attrNameLst>
                                      </p:cBhvr>
                                      <p:to>
                                        <p:strVal val="visible"/>
                                      </p:to>
                                    </p:set>
                                    <p:anim calcmode="lin" valueType="num">
                                      <p:cBhvr additive="base">
                                        <p:cTn id="57" dur="500" fill="hold"/>
                                        <p:tgtEl>
                                          <p:spTgt spid="5">
                                            <p:graphicEl>
                                              <a:dgm id="{20A8D3A9-06DA-410A-8BBF-9E576B6DF94B}"/>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graphicEl>
                                              <a:dgm id="{20A8D3A9-06DA-410A-8BBF-9E576B6DF94B}"/>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
                                            <p:graphicEl>
                                              <a:dgm id="{A6684ED6-1F07-4593-84DE-2105224A10C5}"/>
                                            </p:graphicEl>
                                          </p:spTgt>
                                        </p:tgtEl>
                                        <p:attrNameLst>
                                          <p:attrName>style.visibility</p:attrName>
                                        </p:attrNameLst>
                                      </p:cBhvr>
                                      <p:to>
                                        <p:strVal val="visible"/>
                                      </p:to>
                                    </p:set>
                                    <p:anim calcmode="lin" valueType="num">
                                      <p:cBhvr additive="base">
                                        <p:cTn id="61" dur="500" fill="hold"/>
                                        <p:tgtEl>
                                          <p:spTgt spid="5">
                                            <p:graphicEl>
                                              <a:dgm id="{A6684ED6-1F07-4593-84DE-2105224A10C5}"/>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graphicEl>
                                              <a:dgm id="{A6684ED6-1F07-4593-84DE-2105224A10C5}"/>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
                                            <p:graphicEl>
                                              <a:dgm id="{CD77FAF4-D90C-44E3-923C-DD04295E7716}"/>
                                            </p:graphicEl>
                                          </p:spTgt>
                                        </p:tgtEl>
                                        <p:attrNameLst>
                                          <p:attrName>style.visibility</p:attrName>
                                        </p:attrNameLst>
                                      </p:cBhvr>
                                      <p:to>
                                        <p:strVal val="visible"/>
                                      </p:to>
                                    </p:set>
                                    <p:anim calcmode="lin" valueType="num">
                                      <p:cBhvr additive="base">
                                        <p:cTn id="67" dur="500" fill="hold"/>
                                        <p:tgtEl>
                                          <p:spTgt spid="5">
                                            <p:graphicEl>
                                              <a:dgm id="{CD77FAF4-D90C-44E3-923C-DD04295E7716}"/>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graphicEl>
                                              <a:dgm id="{CD77FAF4-D90C-44E3-923C-DD04295E7716}"/>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
                                            <p:graphicEl>
                                              <a:dgm id="{ABEC49CE-3EB2-4027-87B1-C908C86EB733}"/>
                                            </p:graphicEl>
                                          </p:spTgt>
                                        </p:tgtEl>
                                        <p:attrNameLst>
                                          <p:attrName>style.visibility</p:attrName>
                                        </p:attrNameLst>
                                      </p:cBhvr>
                                      <p:to>
                                        <p:strVal val="visible"/>
                                      </p:to>
                                    </p:set>
                                    <p:anim calcmode="lin" valueType="num">
                                      <p:cBhvr additive="base">
                                        <p:cTn id="71" dur="500" fill="hold"/>
                                        <p:tgtEl>
                                          <p:spTgt spid="5">
                                            <p:graphicEl>
                                              <a:dgm id="{ABEC49CE-3EB2-4027-87B1-C908C86EB733}"/>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5">
                                            <p:graphicEl>
                                              <a:dgm id="{ABEC49CE-3EB2-4027-87B1-C908C86EB73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98E09-D9C4-44D5-9119-FBA20C580825}"/>
              </a:ext>
            </a:extLst>
          </p:cNvPr>
          <p:cNvSpPr>
            <a:spLocks noGrp="1"/>
          </p:cNvSpPr>
          <p:nvPr>
            <p:ph type="title"/>
          </p:nvPr>
        </p:nvSpPr>
        <p:spPr/>
        <p:txBody>
          <a:bodyPr/>
          <a:lstStyle/>
          <a:p>
            <a:r>
              <a:rPr lang="en-US" dirty="0"/>
              <a:t>Importance &amp; impact</a:t>
            </a:r>
          </a:p>
        </p:txBody>
      </p:sp>
      <p:sp>
        <p:nvSpPr>
          <p:cNvPr id="4" name="Slide Number Placeholder 3">
            <a:extLst>
              <a:ext uri="{FF2B5EF4-FFF2-40B4-BE49-F238E27FC236}">
                <a16:creationId xmlns:a16="http://schemas.microsoft.com/office/drawing/2014/main" id="{42767CC8-FF05-48AA-B1FA-99BCD65B5395}"/>
              </a:ext>
            </a:extLst>
          </p:cNvPr>
          <p:cNvSpPr>
            <a:spLocks noGrp="1"/>
          </p:cNvSpPr>
          <p:nvPr>
            <p:ph type="sldNum" sz="quarter" idx="10"/>
          </p:nvPr>
        </p:nvSpPr>
        <p:spPr/>
        <p:txBody>
          <a:bodyPr/>
          <a:lstStyle/>
          <a:p>
            <a:fld id="{F7E5495E-82E8-4D88-BE4B-165F6636701C}" type="slidenum">
              <a:rPr lang="en-US" smtClean="0"/>
              <a:t>4</a:t>
            </a:fld>
            <a:endParaRPr lang="en-US"/>
          </a:p>
        </p:txBody>
      </p:sp>
      <p:graphicFrame>
        <p:nvGraphicFramePr>
          <p:cNvPr id="5" name="Diagram 4">
            <a:extLst>
              <a:ext uri="{FF2B5EF4-FFF2-40B4-BE49-F238E27FC236}">
                <a16:creationId xmlns:a16="http://schemas.microsoft.com/office/drawing/2014/main" id="{453806D7-7D45-44F7-B860-94632F582A4B}"/>
              </a:ext>
            </a:extLst>
          </p:cNvPr>
          <p:cNvGraphicFramePr/>
          <p:nvPr>
            <p:extLst>
              <p:ext uri="{D42A27DB-BD31-4B8C-83A1-F6EECF244321}">
                <p14:modId xmlns:p14="http://schemas.microsoft.com/office/powerpoint/2010/main" val="1876111044"/>
              </p:ext>
            </p:extLst>
          </p:nvPr>
        </p:nvGraphicFramePr>
        <p:xfrm>
          <a:off x="1714500" y="1775883"/>
          <a:ext cx="9525000" cy="4716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037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graphicEl>
                                              <a:dgm id="{396CAF66-5F4F-44A5-B846-9C6BD2B4A7AA}"/>
                                            </p:graphicEl>
                                          </p:spTgt>
                                        </p:tgtEl>
                                        <p:attrNameLst>
                                          <p:attrName>style.visibility</p:attrName>
                                        </p:attrNameLst>
                                      </p:cBhvr>
                                      <p:to>
                                        <p:strVal val="visible"/>
                                      </p:to>
                                    </p:set>
                                    <p:anim calcmode="lin" valueType="num">
                                      <p:cBhvr additive="base">
                                        <p:cTn id="7" dur="750" fill="hold"/>
                                        <p:tgtEl>
                                          <p:spTgt spid="5">
                                            <p:graphicEl>
                                              <a:dgm id="{396CAF66-5F4F-44A5-B846-9C6BD2B4A7AA}"/>
                                            </p:graphicEl>
                                          </p:spTgt>
                                        </p:tgtEl>
                                        <p:attrNameLst>
                                          <p:attrName>ppt_x</p:attrName>
                                        </p:attrNameLst>
                                      </p:cBhvr>
                                      <p:tavLst>
                                        <p:tav tm="0">
                                          <p:val>
                                            <p:strVal val="0-#ppt_w/2"/>
                                          </p:val>
                                        </p:tav>
                                        <p:tav tm="100000">
                                          <p:val>
                                            <p:strVal val="#ppt_x"/>
                                          </p:val>
                                        </p:tav>
                                      </p:tavLst>
                                    </p:anim>
                                    <p:anim calcmode="lin" valueType="num">
                                      <p:cBhvr additive="base">
                                        <p:cTn id="8" dur="750" fill="hold"/>
                                        <p:tgtEl>
                                          <p:spTgt spid="5">
                                            <p:graphicEl>
                                              <a:dgm id="{396CAF66-5F4F-44A5-B846-9C6BD2B4A7AA}"/>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graphicEl>
                                              <a:dgm id="{71849C53-F907-456E-967A-4576588DB53F}"/>
                                            </p:graphicEl>
                                          </p:spTgt>
                                        </p:tgtEl>
                                        <p:attrNameLst>
                                          <p:attrName>style.visibility</p:attrName>
                                        </p:attrNameLst>
                                      </p:cBhvr>
                                      <p:to>
                                        <p:strVal val="visible"/>
                                      </p:to>
                                    </p:set>
                                    <p:anim calcmode="lin" valueType="num">
                                      <p:cBhvr additive="base">
                                        <p:cTn id="11" dur="750" fill="hold"/>
                                        <p:tgtEl>
                                          <p:spTgt spid="5">
                                            <p:graphicEl>
                                              <a:dgm id="{71849C53-F907-456E-967A-4576588DB53F}"/>
                                            </p:graphicEl>
                                          </p:spTgt>
                                        </p:tgtEl>
                                        <p:attrNameLst>
                                          <p:attrName>ppt_x</p:attrName>
                                        </p:attrNameLst>
                                      </p:cBhvr>
                                      <p:tavLst>
                                        <p:tav tm="0">
                                          <p:val>
                                            <p:strVal val="0-#ppt_w/2"/>
                                          </p:val>
                                        </p:tav>
                                        <p:tav tm="100000">
                                          <p:val>
                                            <p:strVal val="#ppt_x"/>
                                          </p:val>
                                        </p:tav>
                                      </p:tavLst>
                                    </p:anim>
                                    <p:anim calcmode="lin" valueType="num">
                                      <p:cBhvr additive="base">
                                        <p:cTn id="12" dur="750" fill="hold"/>
                                        <p:tgtEl>
                                          <p:spTgt spid="5">
                                            <p:graphicEl>
                                              <a:dgm id="{71849C53-F907-456E-967A-4576588DB53F}"/>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
                                            <p:graphicEl>
                                              <a:dgm id="{EBF0E674-67DE-46A1-A315-DF04E0EED009}"/>
                                            </p:graphicEl>
                                          </p:spTgt>
                                        </p:tgtEl>
                                        <p:attrNameLst>
                                          <p:attrName>style.visibility</p:attrName>
                                        </p:attrNameLst>
                                      </p:cBhvr>
                                      <p:to>
                                        <p:strVal val="visible"/>
                                      </p:to>
                                    </p:set>
                                    <p:anim calcmode="lin" valueType="num">
                                      <p:cBhvr additive="base">
                                        <p:cTn id="15" dur="750" fill="hold"/>
                                        <p:tgtEl>
                                          <p:spTgt spid="5">
                                            <p:graphicEl>
                                              <a:dgm id="{EBF0E674-67DE-46A1-A315-DF04E0EED009}"/>
                                            </p:graphicEl>
                                          </p:spTgt>
                                        </p:tgtEl>
                                        <p:attrNameLst>
                                          <p:attrName>ppt_x</p:attrName>
                                        </p:attrNameLst>
                                      </p:cBhvr>
                                      <p:tavLst>
                                        <p:tav tm="0">
                                          <p:val>
                                            <p:strVal val="0-#ppt_w/2"/>
                                          </p:val>
                                        </p:tav>
                                        <p:tav tm="100000">
                                          <p:val>
                                            <p:strVal val="#ppt_x"/>
                                          </p:val>
                                        </p:tav>
                                      </p:tavLst>
                                    </p:anim>
                                    <p:anim calcmode="lin" valueType="num">
                                      <p:cBhvr additive="base">
                                        <p:cTn id="16" dur="750" fill="hold"/>
                                        <p:tgtEl>
                                          <p:spTgt spid="5">
                                            <p:graphicEl>
                                              <a:dgm id="{EBF0E674-67DE-46A1-A315-DF04E0EED009}"/>
                                            </p:graphic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graphicEl>
                                              <a:dgm id="{72F72CD7-22F0-437B-9C7A-C02046AFEF41}"/>
                                            </p:graphicEl>
                                          </p:spTgt>
                                        </p:tgtEl>
                                        <p:attrNameLst>
                                          <p:attrName>style.visibility</p:attrName>
                                        </p:attrNameLst>
                                      </p:cBhvr>
                                      <p:to>
                                        <p:strVal val="visible"/>
                                      </p:to>
                                    </p:set>
                                    <p:anim calcmode="lin" valueType="num">
                                      <p:cBhvr additive="base">
                                        <p:cTn id="19" dur="750" fill="hold"/>
                                        <p:tgtEl>
                                          <p:spTgt spid="5">
                                            <p:graphicEl>
                                              <a:dgm id="{72F72CD7-22F0-437B-9C7A-C02046AFEF41}"/>
                                            </p:graphicEl>
                                          </p:spTgt>
                                        </p:tgtEl>
                                        <p:attrNameLst>
                                          <p:attrName>ppt_x</p:attrName>
                                        </p:attrNameLst>
                                      </p:cBhvr>
                                      <p:tavLst>
                                        <p:tav tm="0">
                                          <p:val>
                                            <p:strVal val="0-#ppt_w/2"/>
                                          </p:val>
                                        </p:tav>
                                        <p:tav tm="100000">
                                          <p:val>
                                            <p:strVal val="#ppt_x"/>
                                          </p:val>
                                        </p:tav>
                                      </p:tavLst>
                                    </p:anim>
                                    <p:anim calcmode="lin" valueType="num">
                                      <p:cBhvr additive="base">
                                        <p:cTn id="20" dur="750" fill="hold"/>
                                        <p:tgtEl>
                                          <p:spTgt spid="5">
                                            <p:graphicEl>
                                              <a:dgm id="{72F72CD7-22F0-437B-9C7A-C02046AFEF41}"/>
                                            </p:graphic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
                                            <p:graphicEl>
                                              <a:dgm id="{1B352DDF-4939-418B-999C-20F203514FD6}"/>
                                            </p:graphicEl>
                                          </p:spTgt>
                                        </p:tgtEl>
                                        <p:attrNameLst>
                                          <p:attrName>style.visibility</p:attrName>
                                        </p:attrNameLst>
                                      </p:cBhvr>
                                      <p:to>
                                        <p:strVal val="visible"/>
                                      </p:to>
                                    </p:set>
                                    <p:anim calcmode="lin" valueType="num">
                                      <p:cBhvr additive="base">
                                        <p:cTn id="23" dur="750" fill="hold"/>
                                        <p:tgtEl>
                                          <p:spTgt spid="5">
                                            <p:graphicEl>
                                              <a:dgm id="{1B352DDF-4939-418B-999C-20F203514FD6}"/>
                                            </p:graphicEl>
                                          </p:spTgt>
                                        </p:tgtEl>
                                        <p:attrNameLst>
                                          <p:attrName>ppt_x</p:attrName>
                                        </p:attrNameLst>
                                      </p:cBhvr>
                                      <p:tavLst>
                                        <p:tav tm="0">
                                          <p:val>
                                            <p:strVal val="0-#ppt_w/2"/>
                                          </p:val>
                                        </p:tav>
                                        <p:tav tm="100000">
                                          <p:val>
                                            <p:strVal val="#ppt_x"/>
                                          </p:val>
                                        </p:tav>
                                      </p:tavLst>
                                    </p:anim>
                                    <p:anim calcmode="lin" valueType="num">
                                      <p:cBhvr additive="base">
                                        <p:cTn id="24" dur="750" fill="hold"/>
                                        <p:tgtEl>
                                          <p:spTgt spid="5">
                                            <p:graphicEl>
                                              <a:dgm id="{1B352DDF-4939-418B-999C-20F203514FD6}"/>
                                            </p:graphic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5">
                                            <p:graphicEl>
                                              <a:dgm id="{BA9DF530-1568-46B3-A92D-4AA5F6C34A27}"/>
                                            </p:graphicEl>
                                          </p:spTgt>
                                        </p:tgtEl>
                                        <p:attrNameLst>
                                          <p:attrName>style.visibility</p:attrName>
                                        </p:attrNameLst>
                                      </p:cBhvr>
                                      <p:to>
                                        <p:strVal val="visible"/>
                                      </p:to>
                                    </p:set>
                                    <p:anim calcmode="lin" valueType="num">
                                      <p:cBhvr additive="base">
                                        <p:cTn id="29" dur="750" fill="hold"/>
                                        <p:tgtEl>
                                          <p:spTgt spid="5">
                                            <p:graphicEl>
                                              <a:dgm id="{BA9DF530-1568-46B3-A92D-4AA5F6C34A27}"/>
                                            </p:graphicEl>
                                          </p:spTgt>
                                        </p:tgtEl>
                                        <p:attrNameLst>
                                          <p:attrName>ppt_x</p:attrName>
                                        </p:attrNameLst>
                                      </p:cBhvr>
                                      <p:tavLst>
                                        <p:tav tm="0">
                                          <p:val>
                                            <p:strVal val="1+#ppt_w/2"/>
                                          </p:val>
                                        </p:tav>
                                        <p:tav tm="100000">
                                          <p:val>
                                            <p:strVal val="#ppt_x"/>
                                          </p:val>
                                        </p:tav>
                                      </p:tavLst>
                                    </p:anim>
                                    <p:anim calcmode="lin" valueType="num">
                                      <p:cBhvr additive="base">
                                        <p:cTn id="30" dur="750" fill="hold"/>
                                        <p:tgtEl>
                                          <p:spTgt spid="5">
                                            <p:graphicEl>
                                              <a:dgm id="{BA9DF530-1568-46B3-A92D-4AA5F6C34A27}"/>
                                            </p:graphic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
                                            <p:graphicEl>
                                              <a:dgm id="{34F838BF-F3DD-4E72-98B3-C5DFA00CD072}"/>
                                            </p:graphicEl>
                                          </p:spTgt>
                                        </p:tgtEl>
                                        <p:attrNameLst>
                                          <p:attrName>style.visibility</p:attrName>
                                        </p:attrNameLst>
                                      </p:cBhvr>
                                      <p:to>
                                        <p:strVal val="visible"/>
                                      </p:to>
                                    </p:set>
                                    <p:anim calcmode="lin" valueType="num">
                                      <p:cBhvr additive="base">
                                        <p:cTn id="33" dur="750" fill="hold"/>
                                        <p:tgtEl>
                                          <p:spTgt spid="5">
                                            <p:graphicEl>
                                              <a:dgm id="{34F838BF-F3DD-4E72-98B3-C5DFA00CD072}"/>
                                            </p:graphicEl>
                                          </p:spTgt>
                                        </p:tgtEl>
                                        <p:attrNameLst>
                                          <p:attrName>ppt_x</p:attrName>
                                        </p:attrNameLst>
                                      </p:cBhvr>
                                      <p:tavLst>
                                        <p:tav tm="0">
                                          <p:val>
                                            <p:strVal val="1+#ppt_w/2"/>
                                          </p:val>
                                        </p:tav>
                                        <p:tav tm="100000">
                                          <p:val>
                                            <p:strVal val="#ppt_x"/>
                                          </p:val>
                                        </p:tav>
                                      </p:tavLst>
                                    </p:anim>
                                    <p:anim calcmode="lin" valueType="num">
                                      <p:cBhvr additive="base">
                                        <p:cTn id="34" dur="750" fill="hold"/>
                                        <p:tgtEl>
                                          <p:spTgt spid="5">
                                            <p:graphicEl>
                                              <a:dgm id="{34F838BF-F3DD-4E72-98B3-C5DFA00CD072}"/>
                                            </p:graphic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
                                            <p:graphicEl>
                                              <a:dgm id="{3E613FC6-1536-4AC5-BD78-38884C363002}"/>
                                            </p:graphicEl>
                                          </p:spTgt>
                                        </p:tgtEl>
                                        <p:attrNameLst>
                                          <p:attrName>style.visibility</p:attrName>
                                        </p:attrNameLst>
                                      </p:cBhvr>
                                      <p:to>
                                        <p:strVal val="visible"/>
                                      </p:to>
                                    </p:set>
                                    <p:anim calcmode="lin" valueType="num">
                                      <p:cBhvr additive="base">
                                        <p:cTn id="37" dur="750" fill="hold"/>
                                        <p:tgtEl>
                                          <p:spTgt spid="5">
                                            <p:graphicEl>
                                              <a:dgm id="{3E613FC6-1536-4AC5-BD78-38884C363002}"/>
                                            </p:graphicEl>
                                          </p:spTgt>
                                        </p:tgtEl>
                                        <p:attrNameLst>
                                          <p:attrName>ppt_x</p:attrName>
                                        </p:attrNameLst>
                                      </p:cBhvr>
                                      <p:tavLst>
                                        <p:tav tm="0">
                                          <p:val>
                                            <p:strVal val="1+#ppt_w/2"/>
                                          </p:val>
                                        </p:tav>
                                        <p:tav tm="100000">
                                          <p:val>
                                            <p:strVal val="#ppt_x"/>
                                          </p:val>
                                        </p:tav>
                                      </p:tavLst>
                                    </p:anim>
                                    <p:anim calcmode="lin" valueType="num">
                                      <p:cBhvr additive="base">
                                        <p:cTn id="38" dur="750" fill="hold"/>
                                        <p:tgtEl>
                                          <p:spTgt spid="5">
                                            <p:graphicEl>
                                              <a:dgm id="{3E613FC6-1536-4AC5-BD78-38884C363002}"/>
                                            </p:graphic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5">
                                            <p:graphicEl>
                                              <a:dgm id="{27A4357E-5AE1-4892-947F-EE169AF7D1F6}"/>
                                            </p:graphicEl>
                                          </p:spTgt>
                                        </p:tgtEl>
                                        <p:attrNameLst>
                                          <p:attrName>style.visibility</p:attrName>
                                        </p:attrNameLst>
                                      </p:cBhvr>
                                      <p:to>
                                        <p:strVal val="visible"/>
                                      </p:to>
                                    </p:set>
                                    <p:anim calcmode="lin" valueType="num">
                                      <p:cBhvr additive="base">
                                        <p:cTn id="41" dur="750" fill="hold"/>
                                        <p:tgtEl>
                                          <p:spTgt spid="5">
                                            <p:graphicEl>
                                              <a:dgm id="{27A4357E-5AE1-4892-947F-EE169AF7D1F6}"/>
                                            </p:graphicEl>
                                          </p:spTgt>
                                        </p:tgtEl>
                                        <p:attrNameLst>
                                          <p:attrName>ppt_x</p:attrName>
                                        </p:attrNameLst>
                                      </p:cBhvr>
                                      <p:tavLst>
                                        <p:tav tm="0">
                                          <p:val>
                                            <p:strVal val="1+#ppt_w/2"/>
                                          </p:val>
                                        </p:tav>
                                        <p:tav tm="100000">
                                          <p:val>
                                            <p:strVal val="#ppt_x"/>
                                          </p:val>
                                        </p:tav>
                                      </p:tavLst>
                                    </p:anim>
                                    <p:anim calcmode="lin" valueType="num">
                                      <p:cBhvr additive="base">
                                        <p:cTn id="42" dur="750" fill="hold"/>
                                        <p:tgtEl>
                                          <p:spTgt spid="5">
                                            <p:graphicEl>
                                              <a:dgm id="{27A4357E-5AE1-4892-947F-EE169AF7D1F6}"/>
                                            </p:graphic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5">
                                            <p:graphicEl>
                                              <a:dgm id="{1EE03B94-5B3A-421E-8686-2298568B33C8}"/>
                                            </p:graphicEl>
                                          </p:spTgt>
                                        </p:tgtEl>
                                        <p:attrNameLst>
                                          <p:attrName>style.visibility</p:attrName>
                                        </p:attrNameLst>
                                      </p:cBhvr>
                                      <p:to>
                                        <p:strVal val="visible"/>
                                      </p:to>
                                    </p:set>
                                    <p:anim calcmode="lin" valueType="num">
                                      <p:cBhvr additive="base">
                                        <p:cTn id="45" dur="750" fill="hold"/>
                                        <p:tgtEl>
                                          <p:spTgt spid="5">
                                            <p:graphicEl>
                                              <a:dgm id="{1EE03B94-5B3A-421E-8686-2298568B33C8}"/>
                                            </p:graphicEl>
                                          </p:spTgt>
                                        </p:tgtEl>
                                        <p:attrNameLst>
                                          <p:attrName>ppt_x</p:attrName>
                                        </p:attrNameLst>
                                      </p:cBhvr>
                                      <p:tavLst>
                                        <p:tav tm="0">
                                          <p:val>
                                            <p:strVal val="1+#ppt_w/2"/>
                                          </p:val>
                                        </p:tav>
                                        <p:tav tm="100000">
                                          <p:val>
                                            <p:strVal val="#ppt_x"/>
                                          </p:val>
                                        </p:tav>
                                      </p:tavLst>
                                    </p:anim>
                                    <p:anim calcmode="lin" valueType="num">
                                      <p:cBhvr additive="base">
                                        <p:cTn id="46" dur="750" fill="hold"/>
                                        <p:tgtEl>
                                          <p:spTgt spid="5">
                                            <p:graphicEl>
                                              <a:dgm id="{1EE03B94-5B3A-421E-8686-2298568B33C8}"/>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823B8556-6E08-4D60-A35F-E5B597E5C3AB}"/>
              </a:ext>
            </a:extLst>
          </p:cNvPr>
          <p:cNvPicPr>
            <a:picLocks noChangeAspect="1"/>
          </p:cNvPicPr>
          <p:nvPr/>
        </p:nvPicPr>
        <p:blipFill>
          <a:blip r:embed="rId3"/>
          <a:stretch>
            <a:fillRect/>
          </a:stretch>
        </p:blipFill>
        <p:spPr>
          <a:xfrm>
            <a:off x="219003" y="1951720"/>
            <a:ext cx="6312224" cy="4000706"/>
          </a:xfrm>
          <a:prstGeom prst="rect">
            <a:avLst/>
          </a:prstGeom>
        </p:spPr>
      </p:pic>
      <p:sp>
        <p:nvSpPr>
          <p:cNvPr id="20" name="Rectangle 19">
            <a:extLst>
              <a:ext uri="{FF2B5EF4-FFF2-40B4-BE49-F238E27FC236}">
                <a16:creationId xmlns:a16="http://schemas.microsoft.com/office/drawing/2014/main" id="{1F83F007-6DF0-40E5-979E-361822ACA9C8}"/>
              </a:ext>
            </a:extLst>
          </p:cNvPr>
          <p:cNvSpPr/>
          <p:nvPr/>
        </p:nvSpPr>
        <p:spPr>
          <a:xfrm>
            <a:off x="6258621" y="0"/>
            <a:ext cx="5785274" cy="6858000"/>
          </a:xfrm>
          <a:prstGeom prst="rect">
            <a:avLst/>
          </a:prstGeom>
          <a:solidFill>
            <a:srgbClr val="1F225E">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1A82EBE-E13C-48BB-A118-F3E079CE2F7A}"/>
              </a:ext>
            </a:extLst>
          </p:cNvPr>
          <p:cNvSpPr/>
          <p:nvPr/>
        </p:nvSpPr>
        <p:spPr>
          <a:xfrm>
            <a:off x="6591780" y="1"/>
            <a:ext cx="5785274" cy="6858000"/>
          </a:xfrm>
          <a:prstGeom prst="rect">
            <a:avLst/>
          </a:prstGeom>
          <a:solidFill>
            <a:srgbClr val="1F22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C521A6E3-6D77-404C-8450-539F4E4D22E4}"/>
              </a:ext>
            </a:extLst>
          </p:cNvPr>
          <p:cNvSpPr>
            <a:spLocks noGrp="1"/>
          </p:cNvSpPr>
          <p:nvPr>
            <p:ph type="sldNum" sz="quarter" idx="10"/>
          </p:nvPr>
        </p:nvSpPr>
        <p:spPr/>
        <p:txBody>
          <a:bodyPr/>
          <a:lstStyle/>
          <a:p>
            <a:fld id="{F7E5495E-82E8-4D88-BE4B-165F6636701C}" type="slidenum">
              <a:rPr lang="en-US" smtClean="0"/>
              <a:t>5</a:t>
            </a:fld>
            <a:endParaRPr lang="en-US"/>
          </a:p>
        </p:txBody>
      </p:sp>
      <p:sp>
        <p:nvSpPr>
          <p:cNvPr id="6" name="Text Placeholder 5">
            <a:extLst>
              <a:ext uri="{FF2B5EF4-FFF2-40B4-BE49-F238E27FC236}">
                <a16:creationId xmlns:a16="http://schemas.microsoft.com/office/drawing/2014/main" id="{22300AE7-6E0A-4158-B823-810A149FCCD5}"/>
              </a:ext>
            </a:extLst>
          </p:cNvPr>
          <p:cNvSpPr>
            <a:spLocks noGrp="1"/>
          </p:cNvSpPr>
          <p:nvPr>
            <p:ph type="body" sz="quarter" idx="4294967295"/>
          </p:nvPr>
        </p:nvSpPr>
        <p:spPr>
          <a:xfrm>
            <a:off x="6634163" y="391885"/>
            <a:ext cx="5253038" cy="1165225"/>
          </a:xfrm>
        </p:spPr>
        <p:txBody>
          <a:bodyPr>
            <a:noAutofit/>
          </a:bodyPr>
          <a:lstStyle/>
          <a:p>
            <a:pPr marL="0" indent="0">
              <a:spcBef>
                <a:spcPct val="0"/>
              </a:spcBef>
              <a:buNone/>
            </a:pPr>
            <a:r>
              <a:rPr lang="en-US" sz="4400" b="1" cap="all" dirty="0">
                <a:solidFill>
                  <a:schemeClr val="bg1"/>
                </a:solidFill>
                <a:latin typeface="Calibri" panose="020F0502020204030204" pitchFamily="34" charset="0"/>
                <a:ea typeface="MS Mincho"/>
                <a:cs typeface="Arial" panose="020B0604020202020204" pitchFamily="34" charset="0"/>
              </a:rPr>
              <a:t>Scoring Motivators</a:t>
            </a:r>
          </a:p>
        </p:txBody>
      </p:sp>
      <p:sp>
        <p:nvSpPr>
          <p:cNvPr id="5" name="Content Placeholder 4">
            <a:extLst>
              <a:ext uri="{FF2B5EF4-FFF2-40B4-BE49-F238E27FC236}">
                <a16:creationId xmlns:a16="http://schemas.microsoft.com/office/drawing/2014/main" id="{373569DD-47AA-4AD7-B9A1-BC8840BA9EB7}"/>
              </a:ext>
            </a:extLst>
          </p:cNvPr>
          <p:cNvSpPr>
            <a:spLocks noGrp="1"/>
          </p:cNvSpPr>
          <p:nvPr>
            <p:ph idx="4294967295"/>
          </p:nvPr>
        </p:nvSpPr>
        <p:spPr>
          <a:xfrm>
            <a:off x="6729811" y="2017713"/>
            <a:ext cx="4671998" cy="3631974"/>
          </a:xfrm>
        </p:spPr>
        <p:txBody>
          <a:bodyPr/>
          <a:lstStyle/>
          <a:p>
            <a:pPr marL="514350" indent="-514350">
              <a:buFont typeface="+mj-lt"/>
              <a:buAutoNum type="arabicPeriod"/>
            </a:pPr>
            <a:r>
              <a:rPr lang="en-US" dirty="0">
                <a:solidFill>
                  <a:schemeClr val="bg1"/>
                </a:solidFill>
              </a:rPr>
              <a:t>The solid bar &amp; number</a:t>
            </a:r>
          </a:p>
          <a:p>
            <a:pPr marL="514350" indent="-514350">
              <a:buFont typeface="+mj-lt"/>
              <a:buAutoNum type="arabicPeriod"/>
            </a:pPr>
            <a:r>
              <a:rPr lang="en-US" dirty="0">
                <a:solidFill>
                  <a:schemeClr val="bg1"/>
                </a:solidFill>
              </a:rPr>
              <a:t>The shaded area</a:t>
            </a:r>
          </a:p>
          <a:p>
            <a:pPr marL="514350" indent="-514350">
              <a:buFont typeface="+mj-lt"/>
              <a:buAutoNum type="arabicPeriod"/>
            </a:pPr>
            <a:r>
              <a:rPr lang="en-US" dirty="0">
                <a:solidFill>
                  <a:schemeClr val="bg1"/>
                </a:solidFill>
              </a:rPr>
              <a:t>The box plot</a:t>
            </a:r>
          </a:p>
          <a:p>
            <a:pPr marL="514350" indent="-514350">
              <a:buFont typeface="+mj-lt"/>
              <a:buAutoNum type="arabicPeriod"/>
            </a:pPr>
            <a:r>
              <a:rPr lang="en-US" dirty="0">
                <a:solidFill>
                  <a:schemeClr val="bg1"/>
                </a:solidFill>
              </a:rPr>
              <a:t>The norm line</a:t>
            </a:r>
          </a:p>
          <a:p>
            <a:pPr marL="514350" indent="-514350">
              <a:buFont typeface="+mj-lt"/>
              <a:buAutoNum type="arabicPeriod"/>
            </a:pPr>
            <a:r>
              <a:rPr lang="en-US" dirty="0">
                <a:solidFill>
                  <a:schemeClr val="bg1"/>
                </a:solidFill>
              </a:rPr>
              <a:t>Ranking</a:t>
            </a:r>
          </a:p>
        </p:txBody>
      </p:sp>
      <p:cxnSp>
        <p:nvCxnSpPr>
          <p:cNvPr id="9" name="Straight Arrow Connector 8">
            <a:extLst>
              <a:ext uri="{FF2B5EF4-FFF2-40B4-BE49-F238E27FC236}">
                <a16:creationId xmlns:a16="http://schemas.microsoft.com/office/drawing/2014/main" id="{B462B57D-143E-4755-9A62-8265DD022DCD}"/>
              </a:ext>
            </a:extLst>
          </p:cNvPr>
          <p:cNvCxnSpPr>
            <a:cxnSpLocks/>
          </p:cNvCxnSpPr>
          <p:nvPr/>
        </p:nvCxnSpPr>
        <p:spPr>
          <a:xfrm>
            <a:off x="2899229" y="1092655"/>
            <a:ext cx="0" cy="109220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6495E744-4744-4B1D-9B13-DB4476074AA6}"/>
              </a:ext>
            </a:extLst>
          </p:cNvPr>
          <p:cNvCxnSpPr>
            <a:cxnSpLocks/>
          </p:cNvCxnSpPr>
          <p:nvPr/>
        </p:nvCxnSpPr>
        <p:spPr>
          <a:xfrm>
            <a:off x="1612900" y="1127579"/>
            <a:ext cx="0" cy="109220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sp>
        <p:nvSpPr>
          <p:cNvPr id="12" name="Right Brace 11">
            <a:extLst>
              <a:ext uri="{FF2B5EF4-FFF2-40B4-BE49-F238E27FC236}">
                <a16:creationId xmlns:a16="http://schemas.microsoft.com/office/drawing/2014/main" id="{60F6E0C0-6661-4A89-8974-E1EA2C831D7A}"/>
              </a:ext>
            </a:extLst>
          </p:cNvPr>
          <p:cNvSpPr/>
          <p:nvPr/>
        </p:nvSpPr>
        <p:spPr>
          <a:xfrm rot="16200000">
            <a:off x="4271977" y="1572745"/>
            <a:ext cx="892173" cy="1155727"/>
          </a:xfrm>
          <a:prstGeom prst="rightBrace">
            <a:avLst>
              <a:gd name="adj1" fmla="val 8333"/>
              <a:gd name="adj2" fmla="val 54167"/>
            </a:avLst>
          </a:prstGeom>
          <a:ln w="762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B645F14A-FC65-4E2A-9634-F5C9078300CF}"/>
              </a:ext>
            </a:extLst>
          </p:cNvPr>
          <p:cNvSpPr/>
          <p:nvPr/>
        </p:nvSpPr>
        <p:spPr>
          <a:xfrm rot="16200000">
            <a:off x="4345594" y="1935167"/>
            <a:ext cx="892173" cy="469892"/>
          </a:xfrm>
          <a:prstGeom prst="rightBrace">
            <a:avLst>
              <a:gd name="adj1" fmla="val 8333"/>
              <a:gd name="adj2" fmla="val 54167"/>
            </a:avLst>
          </a:prstGeom>
          <a:ln w="762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77F60873-61E5-4250-84F6-531F30D95684}"/>
              </a:ext>
            </a:extLst>
          </p:cNvPr>
          <p:cNvCxnSpPr>
            <a:cxnSpLocks/>
          </p:cNvCxnSpPr>
          <p:nvPr/>
        </p:nvCxnSpPr>
        <p:spPr>
          <a:xfrm>
            <a:off x="4227285" y="974497"/>
            <a:ext cx="0" cy="109220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FC78069A-446D-493D-A753-C0C1A2AC9E2F}"/>
              </a:ext>
            </a:extLst>
          </p:cNvPr>
          <p:cNvCxnSpPr>
            <a:cxnSpLocks/>
          </p:cNvCxnSpPr>
          <p:nvPr/>
        </p:nvCxnSpPr>
        <p:spPr>
          <a:xfrm>
            <a:off x="2159001" y="1158421"/>
            <a:ext cx="0" cy="109220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pic>
        <p:nvPicPr>
          <p:cNvPr id="19" name="Picture 18">
            <a:extLst>
              <a:ext uri="{FF2B5EF4-FFF2-40B4-BE49-F238E27FC236}">
                <a16:creationId xmlns:a16="http://schemas.microsoft.com/office/drawing/2014/main" id="{EA7887C5-F8CC-482C-AE18-092A6F9C52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62248" y="136525"/>
            <a:ext cx="773543" cy="772466"/>
          </a:xfrm>
          <a:prstGeom prst="rect">
            <a:avLst/>
          </a:prstGeom>
        </p:spPr>
      </p:pic>
    </p:spTree>
    <p:extLst>
      <p:ext uri="{BB962C8B-B14F-4D97-AF65-F5344CB8AC3E}">
        <p14:creationId xmlns:p14="http://schemas.microsoft.com/office/powerpoint/2010/main" val="401845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2" presetClass="entr" presetSubtype="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500" fill="hold"/>
                                        <p:tgtEl>
                                          <p:spTgt spid="9"/>
                                        </p:tgtEl>
                                        <p:attrNameLst>
                                          <p:attrName>ppt_x</p:attrName>
                                        </p:attrNameLst>
                                      </p:cBhvr>
                                      <p:tavLst>
                                        <p:tav tm="0">
                                          <p:val>
                                            <p:strVal val="#ppt_x"/>
                                          </p:val>
                                        </p:tav>
                                        <p:tav tm="100000">
                                          <p:val>
                                            <p:strVal val="#ppt_x"/>
                                          </p:val>
                                        </p:tav>
                                      </p:tavLst>
                                    </p:anim>
                                    <p:anim calcmode="lin" valueType="num">
                                      <p:cBhvr additive="base">
                                        <p:cTn id="11" dur="500" fill="hold"/>
                                        <p:tgtEl>
                                          <p:spTgt spid="9"/>
                                        </p:tgtEl>
                                        <p:attrNameLst>
                                          <p:attrName>ppt_y</p:attrName>
                                        </p:attrNameLst>
                                      </p:cBhvr>
                                      <p:tavLst>
                                        <p:tav tm="0">
                                          <p:val>
                                            <p:strVal val="0-#ppt_h/2"/>
                                          </p:val>
                                        </p:tav>
                                        <p:tav tm="100000">
                                          <p:val>
                                            <p:strVal val="#ppt_y"/>
                                          </p:val>
                                        </p:tav>
                                      </p:tavLst>
                                    </p:anim>
                                  </p:childTnLst>
                                </p:cTn>
                              </p:par>
                              <p:par>
                                <p:cTn id="12" presetID="2" presetClass="entr" presetSubtype="1"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par>
                                <p:cTn id="21" presetID="2" presetClass="exit" presetSubtype="4" fill="hold" nodeType="withEffect">
                                  <p:stCondLst>
                                    <p:cond delay="0"/>
                                  </p:stCondLst>
                                  <p:childTnLst>
                                    <p:anim calcmode="lin" valueType="num">
                                      <p:cBhvr additive="base">
                                        <p:cTn id="22" dur="500"/>
                                        <p:tgtEl>
                                          <p:spTgt spid="9"/>
                                        </p:tgtEl>
                                        <p:attrNameLst>
                                          <p:attrName>ppt_x</p:attrName>
                                        </p:attrNameLst>
                                      </p:cBhvr>
                                      <p:tavLst>
                                        <p:tav tm="0">
                                          <p:val>
                                            <p:strVal val="ppt_x"/>
                                          </p:val>
                                        </p:tav>
                                        <p:tav tm="100000">
                                          <p:val>
                                            <p:strVal val="ppt_x"/>
                                          </p:val>
                                        </p:tav>
                                      </p:tavLst>
                                    </p:anim>
                                    <p:anim calcmode="lin" valueType="num">
                                      <p:cBhvr additive="base">
                                        <p:cTn id="23" dur="500"/>
                                        <p:tgtEl>
                                          <p:spTgt spid="9"/>
                                        </p:tgtEl>
                                        <p:attrNameLst>
                                          <p:attrName>ppt_y</p:attrName>
                                        </p:attrNameLst>
                                      </p:cBhvr>
                                      <p:tavLst>
                                        <p:tav tm="0">
                                          <p:val>
                                            <p:strVal val="ppt_y"/>
                                          </p:val>
                                        </p:tav>
                                        <p:tav tm="100000">
                                          <p:val>
                                            <p:strVal val="1+ppt_h/2"/>
                                          </p:val>
                                        </p:tav>
                                      </p:tavLst>
                                    </p:anim>
                                    <p:set>
                                      <p:cBhvr>
                                        <p:cTn id="24" dur="1" fill="hold">
                                          <p:stCondLst>
                                            <p:cond delay="499"/>
                                          </p:stCondLst>
                                        </p:cTn>
                                        <p:tgtEl>
                                          <p:spTgt spid="9"/>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11"/>
                                        </p:tgtEl>
                                        <p:attrNameLst>
                                          <p:attrName>ppt_x</p:attrName>
                                        </p:attrNameLst>
                                      </p:cBhvr>
                                      <p:tavLst>
                                        <p:tav tm="0">
                                          <p:val>
                                            <p:strVal val="ppt_x"/>
                                          </p:val>
                                        </p:tav>
                                        <p:tav tm="100000">
                                          <p:val>
                                            <p:strVal val="ppt_x"/>
                                          </p:val>
                                        </p:tav>
                                      </p:tavLst>
                                    </p:anim>
                                    <p:anim calcmode="lin" valueType="num">
                                      <p:cBhvr additive="base">
                                        <p:cTn id="27" dur="500"/>
                                        <p:tgtEl>
                                          <p:spTgt spid="11"/>
                                        </p:tgtEl>
                                        <p:attrNameLst>
                                          <p:attrName>ppt_y</p:attrName>
                                        </p:attrNameLst>
                                      </p:cBhvr>
                                      <p:tavLst>
                                        <p:tav tm="0">
                                          <p:val>
                                            <p:strVal val="ppt_y"/>
                                          </p:val>
                                        </p:tav>
                                        <p:tav tm="100000">
                                          <p:val>
                                            <p:strVal val="1+ppt_h/2"/>
                                          </p:val>
                                        </p:tav>
                                      </p:tavLst>
                                    </p:anim>
                                    <p:set>
                                      <p:cBhvr>
                                        <p:cTn id="28" dur="1" fill="hold">
                                          <p:stCondLst>
                                            <p:cond delay="499"/>
                                          </p:stCondLst>
                                        </p:cTn>
                                        <p:tgtEl>
                                          <p:spTgt spid="11"/>
                                        </p:tgtEl>
                                        <p:attrNameLst>
                                          <p:attrName>style.visibility</p:attrName>
                                        </p:attrNameLst>
                                      </p:cBhvr>
                                      <p:to>
                                        <p:strVal val="hidden"/>
                                      </p:to>
                                    </p:set>
                                  </p:childTnLst>
                                </p:cTn>
                              </p:par>
                              <p:par>
                                <p:cTn id="29" presetID="2" presetClass="entr" presetSubtype="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fade">
                                      <p:cBhvr>
                                        <p:cTn id="37" dur="500"/>
                                        <p:tgtEl>
                                          <p:spTgt spid="5">
                                            <p:txEl>
                                              <p:pRg st="2" end="2"/>
                                            </p:txEl>
                                          </p:spTgt>
                                        </p:tgtEl>
                                      </p:cBhvr>
                                    </p:animEffect>
                                  </p:childTnLst>
                                </p:cTn>
                              </p:par>
                              <p:par>
                                <p:cTn id="38" presetID="2" presetClass="exit" presetSubtype="4" fill="hold" grpId="1" nodeType="withEffect">
                                  <p:stCondLst>
                                    <p:cond delay="0"/>
                                  </p:stCondLst>
                                  <p:childTnLst>
                                    <p:anim calcmode="lin" valueType="num">
                                      <p:cBhvr additive="base">
                                        <p:cTn id="39" dur="500"/>
                                        <p:tgtEl>
                                          <p:spTgt spid="12"/>
                                        </p:tgtEl>
                                        <p:attrNameLst>
                                          <p:attrName>ppt_x</p:attrName>
                                        </p:attrNameLst>
                                      </p:cBhvr>
                                      <p:tavLst>
                                        <p:tav tm="0">
                                          <p:val>
                                            <p:strVal val="ppt_x"/>
                                          </p:val>
                                        </p:tav>
                                        <p:tav tm="100000">
                                          <p:val>
                                            <p:strVal val="ppt_x"/>
                                          </p:val>
                                        </p:tav>
                                      </p:tavLst>
                                    </p:anim>
                                    <p:anim calcmode="lin" valueType="num">
                                      <p:cBhvr additive="base">
                                        <p:cTn id="40" dur="500"/>
                                        <p:tgtEl>
                                          <p:spTgt spid="12"/>
                                        </p:tgtEl>
                                        <p:attrNameLst>
                                          <p:attrName>ppt_y</p:attrName>
                                        </p:attrNameLst>
                                      </p:cBhvr>
                                      <p:tavLst>
                                        <p:tav tm="0">
                                          <p:val>
                                            <p:strVal val="ppt_y"/>
                                          </p:val>
                                        </p:tav>
                                        <p:tav tm="100000">
                                          <p:val>
                                            <p:strVal val="1+ppt_h/2"/>
                                          </p:val>
                                        </p:tav>
                                      </p:tavLst>
                                    </p:anim>
                                    <p:set>
                                      <p:cBhvr>
                                        <p:cTn id="41" dur="1" fill="hold">
                                          <p:stCondLst>
                                            <p:cond delay="499"/>
                                          </p:stCondLst>
                                        </p:cTn>
                                        <p:tgtEl>
                                          <p:spTgt spid="12"/>
                                        </p:tgtEl>
                                        <p:attrNameLst>
                                          <p:attrName>style.visibility</p:attrName>
                                        </p:attrNameLst>
                                      </p:cBhvr>
                                      <p:to>
                                        <p:strVal val="hidden"/>
                                      </p:to>
                                    </p:set>
                                  </p:childTnLst>
                                </p:cTn>
                              </p:par>
                              <p:par>
                                <p:cTn id="42" presetID="2" presetClass="entr" presetSubtype="1"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xEl>
                                              <p:pRg st="3" end="3"/>
                                            </p:txEl>
                                          </p:spTgt>
                                        </p:tgtEl>
                                        <p:attrNameLst>
                                          <p:attrName>style.visibility</p:attrName>
                                        </p:attrNameLst>
                                      </p:cBhvr>
                                      <p:to>
                                        <p:strVal val="visible"/>
                                      </p:to>
                                    </p:set>
                                    <p:animEffect transition="in" filter="fade">
                                      <p:cBhvr>
                                        <p:cTn id="50" dur="500"/>
                                        <p:tgtEl>
                                          <p:spTgt spid="5">
                                            <p:txEl>
                                              <p:pRg st="3" end="3"/>
                                            </p:txEl>
                                          </p:spTgt>
                                        </p:tgtEl>
                                      </p:cBhvr>
                                    </p:animEffect>
                                  </p:childTnLst>
                                </p:cTn>
                              </p:par>
                              <p:par>
                                <p:cTn id="51" presetID="2" presetClass="exit" presetSubtype="4" fill="hold" grpId="1" nodeType="withEffect">
                                  <p:stCondLst>
                                    <p:cond delay="0"/>
                                  </p:stCondLst>
                                  <p:childTnLst>
                                    <p:anim calcmode="lin" valueType="num">
                                      <p:cBhvr additive="base">
                                        <p:cTn id="52" dur="500"/>
                                        <p:tgtEl>
                                          <p:spTgt spid="13"/>
                                        </p:tgtEl>
                                        <p:attrNameLst>
                                          <p:attrName>ppt_x</p:attrName>
                                        </p:attrNameLst>
                                      </p:cBhvr>
                                      <p:tavLst>
                                        <p:tav tm="0">
                                          <p:val>
                                            <p:strVal val="ppt_x"/>
                                          </p:val>
                                        </p:tav>
                                        <p:tav tm="100000">
                                          <p:val>
                                            <p:strVal val="ppt_x"/>
                                          </p:val>
                                        </p:tav>
                                      </p:tavLst>
                                    </p:anim>
                                    <p:anim calcmode="lin" valueType="num">
                                      <p:cBhvr additive="base">
                                        <p:cTn id="53" dur="500"/>
                                        <p:tgtEl>
                                          <p:spTgt spid="13"/>
                                        </p:tgtEl>
                                        <p:attrNameLst>
                                          <p:attrName>ppt_y</p:attrName>
                                        </p:attrNameLst>
                                      </p:cBhvr>
                                      <p:tavLst>
                                        <p:tav tm="0">
                                          <p:val>
                                            <p:strVal val="ppt_y"/>
                                          </p:val>
                                        </p:tav>
                                        <p:tav tm="100000">
                                          <p:val>
                                            <p:strVal val="1+ppt_h/2"/>
                                          </p:val>
                                        </p:tav>
                                      </p:tavLst>
                                    </p:anim>
                                    <p:set>
                                      <p:cBhvr>
                                        <p:cTn id="54" dur="1" fill="hold">
                                          <p:stCondLst>
                                            <p:cond delay="499"/>
                                          </p:stCondLst>
                                        </p:cTn>
                                        <p:tgtEl>
                                          <p:spTgt spid="13"/>
                                        </p:tgtEl>
                                        <p:attrNameLst>
                                          <p:attrName>style.visibility</p:attrName>
                                        </p:attrNameLst>
                                      </p:cBhvr>
                                      <p:to>
                                        <p:strVal val="hidden"/>
                                      </p:to>
                                    </p:set>
                                  </p:childTnLst>
                                </p:cTn>
                              </p:par>
                              <p:par>
                                <p:cTn id="55" presetID="2" presetClass="entr" presetSubtype="1"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animEffect transition="in" filter="fade">
                                      <p:cBhvr>
                                        <p:cTn id="63" dur="500"/>
                                        <p:tgtEl>
                                          <p:spTgt spid="5">
                                            <p:txEl>
                                              <p:pRg st="4" end="4"/>
                                            </p:txEl>
                                          </p:spTgt>
                                        </p:tgtEl>
                                      </p:cBhvr>
                                    </p:animEffect>
                                  </p:childTnLst>
                                </p:cTn>
                              </p:par>
                              <p:par>
                                <p:cTn id="64" presetID="2" presetClass="exit" presetSubtype="4" fill="hold" nodeType="withEffect">
                                  <p:stCondLst>
                                    <p:cond delay="0"/>
                                  </p:stCondLst>
                                  <p:childTnLst>
                                    <p:anim calcmode="lin" valueType="num">
                                      <p:cBhvr additive="base">
                                        <p:cTn id="65" dur="500"/>
                                        <p:tgtEl>
                                          <p:spTgt spid="14"/>
                                        </p:tgtEl>
                                        <p:attrNameLst>
                                          <p:attrName>ppt_x</p:attrName>
                                        </p:attrNameLst>
                                      </p:cBhvr>
                                      <p:tavLst>
                                        <p:tav tm="0">
                                          <p:val>
                                            <p:strVal val="ppt_x"/>
                                          </p:val>
                                        </p:tav>
                                        <p:tav tm="100000">
                                          <p:val>
                                            <p:strVal val="ppt_x"/>
                                          </p:val>
                                        </p:tav>
                                      </p:tavLst>
                                    </p:anim>
                                    <p:anim calcmode="lin" valueType="num">
                                      <p:cBhvr additive="base">
                                        <p:cTn id="66" dur="500"/>
                                        <p:tgtEl>
                                          <p:spTgt spid="14"/>
                                        </p:tgtEl>
                                        <p:attrNameLst>
                                          <p:attrName>ppt_y</p:attrName>
                                        </p:attrNameLst>
                                      </p:cBhvr>
                                      <p:tavLst>
                                        <p:tav tm="0">
                                          <p:val>
                                            <p:strVal val="ppt_y"/>
                                          </p:val>
                                        </p:tav>
                                        <p:tav tm="100000">
                                          <p:val>
                                            <p:strVal val="1+ppt_h/2"/>
                                          </p:val>
                                        </p:tav>
                                      </p:tavLst>
                                    </p:anim>
                                    <p:set>
                                      <p:cBhvr>
                                        <p:cTn id="67" dur="1" fill="hold">
                                          <p:stCondLst>
                                            <p:cond delay="499"/>
                                          </p:stCondLst>
                                        </p:cTn>
                                        <p:tgtEl>
                                          <p:spTgt spid="14"/>
                                        </p:tgtEl>
                                        <p:attrNameLst>
                                          <p:attrName>style.visibility</p:attrName>
                                        </p:attrNameLst>
                                      </p:cBhvr>
                                      <p:to>
                                        <p:strVal val="hidden"/>
                                      </p:to>
                                    </p:set>
                                  </p:childTnLst>
                                </p:cTn>
                              </p:par>
                              <p:par>
                                <p:cTn id="68" presetID="2" presetClass="entr" presetSubtype="1" fill="hold"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additive="base">
                                        <p:cTn id="70" dur="500" fill="hold"/>
                                        <p:tgtEl>
                                          <p:spTgt spid="15"/>
                                        </p:tgtEl>
                                        <p:attrNameLst>
                                          <p:attrName>ppt_x</p:attrName>
                                        </p:attrNameLst>
                                      </p:cBhvr>
                                      <p:tavLst>
                                        <p:tav tm="0">
                                          <p:val>
                                            <p:strVal val="#ppt_x"/>
                                          </p:val>
                                        </p:tav>
                                        <p:tav tm="100000">
                                          <p:val>
                                            <p:strVal val="#ppt_x"/>
                                          </p:val>
                                        </p:tav>
                                      </p:tavLst>
                                    </p:anim>
                                    <p:anim calcmode="lin" valueType="num">
                                      <p:cBhvr additive="base">
                                        <p:cTn id="71"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2" grpId="0" animBg="1"/>
      <p:bldP spid="12" grpId="1" animBg="1"/>
      <p:bldP spid="13" grpId="0" animBg="1"/>
      <p:bldP spid="1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E4CF-0A8B-4F94-8423-049D0ED5F16E}"/>
              </a:ext>
            </a:extLst>
          </p:cNvPr>
          <p:cNvSpPr>
            <a:spLocks noGrp="1"/>
          </p:cNvSpPr>
          <p:nvPr>
            <p:ph type="title"/>
          </p:nvPr>
        </p:nvSpPr>
        <p:spPr/>
        <p:txBody>
          <a:bodyPr/>
          <a:lstStyle/>
          <a:p>
            <a:r>
              <a:rPr lang="en-US" dirty="0">
                <a:latin typeface="Calibri" panose="020F0502020204030204" pitchFamily="34" charset="0"/>
                <a:ea typeface="MS Mincho"/>
                <a:cs typeface="Arial" panose="020B0604020202020204" pitchFamily="34" charset="0"/>
              </a:rPr>
              <a:t>Scoring Summary</a:t>
            </a:r>
            <a:endParaRPr lang="en-US" dirty="0"/>
          </a:p>
        </p:txBody>
      </p:sp>
      <p:sp>
        <p:nvSpPr>
          <p:cNvPr id="3" name="Content Placeholder 2">
            <a:extLst>
              <a:ext uri="{FF2B5EF4-FFF2-40B4-BE49-F238E27FC236}">
                <a16:creationId xmlns:a16="http://schemas.microsoft.com/office/drawing/2014/main" id="{906D93BB-8F44-4308-8BFC-2085925ABA47}"/>
              </a:ext>
            </a:extLst>
          </p:cNvPr>
          <p:cNvSpPr>
            <a:spLocks noGrp="1"/>
          </p:cNvSpPr>
          <p:nvPr>
            <p:ph idx="1"/>
          </p:nvPr>
        </p:nvSpPr>
        <p:spPr>
          <a:xfrm>
            <a:off x="1230086" y="1556576"/>
            <a:ext cx="10515600" cy="4539424"/>
          </a:xfrm>
        </p:spPr>
        <p:txBody>
          <a:bodyPr>
            <a:normAutofit fontScale="92500"/>
          </a:bodyPr>
          <a:lstStyle/>
          <a:p>
            <a:r>
              <a:rPr lang="en-US" dirty="0"/>
              <a:t>Whether scores are high or low, the motivators with the </a:t>
            </a:r>
            <a:r>
              <a:rPr lang="en-US" b="1" dirty="0"/>
              <a:t>furthest distance above or below center (50%) </a:t>
            </a:r>
            <a:r>
              <a:rPr lang="en-US" dirty="0"/>
              <a:t>will have the</a:t>
            </a:r>
            <a:r>
              <a:rPr lang="en-US" b="1" dirty="0"/>
              <a:t> highest influence </a:t>
            </a:r>
            <a:r>
              <a:rPr lang="en-US" dirty="0"/>
              <a:t>leading to the greatest impact on the decisions being made. </a:t>
            </a:r>
          </a:p>
          <a:p>
            <a:r>
              <a:rPr lang="en-US" dirty="0"/>
              <a:t>Both low and high scores can have an influence on the choices we make. Average scores (in the mid-range noted by a small box plot) create a </a:t>
            </a:r>
            <a:r>
              <a:rPr lang="en-US" b="1" dirty="0"/>
              <a:t>normal degree</a:t>
            </a:r>
            <a:r>
              <a:rPr lang="en-US" dirty="0"/>
              <a:t> of influence which is typically not noticeable. </a:t>
            </a:r>
          </a:p>
          <a:p>
            <a:r>
              <a:rPr lang="en-US" dirty="0"/>
              <a:t>The very high and very low can be “risk zones” – </a:t>
            </a:r>
            <a:r>
              <a:rPr lang="en-US" b="1" dirty="0"/>
              <a:t>wants become needs</a:t>
            </a:r>
            <a:r>
              <a:rPr lang="en-US" dirty="0"/>
              <a:t>.</a:t>
            </a:r>
          </a:p>
          <a:p>
            <a:r>
              <a:rPr lang="en-US" b="1" dirty="0"/>
              <a:t>Importance</a:t>
            </a:r>
            <a:r>
              <a:rPr lang="en-US" dirty="0"/>
              <a:t> and </a:t>
            </a:r>
            <a:r>
              <a:rPr lang="en-US" b="1" dirty="0"/>
              <a:t>Impact</a:t>
            </a:r>
            <a:r>
              <a:rPr lang="en-US" dirty="0"/>
              <a:t> are both important measurements in Motivators.</a:t>
            </a:r>
          </a:p>
          <a:p>
            <a:endParaRPr lang="en-US" dirty="0"/>
          </a:p>
        </p:txBody>
      </p:sp>
      <p:sp>
        <p:nvSpPr>
          <p:cNvPr id="4" name="Slide Number Placeholder 3">
            <a:extLst>
              <a:ext uri="{FF2B5EF4-FFF2-40B4-BE49-F238E27FC236}">
                <a16:creationId xmlns:a16="http://schemas.microsoft.com/office/drawing/2014/main" id="{546BE92C-F0DD-4553-A463-2C3A8AC47A4E}"/>
              </a:ext>
            </a:extLst>
          </p:cNvPr>
          <p:cNvSpPr>
            <a:spLocks noGrp="1"/>
          </p:cNvSpPr>
          <p:nvPr>
            <p:ph type="sldNum" sz="quarter" idx="10"/>
          </p:nvPr>
        </p:nvSpPr>
        <p:spPr/>
        <p:txBody>
          <a:bodyPr/>
          <a:lstStyle/>
          <a:p>
            <a:fld id="{F7E5495E-82E8-4D88-BE4B-165F6636701C}" type="slidenum">
              <a:rPr lang="en-US" smtClean="0"/>
              <a:t>6</a:t>
            </a:fld>
            <a:endParaRPr lang="en-US"/>
          </a:p>
        </p:txBody>
      </p:sp>
    </p:spTree>
    <p:extLst>
      <p:ext uri="{BB962C8B-B14F-4D97-AF65-F5344CB8AC3E}">
        <p14:creationId xmlns:p14="http://schemas.microsoft.com/office/powerpoint/2010/main" val="258258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2074-22C9-4E75-B1DA-4D6FFA9F4824}"/>
              </a:ext>
            </a:extLst>
          </p:cNvPr>
          <p:cNvSpPr>
            <a:spLocks noGrp="1"/>
          </p:cNvSpPr>
          <p:nvPr>
            <p:ph type="title"/>
          </p:nvPr>
        </p:nvSpPr>
        <p:spPr/>
        <p:txBody>
          <a:bodyPr/>
          <a:lstStyle/>
          <a:p>
            <a:r>
              <a:rPr lang="en-US" dirty="0"/>
              <a:t>Motivational Summary</a:t>
            </a:r>
          </a:p>
        </p:txBody>
      </p:sp>
      <p:sp>
        <p:nvSpPr>
          <p:cNvPr id="3" name="Content Placeholder 2">
            <a:extLst>
              <a:ext uri="{FF2B5EF4-FFF2-40B4-BE49-F238E27FC236}">
                <a16:creationId xmlns:a16="http://schemas.microsoft.com/office/drawing/2014/main" id="{0B616139-0DC5-48DC-8827-E35E3C71ECB3}"/>
              </a:ext>
            </a:extLst>
          </p:cNvPr>
          <p:cNvSpPr>
            <a:spLocks noGrp="1"/>
          </p:cNvSpPr>
          <p:nvPr>
            <p:ph idx="1"/>
          </p:nvPr>
        </p:nvSpPr>
        <p:spPr>
          <a:xfrm>
            <a:off x="838200" y="1533525"/>
            <a:ext cx="10515600" cy="4351338"/>
          </a:xfrm>
        </p:spPr>
        <p:txBody>
          <a:bodyPr/>
          <a:lstStyle/>
          <a:p>
            <a:pPr marL="0" indent="0">
              <a:buNone/>
            </a:pPr>
            <a:r>
              <a:rPr lang="en-US" dirty="0"/>
              <a:t>Insights for each motivator - an overview graph and user specific statement sets for further development.</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E6DA211-411A-4AC7-B197-780E631688DC}"/>
              </a:ext>
            </a:extLst>
          </p:cNvPr>
          <p:cNvSpPr>
            <a:spLocks noGrp="1"/>
          </p:cNvSpPr>
          <p:nvPr>
            <p:ph type="sldNum" sz="quarter" idx="10"/>
          </p:nvPr>
        </p:nvSpPr>
        <p:spPr/>
        <p:txBody>
          <a:bodyPr/>
          <a:lstStyle/>
          <a:p>
            <a:fld id="{F7E5495E-82E8-4D88-BE4B-165F6636701C}" type="slidenum">
              <a:rPr lang="en-US" smtClean="0"/>
              <a:t>7</a:t>
            </a:fld>
            <a:endParaRPr lang="en-US"/>
          </a:p>
        </p:txBody>
      </p:sp>
      <p:pic>
        <p:nvPicPr>
          <p:cNvPr id="5" name="Picture 4">
            <a:extLst>
              <a:ext uri="{FF2B5EF4-FFF2-40B4-BE49-F238E27FC236}">
                <a16:creationId xmlns:a16="http://schemas.microsoft.com/office/drawing/2014/main" id="{F457EC6A-DF59-49CA-BCDD-27E6A81B12B5}"/>
              </a:ext>
            </a:extLst>
          </p:cNvPr>
          <p:cNvPicPr>
            <a:picLocks noChangeAspect="1"/>
          </p:cNvPicPr>
          <p:nvPr/>
        </p:nvPicPr>
        <p:blipFill>
          <a:blip r:embed="rId2"/>
          <a:stretch>
            <a:fillRect/>
          </a:stretch>
        </p:blipFill>
        <p:spPr>
          <a:xfrm>
            <a:off x="2317163" y="2501900"/>
            <a:ext cx="5512085" cy="37344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68740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2639C7-E715-4EC6-A85F-558987D1F18F}"/>
              </a:ext>
            </a:extLst>
          </p:cNvPr>
          <p:cNvSpPr>
            <a:spLocks noGrp="1"/>
          </p:cNvSpPr>
          <p:nvPr>
            <p:ph type="sldNum" sz="quarter" idx="10"/>
          </p:nvPr>
        </p:nvSpPr>
        <p:spPr/>
        <p:txBody>
          <a:bodyPr/>
          <a:lstStyle/>
          <a:p>
            <a:fld id="{F7E5495E-82E8-4D88-BE4B-165F6636701C}" type="slidenum">
              <a:rPr lang="en-US" smtClean="0"/>
              <a:t>8</a:t>
            </a:fld>
            <a:endParaRPr lang="en-US"/>
          </a:p>
        </p:txBody>
      </p:sp>
      <p:sp>
        <p:nvSpPr>
          <p:cNvPr id="3" name="Title 2">
            <a:extLst>
              <a:ext uri="{FF2B5EF4-FFF2-40B4-BE49-F238E27FC236}">
                <a16:creationId xmlns:a16="http://schemas.microsoft.com/office/drawing/2014/main" id="{368EC63E-1D94-4102-A86D-34645E82FFC7}"/>
              </a:ext>
            </a:extLst>
          </p:cNvPr>
          <p:cNvSpPr>
            <a:spLocks noGrp="1"/>
          </p:cNvSpPr>
          <p:nvPr>
            <p:ph type="title"/>
          </p:nvPr>
        </p:nvSpPr>
        <p:spPr>
          <a:xfrm>
            <a:off x="236134" y="1752421"/>
            <a:ext cx="5336569" cy="3022779"/>
          </a:xfrm>
        </p:spPr>
        <p:txBody>
          <a:bodyPr>
            <a:normAutofit/>
          </a:bodyPr>
          <a:lstStyle/>
          <a:p>
            <a:r>
              <a:rPr lang="en-US" dirty="0"/>
              <a:t>Individual Motivators Pages	</a:t>
            </a:r>
          </a:p>
        </p:txBody>
      </p:sp>
      <p:pic>
        <p:nvPicPr>
          <p:cNvPr id="7" name="Content Placeholder 6">
            <a:extLst>
              <a:ext uri="{FF2B5EF4-FFF2-40B4-BE49-F238E27FC236}">
                <a16:creationId xmlns:a16="http://schemas.microsoft.com/office/drawing/2014/main" id="{CEC4B1C4-2E33-4DC7-B929-8E2E03396BED}"/>
              </a:ext>
            </a:extLst>
          </p:cNvPr>
          <p:cNvPicPr>
            <a:picLocks noGrp="1" noChangeAspect="1"/>
          </p:cNvPicPr>
          <p:nvPr>
            <p:ph idx="11"/>
          </p:nvPr>
        </p:nvPicPr>
        <p:blipFill>
          <a:blip r:embed="rId2"/>
          <a:stretch>
            <a:fillRect/>
          </a:stretch>
        </p:blipFill>
        <p:spPr>
          <a:xfrm>
            <a:off x="6844519" y="1373187"/>
            <a:ext cx="5111347" cy="49831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3266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2639C7-E715-4EC6-A85F-558987D1F18F}"/>
              </a:ext>
            </a:extLst>
          </p:cNvPr>
          <p:cNvSpPr>
            <a:spLocks noGrp="1"/>
          </p:cNvSpPr>
          <p:nvPr>
            <p:ph type="sldNum" sz="quarter" idx="10"/>
          </p:nvPr>
        </p:nvSpPr>
        <p:spPr/>
        <p:txBody>
          <a:bodyPr/>
          <a:lstStyle/>
          <a:p>
            <a:fld id="{F7E5495E-82E8-4D88-BE4B-165F6636701C}" type="slidenum">
              <a:rPr lang="en-US" smtClean="0"/>
              <a:t>9</a:t>
            </a:fld>
            <a:endParaRPr lang="en-US"/>
          </a:p>
        </p:txBody>
      </p:sp>
      <p:sp>
        <p:nvSpPr>
          <p:cNvPr id="3" name="Title 2">
            <a:extLst>
              <a:ext uri="{FF2B5EF4-FFF2-40B4-BE49-F238E27FC236}">
                <a16:creationId xmlns:a16="http://schemas.microsoft.com/office/drawing/2014/main" id="{368EC63E-1D94-4102-A86D-34645E82FFC7}"/>
              </a:ext>
            </a:extLst>
          </p:cNvPr>
          <p:cNvSpPr>
            <a:spLocks noGrp="1"/>
          </p:cNvSpPr>
          <p:nvPr>
            <p:ph type="title"/>
          </p:nvPr>
        </p:nvSpPr>
        <p:spPr>
          <a:xfrm>
            <a:off x="236134" y="1752421"/>
            <a:ext cx="5336569" cy="3022779"/>
          </a:xfrm>
        </p:spPr>
        <p:txBody>
          <a:bodyPr>
            <a:normAutofit/>
          </a:bodyPr>
          <a:lstStyle/>
          <a:p>
            <a:r>
              <a:rPr lang="en-US" dirty="0"/>
              <a:t>Adaptability	</a:t>
            </a:r>
          </a:p>
        </p:txBody>
      </p:sp>
      <p:pic>
        <p:nvPicPr>
          <p:cNvPr id="5" name="Content Placeholder 5">
            <a:extLst>
              <a:ext uri="{FF2B5EF4-FFF2-40B4-BE49-F238E27FC236}">
                <a16:creationId xmlns:a16="http://schemas.microsoft.com/office/drawing/2014/main" id="{77B85181-A025-4A44-AB11-370E6AFA12D6}"/>
              </a:ext>
            </a:extLst>
          </p:cNvPr>
          <p:cNvPicPr>
            <a:picLocks noChangeAspect="1"/>
          </p:cNvPicPr>
          <p:nvPr/>
        </p:nvPicPr>
        <p:blipFill rotWithShape="1">
          <a:blip r:embed="rId2"/>
          <a:srcRect t="1229"/>
          <a:stretch/>
        </p:blipFill>
        <p:spPr>
          <a:xfrm>
            <a:off x="6626082" y="1536521"/>
            <a:ext cx="5444084" cy="4603929"/>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7054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B7F6A-3430-413A-BA70-BC35687090E4}"/>
              </a:ext>
            </a:extLst>
          </p:cNvPr>
          <p:cNvSpPr>
            <a:spLocks noGrp="1"/>
          </p:cNvSpPr>
          <p:nvPr>
            <p:ph type="title"/>
          </p:nvPr>
        </p:nvSpPr>
        <p:spPr/>
        <p:txBody>
          <a:bodyPr/>
          <a:lstStyle/>
          <a:p>
            <a:r>
              <a:rPr lang="en-US" dirty="0"/>
              <a:t>Tiny Steps, Big Results</a:t>
            </a:r>
          </a:p>
        </p:txBody>
      </p:sp>
      <p:sp>
        <p:nvSpPr>
          <p:cNvPr id="3" name="Content Placeholder 2">
            <a:extLst>
              <a:ext uri="{FF2B5EF4-FFF2-40B4-BE49-F238E27FC236}">
                <a16:creationId xmlns:a16="http://schemas.microsoft.com/office/drawing/2014/main" id="{91961205-40B9-4D6B-BE6D-27D5384B4F6D}"/>
              </a:ext>
            </a:extLst>
          </p:cNvPr>
          <p:cNvSpPr>
            <a:spLocks noGrp="1"/>
          </p:cNvSpPr>
          <p:nvPr>
            <p:ph idx="1"/>
          </p:nvPr>
        </p:nvSpPr>
        <p:spPr>
          <a:xfrm>
            <a:off x="838200" y="1554691"/>
            <a:ext cx="10515600" cy="650875"/>
          </a:xfrm>
        </p:spPr>
        <p:txBody>
          <a:bodyPr>
            <a:normAutofit/>
          </a:bodyPr>
          <a:lstStyle/>
          <a:p>
            <a:pPr marL="0" indent="0">
              <a:buNone/>
            </a:pPr>
            <a:r>
              <a:rPr lang="en-US" b="1" dirty="0"/>
              <a:t>Reflection and Action: </a:t>
            </a:r>
          </a:p>
        </p:txBody>
      </p:sp>
      <p:sp>
        <p:nvSpPr>
          <p:cNvPr id="4" name="Slide Number Placeholder 3">
            <a:extLst>
              <a:ext uri="{FF2B5EF4-FFF2-40B4-BE49-F238E27FC236}">
                <a16:creationId xmlns:a16="http://schemas.microsoft.com/office/drawing/2014/main" id="{1100B74D-A837-46DB-AEA8-B6B534E0F383}"/>
              </a:ext>
            </a:extLst>
          </p:cNvPr>
          <p:cNvSpPr>
            <a:spLocks noGrp="1"/>
          </p:cNvSpPr>
          <p:nvPr>
            <p:ph type="sldNum" sz="quarter" idx="10"/>
          </p:nvPr>
        </p:nvSpPr>
        <p:spPr/>
        <p:txBody>
          <a:bodyPr/>
          <a:lstStyle/>
          <a:p>
            <a:fld id="{F7E5495E-82E8-4D88-BE4B-165F6636701C}" type="slidenum">
              <a:rPr lang="en-US" smtClean="0"/>
              <a:t>10</a:t>
            </a:fld>
            <a:endParaRPr lang="en-US"/>
          </a:p>
        </p:txBody>
      </p:sp>
      <p:sp>
        <p:nvSpPr>
          <p:cNvPr id="7" name="Arrow: Right 6">
            <a:extLst>
              <a:ext uri="{FF2B5EF4-FFF2-40B4-BE49-F238E27FC236}">
                <a16:creationId xmlns:a16="http://schemas.microsoft.com/office/drawing/2014/main" id="{F449EFD8-F5B2-4F24-BB84-DD6616305BF8}"/>
              </a:ext>
            </a:extLst>
          </p:cNvPr>
          <p:cNvSpPr/>
          <p:nvPr/>
        </p:nvSpPr>
        <p:spPr>
          <a:xfrm>
            <a:off x="838200" y="1439333"/>
            <a:ext cx="11027229" cy="5418667"/>
          </a:xfrm>
          <a:prstGeom prst="rightArrow">
            <a:avLst/>
          </a:prstGeom>
          <a:solidFill>
            <a:srgbClr val="1F225E"/>
          </a:soli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8" name="Freeform: Shape 7">
            <a:extLst>
              <a:ext uri="{FF2B5EF4-FFF2-40B4-BE49-F238E27FC236}">
                <a16:creationId xmlns:a16="http://schemas.microsoft.com/office/drawing/2014/main" id="{D718327C-6CAD-48AB-B11E-4B6AB2E6E5C5}"/>
              </a:ext>
            </a:extLst>
          </p:cNvPr>
          <p:cNvSpPr/>
          <p:nvPr/>
        </p:nvSpPr>
        <p:spPr>
          <a:xfrm>
            <a:off x="1093514" y="3064933"/>
            <a:ext cx="1572658" cy="2167466"/>
          </a:xfrm>
          <a:custGeom>
            <a:avLst/>
            <a:gdLst>
              <a:gd name="connsiteX0" fmla="*/ 0 w 1572658"/>
              <a:gd name="connsiteY0" fmla="*/ 262115 h 2167466"/>
              <a:gd name="connsiteX1" fmla="*/ 262115 w 1572658"/>
              <a:gd name="connsiteY1" fmla="*/ 0 h 2167466"/>
              <a:gd name="connsiteX2" fmla="*/ 1310543 w 1572658"/>
              <a:gd name="connsiteY2" fmla="*/ 0 h 2167466"/>
              <a:gd name="connsiteX3" fmla="*/ 1572658 w 1572658"/>
              <a:gd name="connsiteY3" fmla="*/ 262115 h 2167466"/>
              <a:gd name="connsiteX4" fmla="*/ 1572658 w 1572658"/>
              <a:gd name="connsiteY4" fmla="*/ 1905351 h 2167466"/>
              <a:gd name="connsiteX5" fmla="*/ 1310543 w 1572658"/>
              <a:gd name="connsiteY5" fmla="*/ 2167466 h 2167466"/>
              <a:gd name="connsiteX6" fmla="*/ 262115 w 1572658"/>
              <a:gd name="connsiteY6" fmla="*/ 2167466 h 2167466"/>
              <a:gd name="connsiteX7" fmla="*/ 0 w 1572658"/>
              <a:gd name="connsiteY7" fmla="*/ 1905351 h 2167466"/>
              <a:gd name="connsiteX8" fmla="*/ 0 w 1572658"/>
              <a:gd name="connsiteY8" fmla="*/ 262115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2658" h="2167466">
                <a:moveTo>
                  <a:pt x="0" y="262115"/>
                </a:moveTo>
                <a:cubicBezTo>
                  <a:pt x="0" y="117353"/>
                  <a:pt x="117353" y="0"/>
                  <a:pt x="262115" y="0"/>
                </a:cubicBezTo>
                <a:lnTo>
                  <a:pt x="1310543" y="0"/>
                </a:lnTo>
                <a:cubicBezTo>
                  <a:pt x="1455305" y="0"/>
                  <a:pt x="1572658" y="117353"/>
                  <a:pt x="1572658" y="262115"/>
                </a:cubicBezTo>
                <a:lnTo>
                  <a:pt x="1572658" y="1905351"/>
                </a:lnTo>
                <a:cubicBezTo>
                  <a:pt x="1572658" y="2050113"/>
                  <a:pt x="1455305" y="2167466"/>
                  <a:pt x="1310543" y="2167466"/>
                </a:cubicBezTo>
                <a:lnTo>
                  <a:pt x="262115" y="2167466"/>
                </a:lnTo>
                <a:cubicBezTo>
                  <a:pt x="117353" y="2167466"/>
                  <a:pt x="0" y="2050113"/>
                  <a:pt x="0" y="1905351"/>
                </a:cubicBezTo>
                <a:lnTo>
                  <a:pt x="0" y="262115"/>
                </a:lnTo>
                <a:close/>
              </a:path>
            </a:pathLst>
          </a:custGeom>
          <a:solidFill>
            <a:srgbClr val="FCCB0F"/>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52971" tIns="152971" rIns="152971" bIns="152971"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What works? What does not work? </a:t>
            </a:r>
          </a:p>
        </p:txBody>
      </p:sp>
      <p:sp>
        <p:nvSpPr>
          <p:cNvPr id="9" name="Freeform: Shape 8">
            <a:extLst>
              <a:ext uri="{FF2B5EF4-FFF2-40B4-BE49-F238E27FC236}">
                <a16:creationId xmlns:a16="http://schemas.microsoft.com/office/drawing/2014/main" id="{406F51BB-B473-41EB-A523-EF93A609BDF1}"/>
              </a:ext>
            </a:extLst>
          </p:cNvPr>
          <p:cNvSpPr/>
          <p:nvPr/>
        </p:nvSpPr>
        <p:spPr>
          <a:xfrm>
            <a:off x="2928282" y="3064933"/>
            <a:ext cx="1867673" cy="2167466"/>
          </a:xfrm>
          <a:custGeom>
            <a:avLst/>
            <a:gdLst>
              <a:gd name="connsiteX0" fmla="*/ 0 w 1867673"/>
              <a:gd name="connsiteY0" fmla="*/ 311285 h 2167466"/>
              <a:gd name="connsiteX1" fmla="*/ 311285 w 1867673"/>
              <a:gd name="connsiteY1" fmla="*/ 0 h 2167466"/>
              <a:gd name="connsiteX2" fmla="*/ 1556388 w 1867673"/>
              <a:gd name="connsiteY2" fmla="*/ 0 h 2167466"/>
              <a:gd name="connsiteX3" fmla="*/ 1867673 w 1867673"/>
              <a:gd name="connsiteY3" fmla="*/ 311285 h 2167466"/>
              <a:gd name="connsiteX4" fmla="*/ 1867673 w 1867673"/>
              <a:gd name="connsiteY4" fmla="*/ 1856181 h 2167466"/>
              <a:gd name="connsiteX5" fmla="*/ 1556388 w 1867673"/>
              <a:gd name="connsiteY5" fmla="*/ 2167466 h 2167466"/>
              <a:gd name="connsiteX6" fmla="*/ 311285 w 1867673"/>
              <a:gd name="connsiteY6" fmla="*/ 2167466 h 2167466"/>
              <a:gd name="connsiteX7" fmla="*/ 0 w 1867673"/>
              <a:gd name="connsiteY7" fmla="*/ 1856181 h 2167466"/>
              <a:gd name="connsiteX8" fmla="*/ 0 w 1867673"/>
              <a:gd name="connsiteY8" fmla="*/ 311285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7673" h="2167466">
                <a:moveTo>
                  <a:pt x="0" y="311285"/>
                </a:moveTo>
                <a:cubicBezTo>
                  <a:pt x="0" y="139367"/>
                  <a:pt x="139367" y="0"/>
                  <a:pt x="311285" y="0"/>
                </a:cubicBezTo>
                <a:lnTo>
                  <a:pt x="1556388" y="0"/>
                </a:lnTo>
                <a:cubicBezTo>
                  <a:pt x="1728306" y="0"/>
                  <a:pt x="1867673" y="139367"/>
                  <a:pt x="1867673" y="311285"/>
                </a:cubicBezTo>
                <a:lnTo>
                  <a:pt x="1867673" y="1856181"/>
                </a:lnTo>
                <a:cubicBezTo>
                  <a:pt x="1867673" y="2028099"/>
                  <a:pt x="1728306" y="2167466"/>
                  <a:pt x="1556388" y="2167466"/>
                </a:cubicBezTo>
                <a:lnTo>
                  <a:pt x="311285" y="2167466"/>
                </a:lnTo>
                <a:cubicBezTo>
                  <a:pt x="139367" y="2167466"/>
                  <a:pt x="0" y="2028099"/>
                  <a:pt x="0" y="1856181"/>
                </a:cubicBezTo>
                <a:lnTo>
                  <a:pt x="0" y="311285"/>
                </a:lnTo>
                <a:close/>
              </a:path>
            </a:pathLst>
          </a:custGeom>
          <a:solidFill>
            <a:srgbClr val="FCCB0F"/>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167372" tIns="167372" rIns="167372" bIns="167372"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black"/>
                </a:solidFill>
                <a:latin typeface="Segoe UI"/>
                <a:ea typeface="+mn-ea"/>
                <a:cs typeface="+mn-cs"/>
              </a:rPr>
              <a:t>Where do I excel and what Motivators are engaged? </a:t>
            </a:r>
          </a:p>
        </p:txBody>
      </p:sp>
      <p:sp>
        <p:nvSpPr>
          <p:cNvPr id="10" name="Freeform: Shape 9">
            <a:extLst>
              <a:ext uri="{FF2B5EF4-FFF2-40B4-BE49-F238E27FC236}">
                <a16:creationId xmlns:a16="http://schemas.microsoft.com/office/drawing/2014/main" id="{B0698BF3-F36A-44A8-8313-1C76CDB3BFF3}"/>
              </a:ext>
            </a:extLst>
          </p:cNvPr>
          <p:cNvSpPr/>
          <p:nvPr/>
        </p:nvSpPr>
        <p:spPr>
          <a:xfrm>
            <a:off x="5058065" y="3064933"/>
            <a:ext cx="1764318" cy="2167466"/>
          </a:xfrm>
          <a:custGeom>
            <a:avLst/>
            <a:gdLst>
              <a:gd name="connsiteX0" fmla="*/ 0 w 1764318"/>
              <a:gd name="connsiteY0" fmla="*/ 294059 h 2167466"/>
              <a:gd name="connsiteX1" fmla="*/ 294059 w 1764318"/>
              <a:gd name="connsiteY1" fmla="*/ 0 h 2167466"/>
              <a:gd name="connsiteX2" fmla="*/ 1470259 w 1764318"/>
              <a:gd name="connsiteY2" fmla="*/ 0 h 2167466"/>
              <a:gd name="connsiteX3" fmla="*/ 1764318 w 1764318"/>
              <a:gd name="connsiteY3" fmla="*/ 294059 h 2167466"/>
              <a:gd name="connsiteX4" fmla="*/ 1764318 w 1764318"/>
              <a:gd name="connsiteY4" fmla="*/ 1873407 h 2167466"/>
              <a:gd name="connsiteX5" fmla="*/ 1470259 w 1764318"/>
              <a:gd name="connsiteY5" fmla="*/ 2167466 h 2167466"/>
              <a:gd name="connsiteX6" fmla="*/ 294059 w 1764318"/>
              <a:gd name="connsiteY6" fmla="*/ 2167466 h 2167466"/>
              <a:gd name="connsiteX7" fmla="*/ 0 w 1764318"/>
              <a:gd name="connsiteY7" fmla="*/ 1873407 h 2167466"/>
              <a:gd name="connsiteX8" fmla="*/ 0 w 1764318"/>
              <a:gd name="connsiteY8" fmla="*/ 294059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4318" h="2167466">
                <a:moveTo>
                  <a:pt x="0" y="294059"/>
                </a:moveTo>
                <a:cubicBezTo>
                  <a:pt x="0" y="131655"/>
                  <a:pt x="131655" y="0"/>
                  <a:pt x="294059" y="0"/>
                </a:cubicBezTo>
                <a:lnTo>
                  <a:pt x="1470259" y="0"/>
                </a:lnTo>
                <a:cubicBezTo>
                  <a:pt x="1632663" y="0"/>
                  <a:pt x="1764318" y="131655"/>
                  <a:pt x="1764318" y="294059"/>
                </a:cubicBezTo>
                <a:lnTo>
                  <a:pt x="1764318" y="1873407"/>
                </a:lnTo>
                <a:cubicBezTo>
                  <a:pt x="1764318" y="2035811"/>
                  <a:pt x="1632663" y="2167466"/>
                  <a:pt x="1470259" y="2167466"/>
                </a:cubicBezTo>
                <a:lnTo>
                  <a:pt x="294059" y="2167466"/>
                </a:lnTo>
                <a:cubicBezTo>
                  <a:pt x="131655" y="2167466"/>
                  <a:pt x="0" y="2035811"/>
                  <a:pt x="0" y="1873407"/>
                </a:cubicBezTo>
                <a:lnTo>
                  <a:pt x="0" y="294059"/>
                </a:lnTo>
                <a:close/>
              </a:path>
            </a:pathLst>
          </a:custGeom>
          <a:solidFill>
            <a:srgbClr val="FCCB0F"/>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162327" tIns="162327" rIns="162327" bIns="162327"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black"/>
                </a:solidFill>
                <a:latin typeface="Segoe UI"/>
                <a:ea typeface="+mn-ea"/>
                <a:cs typeface="+mn-cs"/>
              </a:rPr>
              <a:t>What Motivators need attention? </a:t>
            </a:r>
          </a:p>
        </p:txBody>
      </p:sp>
      <p:sp>
        <p:nvSpPr>
          <p:cNvPr id="11" name="Freeform: Shape 10">
            <a:extLst>
              <a:ext uri="{FF2B5EF4-FFF2-40B4-BE49-F238E27FC236}">
                <a16:creationId xmlns:a16="http://schemas.microsoft.com/office/drawing/2014/main" id="{CAA180AE-9547-47DC-8255-BFDB884D984D}"/>
              </a:ext>
            </a:extLst>
          </p:cNvPr>
          <p:cNvSpPr/>
          <p:nvPr/>
        </p:nvSpPr>
        <p:spPr>
          <a:xfrm>
            <a:off x="7084493" y="3064933"/>
            <a:ext cx="1689365" cy="2167466"/>
          </a:xfrm>
          <a:custGeom>
            <a:avLst/>
            <a:gdLst>
              <a:gd name="connsiteX0" fmla="*/ 0 w 1689365"/>
              <a:gd name="connsiteY0" fmla="*/ 281566 h 2167466"/>
              <a:gd name="connsiteX1" fmla="*/ 281566 w 1689365"/>
              <a:gd name="connsiteY1" fmla="*/ 0 h 2167466"/>
              <a:gd name="connsiteX2" fmla="*/ 1407799 w 1689365"/>
              <a:gd name="connsiteY2" fmla="*/ 0 h 2167466"/>
              <a:gd name="connsiteX3" fmla="*/ 1689365 w 1689365"/>
              <a:gd name="connsiteY3" fmla="*/ 281566 h 2167466"/>
              <a:gd name="connsiteX4" fmla="*/ 1689365 w 1689365"/>
              <a:gd name="connsiteY4" fmla="*/ 1885900 h 2167466"/>
              <a:gd name="connsiteX5" fmla="*/ 1407799 w 1689365"/>
              <a:gd name="connsiteY5" fmla="*/ 2167466 h 2167466"/>
              <a:gd name="connsiteX6" fmla="*/ 281566 w 1689365"/>
              <a:gd name="connsiteY6" fmla="*/ 2167466 h 2167466"/>
              <a:gd name="connsiteX7" fmla="*/ 0 w 1689365"/>
              <a:gd name="connsiteY7" fmla="*/ 1885900 h 2167466"/>
              <a:gd name="connsiteX8" fmla="*/ 0 w 1689365"/>
              <a:gd name="connsiteY8" fmla="*/ 281566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9365" h="2167466">
                <a:moveTo>
                  <a:pt x="0" y="281566"/>
                </a:moveTo>
                <a:cubicBezTo>
                  <a:pt x="0" y="126061"/>
                  <a:pt x="126061" y="0"/>
                  <a:pt x="281566" y="0"/>
                </a:cubicBezTo>
                <a:lnTo>
                  <a:pt x="1407799" y="0"/>
                </a:lnTo>
                <a:cubicBezTo>
                  <a:pt x="1563304" y="0"/>
                  <a:pt x="1689365" y="126061"/>
                  <a:pt x="1689365" y="281566"/>
                </a:cubicBezTo>
                <a:lnTo>
                  <a:pt x="1689365" y="1885900"/>
                </a:lnTo>
                <a:cubicBezTo>
                  <a:pt x="1689365" y="2041405"/>
                  <a:pt x="1563304" y="2167466"/>
                  <a:pt x="1407799" y="2167466"/>
                </a:cubicBezTo>
                <a:lnTo>
                  <a:pt x="281566" y="2167466"/>
                </a:lnTo>
                <a:cubicBezTo>
                  <a:pt x="126061" y="2167466"/>
                  <a:pt x="0" y="2041405"/>
                  <a:pt x="0" y="1885900"/>
                </a:cubicBezTo>
                <a:lnTo>
                  <a:pt x="0" y="281566"/>
                </a:lnTo>
                <a:close/>
              </a:path>
            </a:pathLst>
          </a:custGeom>
          <a:solidFill>
            <a:srgbClr val="FCCB0F"/>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158668" tIns="158668" rIns="158668" bIns="158668"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black"/>
                </a:solidFill>
                <a:latin typeface="Segoe UI"/>
                <a:ea typeface="+mn-ea"/>
                <a:cs typeface="+mn-cs"/>
              </a:rPr>
              <a:t>What ineffective influence can I eliminate? </a:t>
            </a:r>
          </a:p>
        </p:txBody>
      </p:sp>
      <p:sp>
        <p:nvSpPr>
          <p:cNvPr id="12" name="Freeform: Shape 11">
            <a:extLst>
              <a:ext uri="{FF2B5EF4-FFF2-40B4-BE49-F238E27FC236}">
                <a16:creationId xmlns:a16="http://schemas.microsoft.com/office/drawing/2014/main" id="{B8F9990A-AE04-45A9-BF6C-92A50E95DA9F}"/>
              </a:ext>
            </a:extLst>
          </p:cNvPr>
          <p:cNvSpPr/>
          <p:nvPr/>
        </p:nvSpPr>
        <p:spPr>
          <a:xfrm>
            <a:off x="9035968" y="3064933"/>
            <a:ext cx="1572658" cy="2167466"/>
          </a:xfrm>
          <a:custGeom>
            <a:avLst/>
            <a:gdLst>
              <a:gd name="connsiteX0" fmla="*/ 0 w 1572658"/>
              <a:gd name="connsiteY0" fmla="*/ 262115 h 2167466"/>
              <a:gd name="connsiteX1" fmla="*/ 262115 w 1572658"/>
              <a:gd name="connsiteY1" fmla="*/ 0 h 2167466"/>
              <a:gd name="connsiteX2" fmla="*/ 1310543 w 1572658"/>
              <a:gd name="connsiteY2" fmla="*/ 0 h 2167466"/>
              <a:gd name="connsiteX3" fmla="*/ 1572658 w 1572658"/>
              <a:gd name="connsiteY3" fmla="*/ 262115 h 2167466"/>
              <a:gd name="connsiteX4" fmla="*/ 1572658 w 1572658"/>
              <a:gd name="connsiteY4" fmla="*/ 1905351 h 2167466"/>
              <a:gd name="connsiteX5" fmla="*/ 1310543 w 1572658"/>
              <a:gd name="connsiteY5" fmla="*/ 2167466 h 2167466"/>
              <a:gd name="connsiteX6" fmla="*/ 262115 w 1572658"/>
              <a:gd name="connsiteY6" fmla="*/ 2167466 h 2167466"/>
              <a:gd name="connsiteX7" fmla="*/ 0 w 1572658"/>
              <a:gd name="connsiteY7" fmla="*/ 1905351 h 2167466"/>
              <a:gd name="connsiteX8" fmla="*/ 0 w 1572658"/>
              <a:gd name="connsiteY8" fmla="*/ 262115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2658" h="2167466">
                <a:moveTo>
                  <a:pt x="0" y="262115"/>
                </a:moveTo>
                <a:cubicBezTo>
                  <a:pt x="0" y="117353"/>
                  <a:pt x="117353" y="0"/>
                  <a:pt x="262115" y="0"/>
                </a:cubicBezTo>
                <a:lnTo>
                  <a:pt x="1310543" y="0"/>
                </a:lnTo>
                <a:cubicBezTo>
                  <a:pt x="1455305" y="0"/>
                  <a:pt x="1572658" y="117353"/>
                  <a:pt x="1572658" y="262115"/>
                </a:cubicBezTo>
                <a:lnTo>
                  <a:pt x="1572658" y="1905351"/>
                </a:lnTo>
                <a:cubicBezTo>
                  <a:pt x="1572658" y="2050113"/>
                  <a:pt x="1455305" y="2167466"/>
                  <a:pt x="1310543" y="2167466"/>
                </a:cubicBezTo>
                <a:lnTo>
                  <a:pt x="262115" y="2167466"/>
                </a:lnTo>
                <a:cubicBezTo>
                  <a:pt x="117353" y="2167466"/>
                  <a:pt x="0" y="2050113"/>
                  <a:pt x="0" y="1905351"/>
                </a:cubicBezTo>
                <a:lnTo>
                  <a:pt x="0" y="262115"/>
                </a:lnTo>
                <a:close/>
              </a:path>
            </a:pathLst>
          </a:custGeom>
          <a:solidFill>
            <a:srgbClr val="FCCB0F"/>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152971" tIns="152971" rIns="152971" bIns="152971"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black"/>
                </a:solidFill>
                <a:latin typeface="Segoe UI"/>
                <a:ea typeface="+mn-ea"/>
                <a:cs typeface="+mn-cs"/>
              </a:rPr>
              <a:t>What effective influence can I act on? </a:t>
            </a:r>
          </a:p>
        </p:txBody>
      </p:sp>
    </p:spTree>
    <p:extLst>
      <p:ext uri="{BB962C8B-B14F-4D97-AF65-F5344CB8AC3E}">
        <p14:creationId xmlns:p14="http://schemas.microsoft.com/office/powerpoint/2010/main" val="401848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2188-4EC1-414C-BFDF-14208128249D}"/>
              </a:ext>
            </a:extLst>
          </p:cNvPr>
          <p:cNvSpPr>
            <a:spLocks noGrp="1"/>
          </p:cNvSpPr>
          <p:nvPr>
            <p:ph type="title"/>
          </p:nvPr>
        </p:nvSpPr>
        <p:spPr/>
        <p:txBody>
          <a:bodyPr/>
          <a:lstStyle/>
          <a:p>
            <a:r>
              <a:rPr lang="en-US" dirty="0"/>
              <a:t>Coaching Opportunities </a:t>
            </a:r>
          </a:p>
        </p:txBody>
      </p:sp>
      <p:sp>
        <p:nvSpPr>
          <p:cNvPr id="3" name="Content Placeholder 2">
            <a:extLst>
              <a:ext uri="{FF2B5EF4-FFF2-40B4-BE49-F238E27FC236}">
                <a16:creationId xmlns:a16="http://schemas.microsoft.com/office/drawing/2014/main" id="{F4EA189F-6A1B-40AC-85B2-DCCF940AB80B}"/>
              </a:ext>
            </a:extLst>
          </p:cNvPr>
          <p:cNvSpPr>
            <a:spLocks noGrp="1"/>
          </p:cNvSpPr>
          <p:nvPr>
            <p:ph idx="1"/>
          </p:nvPr>
        </p:nvSpPr>
        <p:spPr>
          <a:xfrm>
            <a:off x="344715" y="1562100"/>
            <a:ext cx="9024991" cy="4614863"/>
          </a:xfrm>
        </p:spPr>
        <p:txBody>
          <a:bodyPr>
            <a:normAutofit fontScale="85000" lnSpcReduction="10000"/>
          </a:bodyPr>
          <a:lstStyle/>
          <a:p>
            <a:pPr marL="0" indent="0">
              <a:buNone/>
            </a:pPr>
            <a:r>
              <a:rPr lang="en-US" b="1" dirty="0"/>
              <a:t>Use open-ended and purposeful follow-up questions to uncover opportunities and reveal areas support is needed. Discuss: </a:t>
            </a:r>
          </a:p>
          <a:p>
            <a:endParaRPr lang="en-US" dirty="0"/>
          </a:p>
          <a:p>
            <a:r>
              <a:rPr lang="en-US" dirty="0"/>
              <a:t>What are the primary motivators for this person? </a:t>
            </a:r>
          </a:p>
          <a:p>
            <a:r>
              <a:rPr lang="en-US" dirty="0"/>
              <a:t>How do those show up? What behaviors link to those drivers? </a:t>
            </a:r>
          </a:p>
          <a:p>
            <a:r>
              <a:rPr lang="en-US" dirty="0"/>
              <a:t>What awareness do they have about their individual scores?</a:t>
            </a:r>
          </a:p>
          <a:p>
            <a:r>
              <a:rPr lang="en-US" dirty="0"/>
              <a:t>Are those scores accurate and reflective of their mindset? </a:t>
            </a:r>
          </a:p>
          <a:p>
            <a:r>
              <a:rPr lang="en-US" dirty="0"/>
              <a:t>How do those motivators and that mindset influence their choices and behaviors? </a:t>
            </a:r>
          </a:p>
          <a:p>
            <a:r>
              <a:rPr lang="en-US" dirty="0"/>
              <a:t>Are their behaviors reflecting their wants accurately? If not, why not and should something be done to align them </a:t>
            </a:r>
            <a:r>
              <a:rPr lang="en-US"/>
              <a:t>more closely? </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E0BFFD59-237B-4D86-BE98-7B4244ED340F}"/>
              </a:ext>
            </a:extLst>
          </p:cNvPr>
          <p:cNvSpPr>
            <a:spLocks noGrp="1"/>
          </p:cNvSpPr>
          <p:nvPr>
            <p:ph type="sldNum" sz="quarter" idx="10"/>
          </p:nvPr>
        </p:nvSpPr>
        <p:spPr/>
        <p:txBody>
          <a:bodyPr/>
          <a:lstStyle/>
          <a:p>
            <a:fld id="{F7E5495E-82E8-4D88-BE4B-165F6636701C}" type="slidenum">
              <a:rPr lang="en-US" smtClean="0"/>
              <a:t>11</a:t>
            </a:fld>
            <a:endParaRPr lang="en-US"/>
          </a:p>
        </p:txBody>
      </p:sp>
    </p:spTree>
    <p:extLst>
      <p:ext uri="{BB962C8B-B14F-4D97-AF65-F5344CB8AC3E}">
        <p14:creationId xmlns:p14="http://schemas.microsoft.com/office/powerpoint/2010/main" val="295069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2963E8"/>
      </a:accent1>
      <a:accent2>
        <a:srgbClr val="D84C3B"/>
      </a:accent2>
      <a:accent3>
        <a:srgbClr val="499E50"/>
      </a:accent3>
      <a:accent4>
        <a:srgbClr val="E7B33F"/>
      </a:accent4>
      <a:accent5>
        <a:srgbClr val="4472C4"/>
      </a:accent5>
      <a:accent6>
        <a:srgbClr val="70AD47"/>
      </a:accent6>
      <a:hlink>
        <a:srgbClr val="0563C1"/>
      </a:hlink>
      <a:folHlink>
        <a:srgbClr val="954F72"/>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TM10001104[[fn=Feathered]]</Template>
  <TotalTime>26885</TotalTime>
  <Words>1411</Words>
  <Application>Microsoft Office PowerPoint</Application>
  <PresentationFormat>Widescreen</PresentationFormat>
  <Paragraphs>116</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Courier New</vt:lpstr>
      <vt:lpstr>Segoe UI</vt:lpstr>
      <vt:lpstr>Office Theme</vt:lpstr>
      <vt:lpstr>MOTIVATORS introduction: Understanding WHAT MOVES US </vt:lpstr>
      <vt:lpstr>Motivators Overview</vt:lpstr>
      <vt:lpstr>The Seven Dimensions of Motivation</vt:lpstr>
      <vt:lpstr>Importance &amp; impact</vt:lpstr>
      <vt:lpstr>PowerPoint Presentation</vt:lpstr>
      <vt:lpstr>Scoring Summary</vt:lpstr>
      <vt:lpstr>Motivational Summary</vt:lpstr>
      <vt:lpstr>Individual Motivators Pages </vt:lpstr>
      <vt:lpstr>Adaptability </vt:lpstr>
      <vt:lpstr>Tiny Steps, Big Results</vt:lpstr>
      <vt:lpstr>Coaching Opportunities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Styles</dc:title>
  <dc:creator>Jennifer Larsen</dc:creator>
  <cp:lastModifiedBy>Jennifer Larsen</cp:lastModifiedBy>
  <cp:revision>279</cp:revision>
  <dcterms:created xsi:type="dcterms:W3CDTF">2016-03-22T22:01:54Z</dcterms:created>
  <dcterms:modified xsi:type="dcterms:W3CDTF">2020-06-15T19:19:15Z</dcterms:modified>
</cp:coreProperties>
</file>